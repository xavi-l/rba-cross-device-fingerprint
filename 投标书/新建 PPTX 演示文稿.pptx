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70" r:id="rId4"/>
    <p:sldId id="261" r:id="rId6"/>
    <p:sldId id="258" r:id="rId7"/>
    <p:sldId id="259" r:id="rId8"/>
    <p:sldId id="272" r:id="rId9"/>
    <p:sldId id="260" r:id="rId10"/>
    <p:sldId id="262" r:id="rId11"/>
    <p:sldId id="273" r:id="rId12"/>
    <p:sldId id="275" r:id="rId13"/>
    <p:sldId id="276" r:id="rId14"/>
    <p:sldId id="274" r:id="rId15"/>
    <p:sldId id="263" r:id="rId16"/>
    <p:sldId id="266" r:id="rId17"/>
    <p:sldId id="267" r:id="rId18"/>
    <p:sldId id="265" r:id="rId19"/>
    <p:sldId id="269" r:id="rId20"/>
    <p:sldId id="268" r:id="rId21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52" userDrawn="1">
          <p15:clr>
            <a:srgbClr val="A4A3A4"/>
          </p15:clr>
        </p15:guide>
        <p15:guide id="2" pos="391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DEAD1"/>
    <a:srgbClr val="F5F5F7"/>
    <a:srgbClr val="C81D31"/>
    <a:srgbClr val="CDDFF7"/>
    <a:srgbClr val="F7CFCF"/>
    <a:srgbClr val="D1E8CE"/>
    <a:srgbClr val="FFE598"/>
    <a:srgbClr val="FDE38F"/>
    <a:srgbClr val="FADBDF"/>
    <a:srgbClr val="E8F5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252"/>
        <p:guide pos="391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5" Type="http://schemas.openxmlformats.org/officeDocument/2006/relationships/slideLayout" Target="../slideLayouts/slideLayout2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21.png"/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" Type="http://schemas.openxmlformats.org/officeDocument/2006/relationships/tags" Target="../tags/tag25.xml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34.xml"/><Relationship Id="rId8" Type="http://schemas.openxmlformats.org/officeDocument/2006/relationships/image" Target="../media/image27.png"/><Relationship Id="rId7" Type="http://schemas.openxmlformats.org/officeDocument/2006/relationships/tags" Target="../tags/tag33.xml"/><Relationship Id="rId6" Type="http://schemas.openxmlformats.org/officeDocument/2006/relationships/image" Target="../media/image26.png"/><Relationship Id="rId5" Type="http://schemas.openxmlformats.org/officeDocument/2006/relationships/tags" Target="../tags/tag32.xml"/><Relationship Id="rId4" Type="http://schemas.openxmlformats.org/officeDocument/2006/relationships/tags" Target="../tags/tag31.xml"/><Relationship Id="rId3" Type="http://schemas.openxmlformats.org/officeDocument/2006/relationships/tags" Target="../tags/tag30.xml"/><Relationship Id="rId27" Type="http://schemas.openxmlformats.org/officeDocument/2006/relationships/slideLayout" Target="../slideLayouts/slideLayout2.xml"/><Relationship Id="rId26" Type="http://schemas.openxmlformats.org/officeDocument/2006/relationships/tags" Target="../tags/tag49.xml"/><Relationship Id="rId25" Type="http://schemas.openxmlformats.org/officeDocument/2006/relationships/image" Target="../media/image29.png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29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image" Target="../media/image28.png"/><Relationship Id="rId1" Type="http://schemas.openxmlformats.org/officeDocument/2006/relationships/tags" Target="../tags/tag28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57.xml"/><Relationship Id="rId8" Type="http://schemas.openxmlformats.org/officeDocument/2006/relationships/tags" Target="../tags/tag56.xml"/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image" Target="../media/image30.png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62.xml"/><Relationship Id="rId13" Type="http://schemas.openxmlformats.org/officeDocument/2006/relationships/tags" Target="../tags/tag61.xml"/><Relationship Id="rId12" Type="http://schemas.openxmlformats.org/officeDocument/2006/relationships/tags" Target="../tags/tag60.xml"/><Relationship Id="rId11" Type="http://schemas.openxmlformats.org/officeDocument/2006/relationships/tags" Target="../tags/tag59.xml"/><Relationship Id="rId10" Type="http://schemas.openxmlformats.org/officeDocument/2006/relationships/tags" Target="../tags/tag58.xml"/><Relationship Id="rId1" Type="http://schemas.openxmlformats.org/officeDocument/2006/relationships/tags" Target="../tags/tag50.xml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7" Type="http://schemas.openxmlformats.org/officeDocument/2006/relationships/slideLayout" Target="../slideLayouts/slideLayout2.xml"/><Relationship Id="rId16" Type="http://schemas.openxmlformats.org/officeDocument/2006/relationships/tags" Target="../tags/tag78.xml"/><Relationship Id="rId15" Type="http://schemas.openxmlformats.org/officeDocument/2006/relationships/tags" Target="../tags/tag77.xml"/><Relationship Id="rId14" Type="http://schemas.openxmlformats.org/officeDocument/2006/relationships/tags" Target="../tags/tag76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圆角矩形 3"/>
          <p:cNvSpPr/>
          <p:nvPr/>
        </p:nvSpPr>
        <p:spPr>
          <a:xfrm>
            <a:off x="420370" y="257810"/>
            <a:ext cx="2608580" cy="475297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565785" y="852805"/>
            <a:ext cx="2264410" cy="617220"/>
          </a:xfrm>
          <a:prstGeom prst="roundRect">
            <a:avLst/>
          </a:prstGeom>
          <a:solidFill>
            <a:srgbClr val="E8F0FE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硬件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驱动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565785" y="1645920"/>
            <a:ext cx="2264410" cy="617220"/>
          </a:xfrm>
          <a:prstGeom prst="roundRect">
            <a:avLst/>
          </a:prstGeom>
          <a:solidFill>
            <a:srgbClr val="E8F5E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操作系统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其余</a:t>
            </a:r>
            <a:r>
              <a:rPr lang="zh-CN" altLang="en-US">
                <a:solidFill>
                  <a:schemeClr val="tx1"/>
                </a:solidFill>
              </a:rPr>
              <a:t>软件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65785" y="2439035"/>
            <a:ext cx="2264410" cy="617220"/>
          </a:xfrm>
          <a:prstGeom prst="roundRect">
            <a:avLst/>
          </a:prstGeom>
          <a:solidFill>
            <a:srgbClr val="FFF3E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浏览器内核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版本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565785" y="3232150"/>
            <a:ext cx="2264410" cy="617220"/>
          </a:xfrm>
          <a:prstGeom prst="roundRect">
            <a:avLst/>
          </a:prstGeom>
          <a:solidFill>
            <a:srgbClr val="F3E5F5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配置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浏览器扩展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565785" y="4025265"/>
            <a:ext cx="2264410" cy="617220"/>
          </a:xfrm>
          <a:prstGeom prst="roundRect">
            <a:avLst/>
          </a:prstGeom>
          <a:solidFill>
            <a:srgbClr val="E0F7FA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执行环境：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Web/WebView/</a:t>
            </a:r>
            <a:r>
              <a:rPr lang="zh-CN" altLang="en-US">
                <a:solidFill>
                  <a:schemeClr val="tx1"/>
                </a:solidFill>
              </a:rPr>
              <a:t>原生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566420" y="386080"/>
            <a:ext cx="2263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浏览器指纹</a:t>
            </a:r>
            <a:r>
              <a:rPr lang="zh-CN" altLang="en-US" b="1"/>
              <a:t>的组成</a:t>
            </a:r>
            <a:endParaRPr lang="zh-CN" altLang="en-US" b="1"/>
          </a:p>
        </p:txBody>
      </p:sp>
      <p:sp>
        <p:nvSpPr>
          <p:cNvPr id="11" name="圆角矩形 10"/>
          <p:cNvSpPr/>
          <p:nvPr/>
        </p:nvSpPr>
        <p:spPr>
          <a:xfrm>
            <a:off x="3204845" y="257810"/>
            <a:ext cx="8709025" cy="473329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01" name="Google Shape;201;p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7253605" y="958215"/>
            <a:ext cx="623570" cy="927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7216775" y="2863850"/>
            <a:ext cx="660400" cy="884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202;p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257040" y="1979613"/>
            <a:ext cx="660400" cy="883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文本框 13"/>
          <p:cNvSpPr txBox="1"/>
          <p:nvPr/>
        </p:nvSpPr>
        <p:spPr>
          <a:xfrm>
            <a:off x="3455035" y="2863850"/>
            <a:ext cx="22637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t0</a:t>
            </a:r>
            <a:r>
              <a:rPr lang="zh-CN" altLang="en-US" b="1"/>
              <a:t>：真实设备</a:t>
            </a:r>
            <a:endParaRPr lang="zh-CN" altLang="en-US" b="1"/>
          </a:p>
          <a:p>
            <a:pPr algn="ctr"/>
            <a:r>
              <a:rPr lang="zh-CN" altLang="en-US" b="1"/>
              <a:t>浏览器指纹（初始）</a:t>
            </a:r>
            <a:endParaRPr lang="zh-CN" altLang="en-US" b="1"/>
          </a:p>
        </p:txBody>
      </p:sp>
      <p:sp>
        <p:nvSpPr>
          <p:cNvPr id="15" name="文本框 14"/>
          <p:cNvSpPr txBox="1"/>
          <p:nvPr/>
        </p:nvSpPr>
        <p:spPr>
          <a:xfrm>
            <a:off x="6461760" y="3873500"/>
            <a:ext cx="22637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t1</a:t>
            </a:r>
            <a:r>
              <a:rPr lang="zh-CN" altLang="en-US" b="1"/>
              <a:t>：真实设备</a:t>
            </a:r>
            <a:endParaRPr lang="zh-CN" altLang="en-US" b="1"/>
          </a:p>
          <a:p>
            <a:pPr algn="ctr"/>
            <a:r>
              <a:rPr lang="zh-CN" altLang="en-US" b="1"/>
              <a:t>浏览器指纹（演化</a:t>
            </a:r>
            <a:r>
              <a:rPr lang="zh-CN" altLang="en-US" b="1"/>
              <a:t>后）</a:t>
            </a:r>
            <a:endParaRPr lang="zh-CN" altLang="en-US" b="1"/>
          </a:p>
        </p:txBody>
      </p:sp>
      <p:sp>
        <p:nvSpPr>
          <p:cNvPr id="16" name="文本框 15"/>
          <p:cNvSpPr txBox="1"/>
          <p:nvPr/>
        </p:nvSpPr>
        <p:spPr>
          <a:xfrm>
            <a:off x="6344285" y="1885950"/>
            <a:ext cx="2667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t2</a:t>
            </a:r>
            <a:r>
              <a:rPr lang="zh-CN" altLang="en-US" b="1"/>
              <a:t>：</a:t>
            </a:r>
            <a:r>
              <a:rPr lang="zh-CN" altLang="en-US" b="1"/>
              <a:t>虚假设备</a:t>
            </a:r>
            <a:endParaRPr lang="zh-CN" altLang="en-US" b="1"/>
          </a:p>
          <a:p>
            <a:pPr algn="ctr"/>
            <a:r>
              <a:rPr lang="zh-CN" altLang="en-US" b="1"/>
              <a:t>浏览器指纹（回放</a:t>
            </a:r>
            <a:r>
              <a:rPr lang="en-US" altLang="zh-CN" b="1"/>
              <a:t>/</a:t>
            </a:r>
            <a:r>
              <a:rPr lang="zh-CN" altLang="en-US" b="1"/>
              <a:t>伪装）</a:t>
            </a:r>
            <a:endParaRPr lang="zh-CN" altLang="en-US" b="1"/>
          </a:p>
        </p:txBody>
      </p:sp>
      <p:sp>
        <p:nvSpPr>
          <p:cNvPr id="18" name="圆角矩形 17"/>
          <p:cNvSpPr/>
          <p:nvPr/>
        </p:nvSpPr>
        <p:spPr>
          <a:xfrm>
            <a:off x="5886450" y="494665"/>
            <a:ext cx="3409315" cy="4245610"/>
          </a:xfrm>
          <a:prstGeom prst="roundRect">
            <a:avLst/>
          </a:prstGeom>
          <a:noFill/>
          <a:ln w="44450">
            <a:solidFill>
              <a:schemeClr val="tx1"/>
            </a:solidFill>
            <a:prstDash val="dash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9" name="直接箭头连接符 18"/>
          <p:cNvCxnSpPr>
            <a:stCxn id="13" idx="3"/>
            <a:endCxn id="202" idx="1"/>
          </p:cNvCxnSpPr>
          <p:nvPr/>
        </p:nvCxnSpPr>
        <p:spPr>
          <a:xfrm>
            <a:off x="4917440" y="2421890"/>
            <a:ext cx="2299335" cy="884555"/>
          </a:xfrm>
          <a:prstGeom prst="straightConnector1">
            <a:avLst/>
          </a:prstGeom>
          <a:ln w="38100"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5328285" y="3067050"/>
            <a:ext cx="22637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accent4">
                    <a:lumMod val="75000"/>
                  </a:schemeClr>
                </a:solidFill>
              </a:rPr>
              <a:t>时间</a:t>
            </a:r>
            <a:r>
              <a:rPr lang="en-US" altLang="zh-CN" b="1">
                <a:solidFill>
                  <a:schemeClr val="accent4">
                    <a:lumMod val="75000"/>
                  </a:schemeClr>
                </a:solidFill>
              </a:rPr>
              <a:t>/</a:t>
            </a:r>
            <a:endParaRPr lang="en-US" altLang="zh-CN" b="1">
              <a:solidFill>
                <a:schemeClr val="accent4">
                  <a:lumMod val="75000"/>
                </a:schemeClr>
              </a:solidFill>
            </a:endParaRPr>
          </a:p>
          <a:p>
            <a:pPr algn="ctr"/>
            <a:r>
              <a:rPr lang="zh-CN" altLang="en-US" b="1">
                <a:solidFill>
                  <a:schemeClr val="accent4">
                    <a:lumMod val="75000"/>
                  </a:schemeClr>
                </a:solidFill>
              </a:rPr>
              <a:t>环境演变</a:t>
            </a:r>
            <a:endParaRPr lang="zh-CN" altLang="en-US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1" name="右箭头 20"/>
          <p:cNvSpPr/>
          <p:nvPr/>
        </p:nvSpPr>
        <p:spPr>
          <a:xfrm>
            <a:off x="2927350" y="2354580"/>
            <a:ext cx="1231900" cy="25019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文本框 21"/>
          <p:cNvSpPr txBox="1"/>
          <p:nvPr/>
        </p:nvSpPr>
        <p:spPr>
          <a:xfrm>
            <a:off x="9375140" y="1566545"/>
            <a:ext cx="256032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 b="1"/>
              <a:t>系统</a:t>
            </a:r>
            <a:r>
              <a:rPr lang="zh-CN" altLang="en-US" b="1"/>
              <a:t>困境：</a:t>
            </a:r>
            <a:endParaRPr lang="zh-CN" altLang="en-US" b="1"/>
          </a:p>
          <a:p>
            <a:pPr algn="l"/>
            <a:endParaRPr lang="zh-CN" altLang="en-US" b="1"/>
          </a:p>
          <a:p>
            <a:pPr algn="l"/>
            <a:r>
              <a:rPr lang="zh-CN" altLang="en-US" b="1"/>
              <a:t>观测到的新指纹究竟是</a:t>
            </a:r>
            <a:r>
              <a:rPr lang="en-US" altLang="zh-CN" b="1"/>
              <a:t> t0 </a:t>
            </a:r>
            <a:r>
              <a:rPr lang="zh-CN" altLang="en-US" b="1"/>
              <a:t>的合理演化</a:t>
            </a:r>
            <a:r>
              <a:rPr lang="en-US" altLang="zh-CN" b="1"/>
              <a:t> t1</a:t>
            </a:r>
            <a:r>
              <a:rPr lang="zh-CN" altLang="en-US" b="1"/>
              <a:t>，还是攻击者伪装</a:t>
            </a:r>
            <a:r>
              <a:rPr lang="en-US" altLang="zh-CN" b="1"/>
              <a:t>/</a:t>
            </a:r>
            <a:r>
              <a:rPr lang="zh-CN" altLang="en-US" b="1"/>
              <a:t>回放的</a:t>
            </a:r>
            <a:r>
              <a:rPr lang="en-US" altLang="zh-CN" b="1"/>
              <a:t> t2</a:t>
            </a:r>
            <a:r>
              <a:rPr lang="zh-CN" altLang="en-US" b="1"/>
              <a:t>？</a:t>
            </a:r>
            <a:endParaRPr lang="zh-CN" altLang="en-US" b="1"/>
          </a:p>
          <a:p>
            <a:pPr algn="l"/>
            <a:endParaRPr lang="zh-CN" altLang="en-US" b="1"/>
          </a:p>
          <a:p>
            <a:pPr algn="l"/>
            <a:endParaRPr lang="en-US" altLang="zh-CN" b="1"/>
          </a:p>
          <a:p>
            <a:pPr algn="l"/>
            <a:endParaRPr lang="en-US" altLang="zh-CN" b="1"/>
          </a:p>
        </p:txBody>
      </p:sp>
      <p:sp>
        <p:nvSpPr>
          <p:cNvPr id="23" name="文本框 22"/>
          <p:cNvSpPr txBox="1"/>
          <p:nvPr/>
        </p:nvSpPr>
        <p:spPr>
          <a:xfrm>
            <a:off x="6461760" y="589915"/>
            <a:ext cx="2263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观测混淆</a:t>
            </a:r>
            <a:r>
              <a:rPr lang="zh-CN" altLang="en-US" b="1"/>
              <a:t>区域</a:t>
            </a:r>
            <a:endParaRPr lang="zh-CN" altLang="en-US" b="1"/>
          </a:p>
        </p:txBody>
      </p:sp>
      <p:cxnSp>
        <p:nvCxnSpPr>
          <p:cNvPr id="24" name="直接箭头连接符 23"/>
          <p:cNvCxnSpPr>
            <a:stCxn id="13" idx="3"/>
            <a:endCxn id="201" idx="1"/>
          </p:cNvCxnSpPr>
          <p:nvPr/>
        </p:nvCxnSpPr>
        <p:spPr>
          <a:xfrm flipV="1">
            <a:off x="4917440" y="1422400"/>
            <a:ext cx="2336165" cy="999490"/>
          </a:xfrm>
          <a:prstGeom prst="straightConnector1">
            <a:avLst/>
          </a:prstGeom>
          <a:ln w="28575" cmpd="sng">
            <a:solidFill>
              <a:schemeClr val="accent6"/>
            </a:solidFill>
            <a:prstDash val="lg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5328285" y="1277620"/>
            <a:ext cx="2263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rgbClr val="FF0000"/>
                </a:solidFill>
              </a:rPr>
              <a:t>偷取</a:t>
            </a:r>
            <a:endParaRPr lang="zh-CN" altLang="en-US" b="1">
              <a:solidFill>
                <a:srgbClr val="FF0000"/>
              </a:solidFill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5227320" y="5090795"/>
            <a:ext cx="462915" cy="4629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1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690235" y="5137785"/>
            <a:ext cx="48031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b="1"/>
              <a:t>t0</a:t>
            </a:r>
            <a:r>
              <a:rPr lang="en-US" altLang="en-US" b="1"/>
              <a:t>→</a:t>
            </a:r>
            <a:r>
              <a:rPr lang="en-US" altLang="zh-CN" b="1"/>
              <a:t>t1</a:t>
            </a:r>
            <a:r>
              <a:rPr lang="zh-CN" altLang="en-US" b="1"/>
              <a:t>：变化语义缺失，变到哪仍算同一</a:t>
            </a:r>
            <a:r>
              <a:rPr lang="zh-CN" altLang="en-US" b="1"/>
              <a:t>设备？</a:t>
            </a:r>
            <a:endParaRPr lang="zh-CN" altLang="en-US" b="1"/>
          </a:p>
        </p:txBody>
      </p:sp>
      <p:sp>
        <p:nvSpPr>
          <p:cNvPr id="36" name="椭圆 35"/>
          <p:cNvSpPr/>
          <p:nvPr/>
        </p:nvSpPr>
        <p:spPr>
          <a:xfrm>
            <a:off x="5227320" y="5682615"/>
            <a:ext cx="462915" cy="4629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2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690235" y="5729605"/>
            <a:ext cx="6052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b="1"/>
              <a:t>t0</a:t>
            </a:r>
            <a:r>
              <a:rPr lang="en-US" altLang="en-US" b="1"/>
              <a:t>→</a:t>
            </a:r>
            <a:r>
              <a:rPr lang="en-US" altLang="zh-CN" b="1"/>
              <a:t>t2</a:t>
            </a:r>
            <a:r>
              <a:rPr lang="zh-CN" altLang="en-US" b="1"/>
              <a:t>（回放）：静态采集，如何证明</a:t>
            </a:r>
            <a:r>
              <a:rPr lang="en-US" altLang="zh-CN" b="1"/>
              <a:t>“</a:t>
            </a:r>
            <a:r>
              <a:rPr lang="zh-CN" altLang="en-US" b="1"/>
              <a:t>当下执行</a:t>
            </a:r>
            <a:r>
              <a:rPr lang="en-US" altLang="zh-CN" b="1"/>
              <a:t>”</a:t>
            </a:r>
            <a:r>
              <a:rPr lang="zh-CN" altLang="en-US" b="1"/>
              <a:t>？</a:t>
            </a:r>
            <a:endParaRPr lang="zh-CN" altLang="en-US" b="1"/>
          </a:p>
        </p:txBody>
      </p:sp>
      <p:sp>
        <p:nvSpPr>
          <p:cNvPr id="38" name="椭圆 37"/>
          <p:cNvSpPr/>
          <p:nvPr/>
        </p:nvSpPr>
        <p:spPr>
          <a:xfrm>
            <a:off x="5227320" y="6275070"/>
            <a:ext cx="462915" cy="4629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3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690235" y="6322060"/>
            <a:ext cx="6052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b="1"/>
              <a:t>t2</a:t>
            </a:r>
            <a:r>
              <a:rPr lang="zh-CN" altLang="en-US" b="1"/>
              <a:t>（伪装）：一致性边界缺失，</a:t>
            </a:r>
            <a:r>
              <a:rPr lang="zh-CN" altLang="en-US" b="1"/>
              <a:t>如何互证？</a:t>
            </a:r>
            <a:endParaRPr lang="zh-CN" altLang="en-US" b="1"/>
          </a:p>
        </p:txBody>
      </p:sp>
      <p:sp>
        <p:nvSpPr>
          <p:cNvPr id="40" name="圆角矩形 39"/>
          <p:cNvSpPr/>
          <p:nvPr/>
        </p:nvSpPr>
        <p:spPr>
          <a:xfrm>
            <a:off x="230505" y="5069840"/>
            <a:ext cx="4686300" cy="16960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浏览器指纹</a:t>
            </a:r>
            <a:r>
              <a:rPr lang="zh-CN" altLang="en-US" b="1">
                <a:solidFill>
                  <a:schemeClr val="tx1"/>
                </a:solidFill>
              </a:rPr>
              <a:t>的运用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设备身份认证</a:t>
            </a:r>
            <a:r>
              <a:rPr lang="en-US" altLang="zh-CN">
                <a:solidFill>
                  <a:schemeClr val="tx1"/>
                </a:solidFill>
              </a:rPr>
              <a:t> / </a:t>
            </a:r>
            <a:r>
              <a:rPr lang="zh-CN" altLang="en-US">
                <a:solidFill>
                  <a:schemeClr val="tx1"/>
                </a:solidFill>
              </a:rPr>
              <a:t>风险控制（</a:t>
            </a:r>
            <a:r>
              <a:rPr lang="en-US" altLang="zh-CN">
                <a:solidFill>
                  <a:schemeClr val="tx1"/>
                </a:solidFill>
              </a:rPr>
              <a:t>RBA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交易安全</a:t>
            </a:r>
            <a:r>
              <a:rPr lang="en-US" altLang="zh-CN">
                <a:solidFill>
                  <a:schemeClr val="tx1"/>
                </a:solidFill>
              </a:rPr>
              <a:t> / </a:t>
            </a:r>
            <a:r>
              <a:rPr lang="zh-CN" altLang="en-US">
                <a:solidFill>
                  <a:schemeClr val="tx1"/>
                </a:solidFill>
              </a:rPr>
              <a:t>反欺诈（支付、下单）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滥用治理</a:t>
            </a:r>
            <a:r>
              <a:rPr lang="en-US" altLang="zh-CN">
                <a:solidFill>
                  <a:schemeClr val="tx1"/>
                </a:solidFill>
              </a:rPr>
              <a:t> / </a:t>
            </a:r>
            <a:r>
              <a:rPr lang="zh-CN" altLang="en-US">
                <a:solidFill>
                  <a:schemeClr val="tx1"/>
                </a:solidFill>
              </a:rPr>
              <a:t>反自动化（注册、爬虫、抢购）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生态治理</a:t>
            </a:r>
            <a:r>
              <a:rPr lang="en-US" altLang="zh-CN">
                <a:solidFill>
                  <a:schemeClr val="tx1"/>
                </a:solidFill>
              </a:rPr>
              <a:t> / </a:t>
            </a:r>
            <a:r>
              <a:rPr lang="zh-CN" altLang="en-US">
                <a:solidFill>
                  <a:schemeClr val="tx1"/>
                </a:solidFill>
              </a:rPr>
              <a:t>反刷量（内容、广告、增长）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" name="圆角矩形 10"/>
          <p:cNvSpPr/>
          <p:nvPr/>
        </p:nvSpPr>
        <p:spPr>
          <a:xfrm>
            <a:off x="4916805" y="257810"/>
            <a:ext cx="6997065" cy="473329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accent3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18" name="圆角矩形 17"/>
          <p:cNvSpPr/>
          <p:nvPr/>
        </p:nvSpPr>
        <p:spPr>
          <a:xfrm>
            <a:off x="6899910" y="494665"/>
            <a:ext cx="4843145" cy="4245610"/>
          </a:xfrm>
          <a:prstGeom prst="roundRect">
            <a:avLst/>
          </a:prstGeom>
          <a:solidFill>
            <a:schemeClr val="bg2"/>
          </a:solidFill>
          <a:ln w="44450"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221615" y="135890"/>
            <a:ext cx="2608580" cy="475297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367030" y="730885"/>
            <a:ext cx="2264410" cy="617220"/>
          </a:xfrm>
          <a:prstGeom prst="roundRect">
            <a:avLst/>
          </a:prstGeom>
          <a:solidFill>
            <a:srgbClr val="E8F0FE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硬件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驱动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67030" y="1524000"/>
            <a:ext cx="2264410" cy="617220"/>
          </a:xfrm>
          <a:prstGeom prst="roundRect">
            <a:avLst/>
          </a:prstGeom>
          <a:solidFill>
            <a:srgbClr val="E8F5E9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操作系统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其余</a:t>
            </a:r>
            <a:r>
              <a:rPr lang="zh-CN" altLang="en-US">
                <a:solidFill>
                  <a:schemeClr val="tx1"/>
                </a:solidFill>
              </a:rPr>
              <a:t>软件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367030" y="2317115"/>
            <a:ext cx="2264410" cy="617220"/>
          </a:xfrm>
          <a:prstGeom prst="roundRect">
            <a:avLst/>
          </a:prstGeom>
          <a:solidFill>
            <a:srgbClr val="FFF3E0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浏览器内核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版本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67030" y="3110230"/>
            <a:ext cx="2264410" cy="617220"/>
          </a:xfrm>
          <a:prstGeom prst="roundRect">
            <a:avLst/>
          </a:prstGeom>
          <a:solidFill>
            <a:srgbClr val="F3E5F5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配置</a:t>
            </a:r>
            <a:r>
              <a:rPr lang="en-US" altLang="zh-CN">
                <a:solidFill>
                  <a:schemeClr val="tx1"/>
                </a:solidFill>
              </a:rPr>
              <a:t>/</a:t>
            </a:r>
            <a:r>
              <a:rPr lang="zh-CN" altLang="en-US">
                <a:solidFill>
                  <a:schemeClr val="tx1"/>
                </a:solidFill>
              </a:rPr>
              <a:t>浏览器扩展</a:t>
            </a:r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67030" y="3903345"/>
            <a:ext cx="2264410" cy="617220"/>
          </a:xfrm>
          <a:prstGeom prst="roundRect">
            <a:avLst/>
          </a:prstGeom>
          <a:solidFill>
            <a:srgbClr val="E0F7FA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>
                <a:solidFill>
                  <a:schemeClr val="tx1"/>
                </a:solidFill>
              </a:rPr>
              <a:t>执行环境：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en-US" altLang="zh-CN">
                <a:solidFill>
                  <a:schemeClr val="tx1"/>
                </a:solidFill>
              </a:rPr>
              <a:t>Web/WebView/</a:t>
            </a:r>
            <a:r>
              <a:rPr lang="en-US" altLang="zh-CN">
                <a:solidFill>
                  <a:schemeClr val="tx1"/>
                </a:solidFill>
              </a:rPr>
              <a:t>APP</a:t>
            </a:r>
            <a:endParaRPr lang="en-US" altLang="zh-CN">
              <a:solidFill>
                <a:schemeClr val="tx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67665" y="264160"/>
            <a:ext cx="22637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/>
              <a:t>设备侧</a:t>
            </a:r>
            <a:r>
              <a:rPr lang="zh-CN" altLang="en-US" b="1"/>
              <a:t>信号</a:t>
            </a:r>
            <a:endParaRPr lang="zh-CN" altLang="en-US" b="1"/>
          </a:p>
        </p:txBody>
      </p:sp>
      <p:pic>
        <p:nvPicPr>
          <p:cNvPr id="201" name="Google Shape;201;p8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10493375" y="2078355"/>
            <a:ext cx="623570" cy="930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8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8371205" y="2863850"/>
            <a:ext cx="660400" cy="8845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202;p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5690235" y="2250123"/>
            <a:ext cx="660400" cy="88392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文本框 13"/>
          <p:cNvSpPr txBox="1"/>
          <p:nvPr/>
        </p:nvSpPr>
        <p:spPr>
          <a:xfrm>
            <a:off x="4916805" y="3138170"/>
            <a:ext cx="226377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t0</a:t>
            </a:r>
            <a:r>
              <a:rPr lang="zh-CN" altLang="en-US"/>
              <a:t>：真实设备</a:t>
            </a:r>
            <a:endParaRPr lang="zh-CN" altLang="en-US"/>
          </a:p>
          <a:p>
            <a:pPr algn="ctr"/>
            <a:r>
              <a:rPr lang="zh-CN" altLang="en-US"/>
              <a:t>浏览器指纹</a:t>
            </a:r>
            <a:endParaRPr lang="zh-CN" altLang="en-US"/>
          </a:p>
          <a:p>
            <a:pPr algn="ctr"/>
            <a:r>
              <a:rPr lang="zh-CN" altLang="en-US"/>
              <a:t>（初始</a:t>
            </a:r>
            <a:r>
              <a:rPr lang="zh-CN" altLang="en-US" b="1"/>
              <a:t>）</a:t>
            </a:r>
            <a:endParaRPr lang="zh-CN" altLang="en-US" b="1"/>
          </a:p>
        </p:txBody>
      </p:sp>
      <p:sp>
        <p:nvSpPr>
          <p:cNvPr id="15" name="文本框 14"/>
          <p:cNvSpPr txBox="1"/>
          <p:nvPr/>
        </p:nvSpPr>
        <p:spPr>
          <a:xfrm>
            <a:off x="7291705" y="3899535"/>
            <a:ext cx="284988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47B049"/>
                </a:solidFill>
              </a:rPr>
              <a:t>t1</a:t>
            </a:r>
            <a:r>
              <a:rPr lang="zh-CN" altLang="en-US">
                <a:solidFill>
                  <a:srgbClr val="47B049"/>
                </a:solidFill>
              </a:rPr>
              <a:t>：真实设备浏览器指纹（演化后）</a:t>
            </a:r>
            <a:endParaRPr lang="zh-CN" altLang="en-US">
              <a:solidFill>
                <a:srgbClr val="47B049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7357745" y="2099310"/>
            <a:ext cx="266700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/>
              <a:t>t2</a:t>
            </a:r>
            <a:r>
              <a:rPr lang="zh-CN" altLang="en-US"/>
              <a:t>：虚假设备浏览器指纹</a:t>
            </a:r>
            <a:endParaRPr lang="zh-CN" altLang="en-US"/>
          </a:p>
          <a:p>
            <a:pPr algn="ctr"/>
            <a:r>
              <a:rPr lang="zh-CN" altLang="en-US"/>
              <a:t>（复现</a:t>
            </a:r>
            <a:r>
              <a:rPr lang="en-US" altLang="zh-CN"/>
              <a:t>/</a:t>
            </a:r>
            <a:r>
              <a:rPr lang="zh-CN" altLang="en-US"/>
              <a:t>回放</a:t>
            </a:r>
            <a:r>
              <a:rPr lang="zh-CN" altLang="en-US"/>
              <a:t>）</a:t>
            </a:r>
            <a:endParaRPr lang="zh-CN" altLang="en-US"/>
          </a:p>
        </p:txBody>
      </p:sp>
      <p:cxnSp>
        <p:nvCxnSpPr>
          <p:cNvPr id="19" name="直接箭头连接符 18"/>
          <p:cNvCxnSpPr>
            <a:stCxn id="13" idx="3"/>
            <a:endCxn id="202" idx="1"/>
          </p:cNvCxnSpPr>
          <p:nvPr/>
        </p:nvCxnSpPr>
        <p:spPr>
          <a:xfrm>
            <a:off x="6350635" y="2692400"/>
            <a:ext cx="2020570" cy="614045"/>
          </a:xfrm>
          <a:prstGeom prst="straightConnector1">
            <a:avLst/>
          </a:prstGeom>
          <a:ln w="38100">
            <a:solidFill>
              <a:schemeClr val="accent4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0" name="文本框 19"/>
          <p:cNvSpPr txBox="1"/>
          <p:nvPr/>
        </p:nvSpPr>
        <p:spPr>
          <a:xfrm>
            <a:off x="6483350" y="3134360"/>
            <a:ext cx="22637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rgbClr val="47B049"/>
                </a:solidFill>
              </a:rPr>
              <a:t>时间</a:t>
            </a:r>
            <a:r>
              <a:rPr lang="en-US" altLang="zh-CN" b="1">
                <a:solidFill>
                  <a:srgbClr val="47B049"/>
                </a:solidFill>
              </a:rPr>
              <a:t>/</a:t>
            </a:r>
            <a:endParaRPr lang="en-US" altLang="zh-CN" b="1">
              <a:solidFill>
                <a:srgbClr val="47B049"/>
              </a:solidFill>
            </a:endParaRPr>
          </a:p>
          <a:p>
            <a:pPr algn="ctr"/>
            <a:r>
              <a:rPr lang="zh-CN" altLang="en-US" b="1">
                <a:solidFill>
                  <a:srgbClr val="47B049"/>
                </a:solidFill>
              </a:rPr>
              <a:t>环境演变</a:t>
            </a:r>
            <a:endParaRPr lang="zh-CN" altLang="en-US" b="1">
              <a:solidFill>
                <a:srgbClr val="47B049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8371205" y="514350"/>
            <a:ext cx="22637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400" b="1"/>
              <a:t>观测混淆</a:t>
            </a:r>
            <a:r>
              <a:rPr lang="zh-CN" altLang="en-US" sz="2400" b="1"/>
              <a:t>区域</a:t>
            </a:r>
            <a:endParaRPr lang="zh-CN" altLang="en-US" sz="2400" b="1"/>
          </a:p>
        </p:txBody>
      </p:sp>
      <p:cxnSp>
        <p:nvCxnSpPr>
          <p:cNvPr id="24" name="直接箭头连接符 23"/>
          <p:cNvCxnSpPr>
            <a:stCxn id="13" idx="3"/>
            <a:endCxn id="2" idx="1"/>
          </p:cNvCxnSpPr>
          <p:nvPr/>
        </p:nvCxnSpPr>
        <p:spPr>
          <a:xfrm flipV="1">
            <a:off x="6350635" y="1607185"/>
            <a:ext cx="2010410" cy="1085215"/>
          </a:xfrm>
          <a:prstGeom prst="straightConnector1">
            <a:avLst/>
          </a:prstGeom>
          <a:ln w="38100" cmpd="sng">
            <a:solidFill>
              <a:schemeClr val="tx1"/>
            </a:solidFill>
            <a:prstDash val="lgDash"/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文本框 24"/>
          <p:cNvSpPr txBox="1"/>
          <p:nvPr/>
        </p:nvSpPr>
        <p:spPr>
          <a:xfrm>
            <a:off x="6341745" y="1275080"/>
            <a:ext cx="226377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tx1"/>
                </a:solidFill>
              </a:rPr>
              <a:t>攻击者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偷取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5227320" y="5090795"/>
            <a:ext cx="462915" cy="4629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1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5690235" y="5137785"/>
            <a:ext cx="58356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b="1"/>
              <a:t>t0</a:t>
            </a:r>
            <a:r>
              <a:rPr lang="en-US" altLang="en-US" b="1"/>
              <a:t>→</a:t>
            </a:r>
            <a:r>
              <a:rPr lang="en-US" altLang="zh-CN" b="1"/>
              <a:t>t1</a:t>
            </a:r>
            <a:r>
              <a:rPr lang="zh-CN" altLang="en-US" b="1"/>
              <a:t>：</a:t>
            </a:r>
            <a:r>
              <a:rPr lang="en-US" altLang="zh-CN" b="1"/>
              <a:t>                      </a:t>
            </a:r>
            <a:r>
              <a:rPr lang="zh-CN" altLang="en-US" b="1"/>
              <a:t>会变</a:t>
            </a:r>
            <a:r>
              <a:rPr lang="en-US" altLang="zh-CN" b="1"/>
              <a:t>   --&gt;</a:t>
            </a:r>
            <a:r>
              <a:rPr lang="zh-CN" altLang="en-US" b="1"/>
              <a:t>难判变了还算不算同一台</a:t>
            </a:r>
            <a:endParaRPr lang="en-US" altLang="zh-CN" b="1"/>
          </a:p>
        </p:txBody>
      </p:sp>
      <p:sp>
        <p:nvSpPr>
          <p:cNvPr id="36" name="椭圆 35"/>
          <p:cNvSpPr/>
          <p:nvPr/>
        </p:nvSpPr>
        <p:spPr>
          <a:xfrm>
            <a:off x="5227320" y="5682615"/>
            <a:ext cx="462915" cy="4629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2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5690235" y="5729605"/>
            <a:ext cx="6052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b="1"/>
              <a:t>t2</a:t>
            </a:r>
            <a:r>
              <a:rPr lang="zh-CN" altLang="en-US" b="1"/>
              <a:t>（复现</a:t>
            </a:r>
            <a:r>
              <a:rPr lang="en-US" altLang="zh-CN" b="1"/>
              <a:t>/</a:t>
            </a:r>
            <a:r>
              <a:rPr lang="zh-CN" altLang="en-US" b="1"/>
              <a:t>回放</a:t>
            </a:r>
            <a:r>
              <a:rPr lang="zh-CN" altLang="en-US" b="1"/>
              <a:t>）：</a:t>
            </a:r>
            <a:r>
              <a:rPr lang="en-US" altLang="zh-CN" b="1"/>
              <a:t> </a:t>
            </a:r>
            <a:r>
              <a:rPr lang="zh-CN" altLang="en-US" b="1"/>
              <a:t>可复制</a:t>
            </a:r>
            <a:r>
              <a:rPr lang="en-US" altLang="zh-CN" b="1"/>
              <a:t>--&gt;</a:t>
            </a:r>
            <a:r>
              <a:rPr lang="zh-CN" altLang="en-US" b="1"/>
              <a:t>难判是不是实时产生</a:t>
            </a:r>
            <a:endParaRPr lang="en-US" altLang="zh-CN" b="1"/>
          </a:p>
        </p:txBody>
      </p:sp>
      <p:sp>
        <p:nvSpPr>
          <p:cNvPr id="38" name="椭圆 37"/>
          <p:cNvSpPr/>
          <p:nvPr/>
        </p:nvSpPr>
        <p:spPr>
          <a:xfrm>
            <a:off x="5227320" y="6275070"/>
            <a:ext cx="462915" cy="462915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</a:rPr>
              <a:t>3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5690235" y="6322060"/>
            <a:ext cx="60528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b="1"/>
              <a:t>t3</a:t>
            </a:r>
            <a:r>
              <a:rPr lang="zh-CN" altLang="en-US" b="1"/>
              <a:t>（伪装</a:t>
            </a:r>
            <a:r>
              <a:rPr lang="en-US" altLang="zh-CN" b="1"/>
              <a:t>/</a:t>
            </a:r>
            <a:r>
              <a:rPr lang="zh-CN" altLang="en-US" b="1"/>
              <a:t>构造）：</a:t>
            </a:r>
            <a:r>
              <a:rPr lang="en-US" altLang="zh-CN" b="1"/>
              <a:t> </a:t>
            </a:r>
            <a:r>
              <a:rPr lang="zh-CN" altLang="en-US" b="1"/>
              <a:t>可伪造</a:t>
            </a:r>
            <a:r>
              <a:rPr lang="en-US" altLang="zh-CN" b="1"/>
              <a:t>--&gt;</a:t>
            </a:r>
            <a:r>
              <a:rPr lang="zh-CN" altLang="en-US" b="1"/>
              <a:t>难判真假指纹</a:t>
            </a:r>
            <a:endParaRPr lang="en-US" altLang="zh-CN" b="1"/>
          </a:p>
        </p:txBody>
      </p:sp>
      <p:sp>
        <p:nvSpPr>
          <p:cNvPr id="40" name="圆角矩形 39"/>
          <p:cNvSpPr/>
          <p:nvPr/>
        </p:nvSpPr>
        <p:spPr>
          <a:xfrm>
            <a:off x="230505" y="5069840"/>
            <a:ext cx="4686300" cy="1696085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浏览器指纹应用</a:t>
            </a:r>
            <a:r>
              <a:rPr lang="zh-CN" altLang="en-US" b="1">
                <a:solidFill>
                  <a:schemeClr val="tx1"/>
                </a:solidFill>
              </a:rPr>
              <a:t>场景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设备身份认证</a:t>
            </a:r>
            <a:r>
              <a:rPr lang="en-US" altLang="zh-CN">
                <a:solidFill>
                  <a:schemeClr val="tx1"/>
                </a:solidFill>
              </a:rPr>
              <a:t> / </a:t>
            </a:r>
            <a:r>
              <a:rPr lang="zh-CN" altLang="en-US">
                <a:solidFill>
                  <a:schemeClr val="tx1"/>
                </a:solidFill>
              </a:rPr>
              <a:t>风险控制（</a:t>
            </a:r>
            <a:r>
              <a:rPr lang="en-US" altLang="zh-CN">
                <a:solidFill>
                  <a:schemeClr val="tx1"/>
                </a:solidFill>
              </a:rPr>
              <a:t>RBA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交易安全</a:t>
            </a:r>
            <a:r>
              <a:rPr lang="en-US" altLang="zh-CN">
                <a:solidFill>
                  <a:schemeClr val="tx1"/>
                </a:solidFill>
              </a:rPr>
              <a:t> / </a:t>
            </a:r>
            <a:r>
              <a:rPr lang="zh-CN" altLang="en-US">
                <a:solidFill>
                  <a:schemeClr val="tx1"/>
                </a:solidFill>
              </a:rPr>
              <a:t>反欺诈（支付、下单）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滥用治理</a:t>
            </a:r>
            <a:r>
              <a:rPr lang="en-US" altLang="zh-CN">
                <a:solidFill>
                  <a:schemeClr val="tx1"/>
                </a:solidFill>
              </a:rPr>
              <a:t> / </a:t>
            </a:r>
            <a:r>
              <a:rPr lang="zh-CN" altLang="en-US">
                <a:solidFill>
                  <a:schemeClr val="tx1"/>
                </a:solidFill>
              </a:rPr>
              <a:t>反自动化（注册、爬虫、抢购）</a:t>
            </a:r>
            <a:endParaRPr lang="en-US" altLang="zh-CN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生态治理</a:t>
            </a:r>
            <a:r>
              <a:rPr lang="en-US" altLang="zh-CN">
                <a:solidFill>
                  <a:schemeClr val="tx1"/>
                </a:solidFill>
              </a:rPr>
              <a:t> / </a:t>
            </a:r>
            <a:r>
              <a:rPr lang="zh-CN" altLang="en-US">
                <a:solidFill>
                  <a:schemeClr val="tx1"/>
                </a:solidFill>
              </a:rPr>
              <a:t>反刷量（内容、广告、增长）</a:t>
            </a:r>
            <a:r>
              <a:rPr lang="zh-CN" altLang="en-US">
                <a:solidFill>
                  <a:schemeClr val="tx1"/>
                </a:solidFill>
              </a:rPr>
              <a:t>）</a:t>
            </a:r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2" name="Google Shape;202;p8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8361045" y="1164908"/>
            <a:ext cx="660400" cy="88392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文本框 2"/>
          <p:cNvSpPr txBox="1"/>
          <p:nvPr/>
        </p:nvSpPr>
        <p:spPr>
          <a:xfrm>
            <a:off x="9610090" y="3006090"/>
            <a:ext cx="218630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B46A78"/>
                </a:solidFill>
              </a:rPr>
              <a:t>t3</a:t>
            </a:r>
            <a:r>
              <a:rPr lang="zh-CN" altLang="en-US">
                <a:solidFill>
                  <a:srgbClr val="B46A78"/>
                </a:solidFill>
              </a:rPr>
              <a:t>：虚假设备</a:t>
            </a:r>
            <a:endParaRPr lang="zh-CN" altLang="en-US">
              <a:solidFill>
                <a:srgbClr val="B46A78"/>
              </a:solidFill>
            </a:endParaRPr>
          </a:p>
          <a:p>
            <a:pPr algn="ctr"/>
            <a:r>
              <a:rPr lang="zh-CN" altLang="en-US">
                <a:solidFill>
                  <a:srgbClr val="B46A78"/>
                </a:solidFill>
              </a:rPr>
              <a:t>浏览器指纹</a:t>
            </a:r>
            <a:endParaRPr lang="zh-CN" altLang="en-US">
              <a:solidFill>
                <a:srgbClr val="B46A78"/>
              </a:solidFill>
            </a:endParaRPr>
          </a:p>
          <a:p>
            <a:pPr algn="ctr"/>
            <a:r>
              <a:rPr lang="zh-CN" altLang="en-US">
                <a:solidFill>
                  <a:srgbClr val="B46A78"/>
                </a:solidFill>
              </a:rPr>
              <a:t>（伪装</a:t>
            </a:r>
            <a:r>
              <a:rPr lang="en-US" altLang="zh-CN">
                <a:solidFill>
                  <a:srgbClr val="B46A78"/>
                </a:solidFill>
              </a:rPr>
              <a:t>/</a:t>
            </a:r>
            <a:r>
              <a:rPr lang="zh-CN" altLang="en-US">
                <a:solidFill>
                  <a:srgbClr val="B46A78"/>
                </a:solidFill>
              </a:rPr>
              <a:t>构造）</a:t>
            </a:r>
            <a:endParaRPr lang="zh-CN" altLang="en-US">
              <a:solidFill>
                <a:srgbClr val="B46A78"/>
              </a:solidFill>
            </a:endParaRPr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77540" y="2731770"/>
            <a:ext cx="793750" cy="776605"/>
          </a:xfrm>
          <a:prstGeom prst="rect">
            <a:avLst/>
          </a:prstGeom>
        </p:spPr>
      </p:pic>
      <p:pic>
        <p:nvPicPr>
          <p:cNvPr id="17" name="图片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59150" y="1885950"/>
            <a:ext cx="741680" cy="767715"/>
          </a:xfrm>
          <a:prstGeom prst="rect">
            <a:avLst/>
          </a:prstGeom>
        </p:spPr>
      </p:pic>
      <p:pic>
        <p:nvPicPr>
          <p:cNvPr id="26" name="图片 2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74770" y="2317115"/>
            <a:ext cx="1042035" cy="1021080"/>
          </a:xfrm>
          <a:prstGeom prst="rect">
            <a:avLst/>
          </a:prstGeom>
        </p:spPr>
      </p:pic>
      <p:sp>
        <p:nvSpPr>
          <p:cNvPr id="28" name="右箭头 27"/>
          <p:cNvSpPr/>
          <p:nvPr/>
        </p:nvSpPr>
        <p:spPr>
          <a:xfrm>
            <a:off x="4827905" y="2496185"/>
            <a:ext cx="729615" cy="43815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右箭头 29"/>
          <p:cNvSpPr/>
          <p:nvPr/>
        </p:nvSpPr>
        <p:spPr>
          <a:xfrm>
            <a:off x="2631440" y="2496185"/>
            <a:ext cx="729615" cy="438150"/>
          </a:xfrm>
          <a:prstGeom prst="rightArrow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6" name="矩形 65"/>
          <p:cNvSpPr/>
          <p:nvPr/>
        </p:nvSpPr>
        <p:spPr>
          <a:xfrm>
            <a:off x="3001010" y="1061720"/>
            <a:ext cx="1744980" cy="662940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通过浏览器</a:t>
            </a:r>
            <a:endParaRPr lang="zh-CN" altLang="en-US" b="1"/>
          </a:p>
          <a:p>
            <a:pPr algn="ctr"/>
            <a:r>
              <a:rPr lang="zh-CN" altLang="en-US" b="1"/>
              <a:t>观测获得</a:t>
            </a:r>
            <a:r>
              <a:rPr lang="zh-CN" altLang="en-US" b="1"/>
              <a:t>指纹</a:t>
            </a:r>
            <a:endParaRPr lang="zh-CN" altLang="en-US" b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285" y="944880"/>
            <a:ext cx="5803900" cy="447675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6860" y="2389505"/>
            <a:ext cx="4992370" cy="20783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285" y="4467860"/>
            <a:ext cx="2802255" cy="78676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04645" y="1277620"/>
            <a:ext cx="3777615" cy="2667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59225" y="4632325"/>
            <a:ext cx="723900" cy="552450"/>
          </a:xfrm>
          <a:prstGeom prst="rect">
            <a:avLst/>
          </a:prstGeom>
        </p:spPr>
      </p:pic>
      <p:pic>
        <p:nvPicPr>
          <p:cNvPr id="12" name="图片 11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375" y="3109595"/>
            <a:ext cx="857250" cy="5651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" name="圆角矩形 53"/>
          <p:cNvSpPr/>
          <p:nvPr/>
        </p:nvSpPr>
        <p:spPr>
          <a:xfrm>
            <a:off x="4824730" y="2419350"/>
            <a:ext cx="2569845" cy="2143125"/>
          </a:xfrm>
          <a:prstGeom prst="roundRect">
            <a:avLst/>
          </a:prstGeom>
          <a:solidFill>
            <a:srgbClr val="F7CFCF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8" name="圆角矩形 57"/>
          <p:cNvSpPr/>
          <p:nvPr/>
        </p:nvSpPr>
        <p:spPr>
          <a:xfrm>
            <a:off x="7525385" y="2425700"/>
            <a:ext cx="2569845" cy="2118995"/>
          </a:xfrm>
          <a:prstGeom prst="roundRect">
            <a:avLst/>
          </a:prstGeom>
          <a:solidFill>
            <a:srgbClr val="CDDFF7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149475" y="117475"/>
            <a:ext cx="7976235" cy="6419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Web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环境中面向可信设备身份锚定的浏览器指纹机制研究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2134870" y="1104900"/>
            <a:ext cx="2569845" cy="704215"/>
          </a:xfrm>
          <a:prstGeom prst="roundRect">
            <a:avLst/>
          </a:prstGeom>
          <a:solidFill>
            <a:srgbClr val="D1E8CE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指纹变化缺少可解释的状</a:t>
            </a:r>
            <a:endParaRPr lang="zh-CN" altLang="en-US" sz="12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态迁移语义，</a:t>
            </a:r>
            <a:endParaRPr lang="zh-CN" altLang="en-US" sz="12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导致设备同一性边界难以稳定刻画</a:t>
            </a:r>
            <a:endParaRPr lang="zh-CN" altLang="en-US" sz="12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810760" y="1104900"/>
            <a:ext cx="2569845" cy="704850"/>
          </a:xfrm>
          <a:prstGeom prst="roundRect">
            <a:avLst/>
          </a:prstGeom>
          <a:solidFill>
            <a:srgbClr val="F7CFC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静态属性采集难以形成</a:t>
            </a:r>
            <a:endParaRPr lang="zh-CN" altLang="en-US" sz="12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不可回放执行证据，</a:t>
            </a:r>
            <a:endParaRPr lang="zh-CN" altLang="en-US" sz="12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难以验证当前执行真实性</a:t>
            </a:r>
            <a:endParaRPr lang="zh-CN" altLang="en-US" sz="12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7542530" y="1101725"/>
            <a:ext cx="2569845" cy="708660"/>
          </a:xfrm>
          <a:prstGeom prst="roundRect">
            <a:avLst/>
          </a:prstGeom>
          <a:solidFill>
            <a:srgbClr val="CDDF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跨执行环境缺少统一身份表示与稳定互证约束，导致抗伪造的一致性判定边界难以形成</a:t>
            </a:r>
            <a:endParaRPr lang="zh-CN" altLang="en-US" sz="12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8" name="直接连接符 7"/>
          <p:cNvCxnSpPr/>
          <p:nvPr/>
        </p:nvCxnSpPr>
        <p:spPr>
          <a:xfrm>
            <a:off x="280035" y="800735"/>
            <a:ext cx="11615420" cy="825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0" name="圆角矩形 29"/>
          <p:cNvSpPr/>
          <p:nvPr/>
        </p:nvSpPr>
        <p:spPr>
          <a:xfrm>
            <a:off x="2149475" y="2423160"/>
            <a:ext cx="2569845" cy="2142490"/>
          </a:xfrm>
          <a:prstGeom prst="roundRect">
            <a:avLst/>
          </a:prstGeom>
          <a:solidFill>
            <a:srgbClr val="D1E8CE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endParaRPr lang="zh-CN" altLang="en-US" sz="160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0" name="圆角矩形 39"/>
          <p:cNvSpPr/>
          <p:nvPr/>
        </p:nvSpPr>
        <p:spPr>
          <a:xfrm>
            <a:off x="2148840" y="5259070"/>
            <a:ext cx="2569845" cy="449580"/>
          </a:xfrm>
          <a:prstGeom prst="roundRect">
            <a:avLst/>
          </a:prstGeom>
          <a:solidFill>
            <a:srgbClr val="D1E8CE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提升设备身份表征的可解释性</a:t>
            </a:r>
            <a:endParaRPr lang="zh-CN" altLang="en-US" sz="12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1" name="圆角矩形 40"/>
          <p:cNvSpPr/>
          <p:nvPr/>
        </p:nvSpPr>
        <p:spPr>
          <a:xfrm>
            <a:off x="4824730" y="5260975"/>
            <a:ext cx="2569845" cy="447675"/>
          </a:xfrm>
          <a:prstGeom prst="roundRect">
            <a:avLst/>
          </a:prstGeom>
          <a:solidFill>
            <a:srgbClr val="F7CFCF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sz="1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提升当前执行真实性的可验证性</a:t>
            </a:r>
            <a:endParaRPr lang="zh-CN" altLang="en-US" sz="12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7555865" y="5267325"/>
            <a:ext cx="2569845" cy="447675"/>
          </a:xfrm>
          <a:prstGeom prst="roundRect">
            <a:avLst/>
          </a:prstGeom>
          <a:solidFill>
            <a:srgbClr val="CDDFF7"/>
          </a:solidFill>
          <a:ln>
            <a:solidFill>
              <a:srgbClr val="000000">
                <a:alpha val="0"/>
              </a:srgbClr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None/>
            </a:pPr>
            <a:r>
              <a:rPr lang="zh-CN" altLang="en-US" sz="1200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提升锚定结论的抗伪造性</a:t>
            </a:r>
            <a:endParaRPr lang="zh-CN" altLang="en-US" sz="12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255270" y="4907915"/>
            <a:ext cx="11615420" cy="8255"/>
          </a:xfrm>
          <a:prstGeom prst="line">
            <a:avLst/>
          </a:prstGeom>
          <a:ln w="12700" cap="flat" cmpd="sng" algn="ctr">
            <a:solidFill>
              <a:schemeClr val="tx1"/>
            </a:solidFill>
            <a:prstDash val="dash"/>
            <a:miter lim="800000"/>
          </a:ln>
        </p:spPr>
        <p:style>
          <a:lnRef idx="0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" name="直接箭头连接符 1"/>
          <p:cNvCxnSpPr/>
          <p:nvPr/>
        </p:nvCxnSpPr>
        <p:spPr>
          <a:xfrm flipV="1">
            <a:off x="326390" y="2129790"/>
            <a:ext cx="10180955" cy="50165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9180830" y="1833880"/>
            <a:ext cx="1791335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b="1">
                <a:solidFill>
                  <a:schemeClr val="tx1"/>
                </a:solidFill>
              </a:rPr>
              <a:t>浏览器指纹</a:t>
            </a:r>
            <a:endParaRPr lang="zh-CN" altLang="en-US" sz="1600" b="1">
              <a:solidFill>
                <a:schemeClr val="tx1"/>
              </a:solidFill>
            </a:endParaRPr>
          </a:p>
          <a:p>
            <a:r>
              <a:rPr lang="zh-CN" altLang="en-US" sz="1600" b="1">
                <a:solidFill>
                  <a:schemeClr val="tx1"/>
                </a:solidFill>
              </a:rPr>
              <a:t>可信锚定链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1925" y="2479040"/>
            <a:ext cx="1450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accent4">
                    <a:lumMod val="75000"/>
                  </a:schemeClr>
                </a:solidFill>
              </a:rPr>
              <a:t>表征可信</a:t>
            </a:r>
            <a:endParaRPr lang="zh-CN" altLang="en-US" b="1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5370195" y="2479040"/>
            <a:ext cx="1450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accent6"/>
                </a:solidFill>
              </a:rPr>
              <a:t> </a:t>
            </a:r>
            <a:r>
              <a:rPr lang="zh-CN" altLang="en-US" b="1">
                <a:solidFill>
                  <a:schemeClr val="accent6">
                    <a:lumMod val="75000"/>
                  </a:schemeClr>
                </a:solidFill>
              </a:rPr>
              <a:t>执行可信</a:t>
            </a:r>
            <a:endParaRPr lang="zh-CN" altLang="en-US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100695" y="2475230"/>
            <a:ext cx="1450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accent6"/>
                </a:solidFill>
              </a:rPr>
              <a:t> </a:t>
            </a:r>
            <a:r>
              <a:rPr lang="zh-CN" altLang="en-US" b="1">
                <a:solidFill>
                  <a:schemeClr val="accent1">
                    <a:lumMod val="75000"/>
                  </a:schemeClr>
                </a:solidFill>
              </a:rPr>
              <a:t>结论可信</a:t>
            </a:r>
            <a:endParaRPr lang="zh-CN" altLang="en-US" b="1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4324985" y="4578985"/>
            <a:ext cx="104521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accent4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解释支撑</a:t>
            </a:r>
            <a:endParaRPr lang="zh-CN" altLang="en-US" sz="1600" b="1">
              <a:solidFill>
                <a:schemeClr val="accent4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6959600" y="4586605"/>
            <a:ext cx="129095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600" b="1">
                <a:solidFill>
                  <a:schemeClr val="accent6">
                    <a:lumMod val="7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证据支撑</a:t>
            </a:r>
            <a:endParaRPr lang="zh-CN" altLang="en-US" sz="1600" b="1">
              <a:solidFill>
                <a:schemeClr val="accent6">
                  <a:lumMod val="7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2271395" y="6083300"/>
            <a:ext cx="7854315" cy="64198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总研究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目标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形成面向</a:t>
            </a:r>
            <a:r>
              <a:rPr lang="en-US" altLang="zh-CN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Web</a:t>
            </a: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环境的可解释、可验证、抗伪造的可信设备身份锚定机制</a:t>
            </a:r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2271395" y="2872105"/>
            <a:ext cx="2232660" cy="523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sym typeface="+mn-ea"/>
              </a:rPr>
              <a:t> </a:t>
            </a:r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构建基于浏览器指纹的设备身份可解释表征机制</a:t>
            </a:r>
            <a:endParaRPr lang="zh-CN" altLang="en-US" sz="1200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 sz="1200" b="1"/>
          </a:p>
        </p:txBody>
      </p:sp>
      <p:sp>
        <p:nvSpPr>
          <p:cNvPr id="35" name="矩形 34"/>
          <p:cNvSpPr/>
          <p:nvPr/>
        </p:nvSpPr>
        <p:spPr>
          <a:xfrm>
            <a:off x="2335530" y="3390265"/>
            <a:ext cx="2215515" cy="44005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面向演化情报的指纹变化语义对齐与归因建模技术</a:t>
            </a:r>
            <a:endParaRPr lang="zh-CN" altLang="en-US" sz="1200"/>
          </a:p>
        </p:txBody>
      </p:sp>
      <p:sp>
        <p:nvSpPr>
          <p:cNvPr id="37" name="矩形 36"/>
          <p:cNvSpPr/>
          <p:nvPr/>
        </p:nvSpPr>
        <p:spPr>
          <a:xfrm>
            <a:off x="2335530" y="3984625"/>
            <a:ext cx="2215515" cy="440055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基于可复现平台的指纹变化范围刻画与同一性判定技术</a:t>
            </a:r>
            <a:endParaRPr lang="zh-CN" altLang="en-US" sz="1200"/>
          </a:p>
        </p:txBody>
      </p:sp>
      <p:sp>
        <p:nvSpPr>
          <p:cNvPr id="55" name="文本框 54"/>
          <p:cNvSpPr txBox="1"/>
          <p:nvPr/>
        </p:nvSpPr>
        <p:spPr>
          <a:xfrm>
            <a:off x="4946650" y="2868295"/>
            <a:ext cx="2232660" cy="523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构建交互触发的当前执行真实性验证机制与证据生成机制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5010785" y="3386455"/>
            <a:ext cx="2215515" cy="44005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面向交互挑战的动态防复现指纹生成技术</a:t>
            </a:r>
            <a:endParaRPr lang="zh-CN" altLang="en-US" sz="1200"/>
          </a:p>
        </p:txBody>
      </p:sp>
      <p:sp>
        <p:nvSpPr>
          <p:cNvPr id="57" name="矩形 56"/>
          <p:cNvSpPr/>
          <p:nvPr/>
        </p:nvSpPr>
        <p:spPr>
          <a:xfrm>
            <a:off x="5010785" y="3980815"/>
            <a:ext cx="2215515" cy="440055"/>
          </a:xfrm>
          <a:prstGeom prst="rect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基于时间与</a:t>
            </a:r>
            <a:r>
              <a:rPr lang="en-US" altLang="zh-CN" sz="1200"/>
              <a:t> GPU </a:t>
            </a:r>
            <a:r>
              <a:rPr lang="zh-CN" altLang="en-US" sz="1200"/>
              <a:t>侧信道证据的当下执行联合判定技术</a:t>
            </a:r>
            <a:endParaRPr lang="zh-CN" altLang="en-US" sz="1200"/>
          </a:p>
        </p:txBody>
      </p:sp>
      <p:sp>
        <p:nvSpPr>
          <p:cNvPr id="59" name="矩形 58"/>
          <p:cNvSpPr/>
          <p:nvPr/>
        </p:nvSpPr>
        <p:spPr>
          <a:xfrm>
            <a:off x="7711440" y="3374390"/>
            <a:ext cx="2215515" cy="44005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跨执行端特征映射与统一设备身份表示融合技术</a:t>
            </a:r>
            <a:endParaRPr lang="zh-CN" altLang="en-US" sz="1200"/>
          </a:p>
        </p:txBody>
      </p:sp>
      <p:sp>
        <p:nvSpPr>
          <p:cNvPr id="60" name="矩形 59"/>
          <p:cNvSpPr/>
          <p:nvPr/>
        </p:nvSpPr>
        <p:spPr>
          <a:xfrm>
            <a:off x="7711440" y="3968750"/>
            <a:ext cx="2215515" cy="440055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/>
              <a:t>跨执行端一致性约束与互证判定技术</a:t>
            </a:r>
            <a:endParaRPr lang="zh-CN" altLang="en-US" sz="1200"/>
          </a:p>
        </p:txBody>
      </p:sp>
      <p:sp>
        <p:nvSpPr>
          <p:cNvPr id="61" name="文本框 60"/>
          <p:cNvSpPr txBox="1"/>
          <p:nvPr/>
        </p:nvSpPr>
        <p:spPr>
          <a:xfrm>
            <a:off x="7693660" y="2847340"/>
            <a:ext cx="2232660" cy="5232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构建跨执行环境身份互证的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r>
              <a:rPr lang="zh-CN" altLang="en-US" sz="1200" b="1">
                <a:latin typeface="宋体" panose="02010600030101010101" pitchFamily="2" charset="-122"/>
                <a:ea typeface="宋体" panose="02010600030101010101" pitchFamily="2" charset="-122"/>
              </a:rPr>
              <a:t>一致性约束与抗伪造机制</a:t>
            </a:r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/>
            <a:endParaRPr lang="zh-CN" altLang="en-US" sz="1200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2" name="文本框 61"/>
          <p:cNvSpPr txBox="1"/>
          <p:nvPr/>
        </p:nvSpPr>
        <p:spPr>
          <a:xfrm>
            <a:off x="2629535" y="850265"/>
            <a:ext cx="14884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科学问题</a:t>
            </a:r>
            <a:r>
              <a:rPr lang="en-US" altLang="zh-CN" sz="1200"/>
              <a:t>1</a:t>
            </a:r>
            <a:endParaRPr lang="en-US" altLang="zh-CN" sz="1200"/>
          </a:p>
        </p:txBody>
      </p:sp>
      <p:sp>
        <p:nvSpPr>
          <p:cNvPr id="63" name="文本框 62"/>
          <p:cNvSpPr txBox="1"/>
          <p:nvPr/>
        </p:nvSpPr>
        <p:spPr>
          <a:xfrm>
            <a:off x="5407025" y="850265"/>
            <a:ext cx="14884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科学问题</a:t>
            </a:r>
            <a:r>
              <a:rPr lang="en-US" altLang="zh-CN" sz="1200"/>
              <a:t>2</a:t>
            </a:r>
            <a:endParaRPr lang="en-US" altLang="zh-CN" sz="1200"/>
          </a:p>
        </p:txBody>
      </p:sp>
      <p:sp>
        <p:nvSpPr>
          <p:cNvPr id="64" name="文本框 63"/>
          <p:cNvSpPr txBox="1"/>
          <p:nvPr/>
        </p:nvSpPr>
        <p:spPr>
          <a:xfrm>
            <a:off x="8086725" y="853440"/>
            <a:ext cx="14884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科学问题</a:t>
            </a:r>
            <a:r>
              <a:rPr lang="en-US" altLang="zh-CN" sz="1200"/>
              <a:t>3</a:t>
            </a:r>
            <a:endParaRPr lang="en-US" altLang="zh-CN" sz="1200"/>
          </a:p>
        </p:txBody>
      </p:sp>
      <p:sp>
        <p:nvSpPr>
          <p:cNvPr id="65" name="文本框 64"/>
          <p:cNvSpPr txBox="1"/>
          <p:nvPr/>
        </p:nvSpPr>
        <p:spPr>
          <a:xfrm>
            <a:off x="2643505" y="2148205"/>
            <a:ext cx="14884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 </a:t>
            </a:r>
            <a:r>
              <a:rPr lang="zh-CN" altLang="en-US" sz="1200"/>
              <a:t>研究内容</a:t>
            </a:r>
            <a:r>
              <a:rPr lang="en-US" altLang="zh-CN" sz="1200"/>
              <a:t>1</a:t>
            </a:r>
            <a:endParaRPr lang="en-US" altLang="zh-CN" sz="1200"/>
          </a:p>
        </p:txBody>
      </p:sp>
      <p:sp>
        <p:nvSpPr>
          <p:cNvPr id="66" name="文本框 65"/>
          <p:cNvSpPr txBox="1"/>
          <p:nvPr/>
        </p:nvSpPr>
        <p:spPr>
          <a:xfrm>
            <a:off x="5420995" y="2148205"/>
            <a:ext cx="14884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研究内容</a:t>
            </a:r>
            <a:r>
              <a:rPr lang="en-US" altLang="zh-CN" sz="1200"/>
              <a:t>2</a:t>
            </a:r>
            <a:endParaRPr lang="en-US" altLang="zh-CN" sz="1200"/>
          </a:p>
        </p:txBody>
      </p:sp>
      <p:sp>
        <p:nvSpPr>
          <p:cNvPr id="67" name="文本框 66"/>
          <p:cNvSpPr txBox="1"/>
          <p:nvPr/>
        </p:nvSpPr>
        <p:spPr>
          <a:xfrm>
            <a:off x="8100695" y="2151380"/>
            <a:ext cx="14884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研究内容</a:t>
            </a:r>
            <a:r>
              <a:rPr lang="en-US" altLang="zh-CN" sz="1200"/>
              <a:t>3</a:t>
            </a:r>
            <a:endParaRPr lang="en-US" altLang="zh-CN" sz="1200"/>
          </a:p>
        </p:txBody>
      </p:sp>
      <p:sp>
        <p:nvSpPr>
          <p:cNvPr id="68" name="文本框 67"/>
          <p:cNvSpPr txBox="1"/>
          <p:nvPr/>
        </p:nvSpPr>
        <p:spPr>
          <a:xfrm>
            <a:off x="2639060" y="4979035"/>
            <a:ext cx="14884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研究目标</a:t>
            </a:r>
            <a:r>
              <a:rPr lang="en-US" altLang="zh-CN" sz="1200"/>
              <a:t>1</a:t>
            </a:r>
            <a:endParaRPr lang="en-US" altLang="zh-CN" sz="1200"/>
          </a:p>
        </p:txBody>
      </p:sp>
      <p:sp>
        <p:nvSpPr>
          <p:cNvPr id="69" name="文本框 68"/>
          <p:cNvSpPr txBox="1"/>
          <p:nvPr/>
        </p:nvSpPr>
        <p:spPr>
          <a:xfrm>
            <a:off x="5416550" y="4979035"/>
            <a:ext cx="14884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研究目标</a:t>
            </a:r>
            <a:r>
              <a:rPr lang="en-US" altLang="zh-CN" sz="1200"/>
              <a:t>2</a:t>
            </a:r>
            <a:endParaRPr lang="en-US" altLang="zh-CN" sz="1200"/>
          </a:p>
        </p:txBody>
      </p:sp>
      <p:sp>
        <p:nvSpPr>
          <p:cNvPr id="70" name="文本框 69"/>
          <p:cNvSpPr txBox="1"/>
          <p:nvPr/>
        </p:nvSpPr>
        <p:spPr>
          <a:xfrm>
            <a:off x="8096250" y="4982210"/>
            <a:ext cx="148844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研究目标</a:t>
            </a:r>
            <a:r>
              <a:rPr lang="en-US" altLang="zh-CN" sz="1200"/>
              <a:t>3</a:t>
            </a:r>
            <a:endParaRPr lang="en-US" altLang="zh-CN" sz="1200"/>
          </a:p>
        </p:txBody>
      </p:sp>
      <p:sp>
        <p:nvSpPr>
          <p:cNvPr id="72" name="下箭头 71"/>
          <p:cNvSpPr/>
          <p:nvPr/>
        </p:nvSpPr>
        <p:spPr>
          <a:xfrm>
            <a:off x="3187700" y="1833880"/>
            <a:ext cx="440055" cy="274320"/>
          </a:xfrm>
          <a:prstGeom prst="downArrow">
            <a:avLst/>
          </a:prstGeom>
          <a:solidFill>
            <a:srgbClr val="D1E8C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3" name="下箭头 72"/>
          <p:cNvSpPr/>
          <p:nvPr/>
        </p:nvSpPr>
        <p:spPr>
          <a:xfrm>
            <a:off x="3153410" y="4607560"/>
            <a:ext cx="440055" cy="274320"/>
          </a:xfrm>
          <a:prstGeom prst="downArrow">
            <a:avLst/>
          </a:prstGeom>
          <a:solidFill>
            <a:srgbClr val="D1E8C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下箭头 73"/>
          <p:cNvSpPr/>
          <p:nvPr/>
        </p:nvSpPr>
        <p:spPr>
          <a:xfrm>
            <a:off x="5930900" y="1833245"/>
            <a:ext cx="440055" cy="274320"/>
          </a:xfrm>
          <a:prstGeom prst="downArrow">
            <a:avLst/>
          </a:prstGeom>
          <a:solidFill>
            <a:srgbClr val="F7CFC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5" name="下箭头 74"/>
          <p:cNvSpPr/>
          <p:nvPr/>
        </p:nvSpPr>
        <p:spPr>
          <a:xfrm>
            <a:off x="5896610" y="4606925"/>
            <a:ext cx="440055" cy="274320"/>
          </a:xfrm>
          <a:prstGeom prst="downArrow">
            <a:avLst/>
          </a:prstGeom>
          <a:solidFill>
            <a:srgbClr val="F7CFC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下箭头 75"/>
          <p:cNvSpPr/>
          <p:nvPr/>
        </p:nvSpPr>
        <p:spPr>
          <a:xfrm>
            <a:off x="8620760" y="1833245"/>
            <a:ext cx="440055" cy="274320"/>
          </a:xfrm>
          <a:prstGeom prst="downArrow">
            <a:avLst/>
          </a:prstGeom>
          <a:solidFill>
            <a:srgbClr val="CDDF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下箭头 76"/>
          <p:cNvSpPr/>
          <p:nvPr/>
        </p:nvSpPr>
        <p:spPr>
          <a:xfrm>
            <a:off x="8586470" y="4606925"/>
            <a:ext cx="440055" cy="274320"/>
          </a:xfrm>
          <a:prstGeom prst="downArrow">
            <a:avLst/>
          </a:prstGeom>
          <a:solidFill>
            <a:srgbClr val="CDDF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8" name="下箭头 77"/>
          <p:cNvSpPr/>
          <p:nvPr/>
        </p:nvSpPr>
        <p:spPr>
          <a:xfrm>
            <a:off x="3092450" y="5795645"/>
            <a:ext cx="440055" cy="274320"/>
          </a:xfrm>
          <a:prstGeom prst="downArrow">
            <a:avLst/>
          </a:prstGeom>
          <a:solidFill>
            <a:srgbClr val="D1E8C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9" name="下箭头 78"/>
          <p:cNvSpPr/>
          <p:nvPr/>
        </p:nvSpPr>
        <p:spPr>
          <a:xfrm>
            <a:off x="5835650" y="5795010"/>
            <a:ext cx="440055" cy="274320"/>
          </a:xfrm>
          <a:prstGeom prst="downArrow">
            <a:avLst/>
          </a:prstGeom>
          <a:solidFill>
            <a:srgbClr val="F7CFC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下箭头 79"/>
          <p:cNvSpPr/>
          <p:nvPr/>
        </p:nvSpPr>
        <p:spPr>
          <a:xfrm>
            <a:off x="8525510" y="5795010"/>
            <a:ext cx="440055" cy="274320"/>
          </a:xfrm>
          <a:prstGeom prst="downArrow">
            <a:avLst/>
          </a:prstGeom>
          <a:solidFill>
            <a:srgbClr val="CDDFF7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3" name="圆角矩形 82"/>
          <p:cNvSpPr/>
          <p:nvPr/>
        </p:nvSpPr>
        <p:spPr>
          <a:xfrm>
            <a:off x="1696085" y="910590"/>
            <a:ext cx="387985" cy="109347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科学问题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85" name="下弧形箭头 84"/>
          <p:cNvSpPr/>
          <p:nvPr/>
        </p:nvSpPr>
        <p:spPr>
          <a:xfrm>
            <a:off x="7179310" y="4218940"/>
            <a:ext cx="692785" cy="367665"/>
          </a:xfrm>
          <a:prstGeom prst="curvedUpArrow">
            <a:avLst/>
          </a:prstGeom>
          <a:solidFill>
            <a:srgbClr val="C81D3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6" name="下弧形箭头 85"/>
          <p:cNvSpPr/>
          <p:nvPr/>
        </p:nvSpPr>
        <p:spPr>
          <a:xfrm>
            <a:off x="4504055" y="4239895"/>
            <a:ext cx="692785" cy="367665"/>
          </a:xfrm>
          <a:prstGeom prst="curvedUpArrow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87" name="圆角矩形 86"/>
          <p:cNvSpPr/>
          <p:nvPr/>
        </p:nvSpPr>
        <p:spPr>
          <a:xfrm>
            <a:off x="1696085" y="2891155"/>
            <a:ext cx="387985" cy="109347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研究内容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88" name="圆角矩形 87"/>
          <p:cNvSpPr/>
          <p:nvPr/>
        </p:nvSpPr>
        <p:spPr>
          <a:xfrm>
            <a:off x="1746885" y="5267325"/>
            <a:ext cx="387985" cy="1093470"/>
          </a:xfrm>
          <a:prstGeom prst="round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研究目标</a:t>
            </a:r>
            <a:endParaRPr lang="zh-CN" altLang="en-US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" name="圆角矩形 18"/>
          <p:cNvSpPr/>
          <p:nvPr/>
        </p:nvSpPr>
        <p:spPr>
          <a:xfrm>
            <a:off x="82550" y="4016375"/>
            <a:ext cx="5776595" cy="196786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圆角矩形 19"/>
          <p:cNvSpPr/>
          <p:nvPr/>
        </p:nvSpPr>
        <p:spPr>
          <a:xfrm>
            <a:off x="478155" y="4192270"/>
            <a:ext cx="4803140" cy="3873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实现动态执行过程的内生真实可信</a:t>
            </a:r>
            <a:endParaRPr lang="zh-CN" altLang="en-US"/>
          </a:p>
        </p:txBody>
      </p:sp>
      <p:sp>
        <p:nvSpPr>
          <p:cNvPr id="21" name="圆角矩形 20"/>
          <p:cNvSpPr/>
          <p:nvPr/>
        </p:nvSpPr>
        <p:spPr>
          <a:xfrm>
            <a:off x="742950" y="4664710"/>
            <a:ext cx="1972945" cy="57594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静态采集结果易被复用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3204845" y="4664710"/>
            <a:ext cx="2146935" cy="57594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面向当下执行认证的动态指纹判定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23" name="直接箭头连接符 22"/>
          <p:cNvCxnSpPr>
            <a:stCxn id="21" idx="3"/>
            <a:endCxn id="22" idx="1"/>
          </p:cNvCxnSpPr>
          <p:nvPr/>
        </p:nvCxnSpPr>
        <p:spPr>
          <a:xfrm>
            <a:off x="2715895" y="4953000"/>
            <a:ext cx="488950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圆角矩形 23"/>
          <p:cNvSpPr/>
          <p:nvPr/>
        </p:nvSpPr>
        <p:spPr>
          <a:xfrm>
            <a:off x="742950" y="5325745"/>
            <a:ext cx="1972945" cy="57594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缺少当下执行证据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3204845" y="5325745"/>
            <a:ext cx="2146935" cy="57594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基于侧信道执行证据的因果绑定及防复现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26" name="直接箭头连接符 25"/>
          <p:cNvCxnSpPr>
            <a:stCxn id="24" idx="3"/>
            <a:endCxn id="25" idx="1"/>
          </p:cNvCxnSpPr>
          <p:nvPr/>
        </p:nvCxnSpPr>
        <p:spPr>
          <a:xfrm>
            <a:off x="2715895" y="5614035"/>
            <a:ext cx="488950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7" name="文本框 26"/>
          <p:cNvSpPr txBox="1"/>
          <p:nvPr/>
        </p:nvSpPr>
        <p:spPr>
          <a:xfrm>
            <a:off x="203835" y="4787265"/>
            <a:ext cx="409575" cy="110172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b="1">
                <a:solidFill>
                  <a:srgbClr val="4874CB"/>
                </a:solidFill>
              </a:rPr>
              <a:t>关键问题</a:t>
            </a:r>
            <a:endParaRPr lang="zh-CN" altLang="en-US" b="1">
              <a:solidFill>
                <a:srgbClr val="4874CB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5405755" y="4787265"/>
            <a:ext cx="409575" cy="110172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b="1">
                <a:solidFill>
                  <a:srgbClr val="4874CB"/>
                </a:solidFill>
              </a:rPr>
              <a:t>解决</a:t>
            </a:r>
            <a:r>
              <a:rPr lang="zh-CN" altLang="en-US" b="1">
                <a:solidFill>
                  <a:srgbClr val="4874CB"/>
                </a:solidFill>
              </a:rPr>
              <a:t>方案</a:t>
            </a:r>
            <a:endParaRPr lang="zh-CN" altLang="en-US" b="1">
              <a:solidFill>
                <a:srgbClr val="4874CB"/>
              </a:solidFill>
            </a:endParaRPr>
          </a:p>
        </p:txBody>
      </p:sp>
      <p:sp>
        <p:nvSpPr>
          <p:cNvPr id="39" name="圆角矩形 38"/>
          <p:cNvSpPr/>
          <p:nvPr/>
        </p:nvSpPr>
        <p:spPr>
          <a:xfrm>
            <a:off x="6382385" y="4016375"/>
            <a:ext cx="5776595" cy="196786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圆角矩形 39"/>
          <p:cNvSpPr/>
          <p:nvPr/>
        </p:nvSpPr>
        <p:spPr>
          <a:xfrm>
            <a:off x="6777990" y="4192270"/>
            <a:ext cx="4803140" cy="3873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实现碎片化环境下的身份同源归一</a:t>
            </a:r>
            <a:endParaRPr lang="zh-CN" altLang="en-US"/>
          </a:p>
        </p:txBody>
      </p:sp>
      <p:sp>
        <p:nvSpPr>
          <p:cNvPr id="41" name="圆角矩形 40"/>
          <p:cNvSpPr/>
          <p:nvPr/>
        </p:nvSpPr>
        <p:spPr>
          <a:xfrm>
            <a:off x="7042785" y="4664710"/>
            <a:ext cx="1972945" cy="57594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跨端身份表征彼此割裂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9402445" y="4664710"/>
            <a:ext cx="2303145" cy="57594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面向跨端一致性互证的统一表示及联合判定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43" name="直接箭头连接符 42"/>
          <p:cNvCxnSpPr>
            <a:stCxn id="41" idx="3"/>
            <a:endCxn id="42" idx="1"/>
          </p:cNvCxnSpPr>
          <p:nvPr/>
        </p:nvCxnSpPr>
        <p:spPr>
          <a:xfrm>
            <a:off x="9015730" y="4953000"/>
            <a:ext cx="386715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圆角矩形 43"/>
          <p:cNvSpPr/>
          <p:nvPr/>
        </p:nvSpPr>
        <p:spPr>
          <a:xfrm>
            <a:off x="7042785" y="5325745"/>
            <a:ext cx="1972945" cy="57594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单端伪装可绕过整体判定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45" name="圆角矩形 44"/>
          <p:cNvSpPr/>
          <p:nvPr/>
        </p:nvSpPr>
        <p:spPr>
          <a:xfrm>
            <a:off x="9402445" y="5325745"/>
            <a:ext cx="2249170" cy="57594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基于投影规律的跨端身份伪造检测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46" name="直接箭头连接符 45"/>
          <p:cNvCxnSpPr>
            <a:stCxn id="44" idx="3"/>
            <a:endCxn id="45" idx="1"/>
          </p:cNvCxnSpPr>
          <p:nvPr/>
        </p:nvCxnSpPr>
        <p:spPr>
          <a:xfrm>
            <a:off x="9015730" y="5614035"/>
            <a:ext cx="386715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7" name="文本框 46"/>
          <p:cNvSpPr txBox="1"/>
          <p:nvPr/>
        </p:nvSpPr>
        <p:spPr>
          <a:xfrm>
            <a:off x="6503670" y="4787265"/>
            <a:ext cx="409575" cy="110172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b="1">
                <a:solidFill>
                  <a:srgbClr val="4874CB"/>
                </a:solidFill>
              </a:rPr>
              <a:t>关键问题</a:t>
            </a:r>
            <a:endParaRPr lang="zh-CN" altLang="en-US" b="1">
              <a:solidFill>
                <a:srgbClr val="4874CB"/>
              </a:solidFill>
            </a:endParaRPr>
          </a:p>
        </p:txBody>
      </p:sp>
      <p:sp>
        <p:nvSpPr>
          <p:cNvPr id="48" name="文本框 47"/>
          <p:cNvSpPr txBox="1"/>
          <p:nvPr/>
        </p:nvSpPr>
        <p:spPr>
          <a:xfrm>
            <a:off x="11705590" y="4787265"/>
            <a:ext cx="409575" cy="110172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b="1">
                <a:solidFill>
                  <a:srgbClr val="4874CB"/>
                </a:solidFill>
              </a:rPr>
              <a:t>解决</a:t>
            </a:r>
            <a:r>
              <a:rPr lang="zh-CN" altLang="en-US" b="1">
                <a:solidFill>
                  <a:srgbClr val="4874CB"/>
                </a:solidFill>
              </a:rPr>
              <a:t>方案</a:t>
            </a:r>
            <a:endParaRPr lang="zh-CN" altLang="en-US" b="1">
              <a:solidFill>
                <a:srgbClr val="4874CB"/>
              </a:solidFill>
            </a:endParaRPr>
          </a:p>
        </p:txBody>
      </p:sp>
      <p:sp>
        <p:nvSpPr>
          <p:cNvPr id="50" name="圆角矩形 49"/>
          <p:cNvSpPr/>
          <p:nvPr/>
        </p:nvSpPr>
        <p:spPr>
          <a:xfrm>
            <a:off x="3204210" y="184785"/>
            <a:ext cx="5776595" cy="196786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圆角矩形 50"/>
          <p:cNvSpPr/>
          <p:nvPr/>
        </p:nvSpPr>
        <p:spPr>
          <a:xfrm>
            <a:off x="3599815" y="360680"/>
            <a:ext cx="4803140" cy="3873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实现长周期演变下的设备身份精准对齐</a:t>
            </a:r>
            <a:endParaRPr lang="zh-CN" altLang="en-US"/>
          </a:p>
        </p:txBody>
      </p:sp>
      <p:sp>
        <p:nvSpPr>
          <p:cNvPr id="52" name="圆角矩形 51"/>
          <p:cNvSpPr/>
          <p:nvPr/>
        </p:nvSpPr>
        <p:spPr>
          <a:xfrm>
            <a:off x="3864610" y="833120"/>
            <a:ext cx="1972945" cy="57594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变化解释依赖经验规则与相似度关联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53" name="圆角矩形 52"/>
          <p:cNvSpPr/>
          <p:nvPr/>
        </p:nvSpPr>
        <p:spPr>
          <a:xfrm>
            <a:off x="6382385" y="833120"/>
            <a:ext cx="2091055" cy="57594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面向变化机理解的</a:t>
            </a:r>
            <a:endParaRPr lang="zh-CN" altLang="en-US" sz="1600">
              <a:solidFill>
                <a:schemeClr val="tx1"/>
              </a:solidFill>
            </a:endParaRPr>
          </a:p>
          <a:p>
            <a:pPr algn="ctr"/>
            <a:r>
              <a:rPr lang="zh-CN" altLang="en-US" sz="1600">
                <a:solidFill>
                  <a:schemeClr val="tx1"/>
                </a:solidFill>
              </a:rPr>
              <a:t>归因及边界判定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54" name="直接箭头连接符 53"/>
          <p:cNvCxnSpPr>
            <a:stCxn id="52" idx="3"/>
            <a:endCxn id="53" idx="1"/>
          </p:cNvCxnSpPr>
          <p:nvPr/>
        </p:nvCxnSpPr>
        <p:spPr>
          <a:xfrm>
            <a:off x="5837555" y="1121410"/>
            <a:ext cx="544830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5" name="圆角矩形 54"/>
          <p:cNvSpPr/>
          <p:nvPr/>
        </p:nvSpPr>
        <p:spPr>
          <a:xfrm>
            <a:off x="3864610" y="1494155"/>
            <a:ext cx="1972945" cy="57594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同一性边界不清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56" name="圆角矩形 55"/>
          <p:cNvSpPr/>
          <p:nvPr/>
        </p:nvSpPr>
        <p:spPr>
          <a:xfrm>
            <a:off x="6382385" y="1494155"/>
            <a:ext cx="2091055" cy="575945"/>
          </a:xfrm>
          <a:prstGeom prst="round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>
                <a:solidFill>
                  <a:schemeClr val="tx1"/>
                </a:solidFill>
              </a:rPr>
              <a:t>基于受控环境机理复现的身份同一性判定</a:t>
            </a:r>
            <a:endParaRPr lang="zh-CN" altLang="en-US" sz="1600">
              <a:solidFill>
                <a:schemeClr val="tx1"/>
              </a:solidFill>
            </a:endParaRPr>
          </a:p>
        </p:txBody>
      </p:sp>
      <p:cxnSp>
        <p:nvCxnSpPr>
          <p:cNvPr id="57" name="直接箭头连接符 56"/>
          <p:cNvCxnSpPr>
            <a:stCxn id="55" idx="3"/>
            <a:endCxn id="56" idx="1"/>
          </p:cNvCxnSpPr>
          <p:nvPr/>
        </p:nvCxnSpPr>
        <p:spPr>
          <a:xfrm>
            <a:off x="5837555" y="1782445"/>
            <a:ext cx="544830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8" name="文本框 57"/>
          <p:cNvSpPr txBox="1"/>
          <p:nvPr/>
        </p:nvSpPr>
        <p:spPr>
          <a:xfrm>
            <a:off x="3325495" y="955675"/>
            <a:ext cx="409575" cy="110172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b="1">
                <a:solidFill>
                  <a:srgbClr val="4874CB"/>
                </a:solidFill>
              </a:rPr>
              <a:t>关键问题</a:t>
            </a:r>
            <a:endParaRPr lang="zh-CN" altLang="en-US" b="1">
              <a:solidFill>
                <a:srgbClr val="4874CB"/>
              </a:solidFill>
            </a:endParaRPr>
          </a:p>
        </p:txBody>
      </p:sp>
      <p:sp>
        <p:nvSpPr>
          <p:cNvPr id="59" name="文本框 58"/>
          <p:cNvSpPr txBox="1"/>
          <p:nvPr/>
        </p:nvSpPr>
        <p:spPr>
          <a:xfrm>
            <a:off x="8527415" y="955675"/>
            <a:ext cx="409575" cy="1101725"/>
          </a:xfrm>
          <a:prstGeom prst="rect">
            <a:avLst/>
          </a:prstGeom>
          <a:noFill/>
        </p:spPr>
        <p:txBody>
          <a:bodyPr vert="eaVert" wrap="square" rtlCol="0">
            <a:noAutofit/>
          </a:bodyPr>
          <a:p>
            <a:r>
              <a:rPr lang="zh-CN" altLang="en-US" b="1">
                <a:solidFill>
                  <a:srgbClr val="4874CB"/>
                </a:solidFill>
              </a:rPr>
              <a:t>解决</a:t>
            </a:r>
            <a:r>
              <a:rPr lang="zh-CN" altLang="en-US" b="1">
                <a:solidFill>
                  <a:srgbClr val="4874CB"/>
                </a:solidFill>
              </a:rPr>
              <a:t>方案</a:t>
            </a:r>
            <a:endParaRPr lang="zh-CN" altLang="en-US" b="1">
              <a:solidFill>
                <a:srgbClr val="4874CB"/>
              </a:solidFill>
            </a:endParaRPr>
          </a:p>
        </p:txBody>
      </p:sp>
      <p:cxnSp>
        <p:nvCxnSpPr>
          <p:cNvPr id="60" name="直接箭头连接符 59"/>
          <p:cNvCxnSpPr>
            <a:endCxn id="19" idx="0"/>
          </p:cNvCxnSpPr>
          <p:nvPr/>
        </p:nvCxnSpPr>
        <p:spPr>
          <a:xfrm flipH="1">
            <a:off x="2971165" y="2178050"/>
            <a:ext cx="531495" cy="1838325"/>
          </a:xfrm>
          <a:prstGeom prst="straightConnector1">
            <a:avLst/>
          </a:prstGeom>
          <a:ln w="57150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>
            <a:endCxn id="39" idx="0"/>
          </p:cNvCxnSpPr>
          <p:nvPr/>
        </p:nvCxnSpPr>
        <p:spPr>
          <a:xfrm>
            <a:off x="8702675" y="2148205"/>
            <a:ext cx="568325" cy="1868170"/>
          </a:xfrm>
          <a:prstGeom prst="straightConnector1">
            <a:avLst/>
          </a:prstGeom>
          <a:ln w="57150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>
            <a:stCxn id="19" idx="3"/>
            <a:endCxn id="39" idx="1"/>
          </p:cNvCxnSpPr>
          <p:nvPr/>
        </p:nvCxnSpPr>
        <p:spPr>
          <a:xfrm>
            <a:off x="5859145" y="5000625"/>
            <a:ext cx="523240" cy="0"/>
          </a:xfrm>
          <a:prstGeom prst="straightConnector1">
            <a:avLst/>
          </a:prstGeom>
          <a:ln w="57150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3" name="圆角矩形 62"/>
          <p:cNvSpPr/>
          <p:nvPr/>
        </p:nvSpPr>
        <p:spPr>
          <a:xfrm>
            <a:off x="2582545" y="2150110"/>
            <a:ext cx="416560" cy="155194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背景解释权</a:t>
            </a:r>
            <a:endParaRPr lang="zh-CN" altLang="en-US" sz="1600"/>
          </a:p>
        </p:txBody>
      </p:sp>
      <p:sp>
        <p:nvSpPr>
          <p:cNvPr id="64" name="圆角矩形 63"/>
          <p:cNvSpPr/>
          <p:nvPr/>
        </p:nvSpPr>
        <p:spPr>
          <a:xfrm>
            <a:off x="9271000" y="1966595"/>
            <a:ext cx="416560" cy="1765935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一致性约束</a:t>
            </a:r>
            <a:r>
              <a:rPr lang="zh-CN" altLang="en-US" sz="1600"/>
              <a:t>边界</a:t>
            </a:r>
            <a:endParaRPr lang="zh-CN" altLang="en-US" sz="1600"/>
          </a:p>
        </p:txBody>
      </p:sp>
      <p:sp>
        <p:nvSpPr>
          <p:cNvPr id="65" name="圆角矩形 64"/>
          <p:cNvSpPr/>
          <p:nvPr/>
        </p:nvSpPr>
        <p:spPr>
          <a:xfrm>
            <a:off x="5912485" y="5142230"/>
            <a:ext cx="416560" cy="155194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单端真实性</a:t>
            </a:r>
            <a:endParaRPr lang="zh-CN" altLang="en-US" sz="1600"/>
          </a:p>
        </p:txBody>
      </p:sp>
      <p:sp>
        <p:nvSpPr>
          <p:cNvPr id="66" name="矩形 65"/>
          <p:cNvSpPr/>
          <p:nvPr/>
        </p:nvSpPr>
        <p:spPr>
          <a:xfrm>
            <a:off x="4628515" y="2816225"/>
            <a:ext cx="2745740" cy="381635"/>
          </a:xfrm>
          <a:prstGeom prst="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/>
              <a:t>可信设备身份</a:t>
            </a:r>
            <a:r>
              <a:rPr lang="zh-CN" altLang="en-US" b="1"/>
              <a:t>锚定</a:t>
            </a:r>
            <a:endParaRPr lang="zh-CN" altLang="en-US" b="1"/>
          </a:p>
        </p:txBody>
      </p:sp>
      <p:sp>
        <p:nvSpPr>
          <p:cNvPr id="67" name="上箭头 66"/>
          <p:cNvSpPr/>
          <p:nvPr/>
        </p:nvSpPr>
        <p:spPr>
          <a:xfrm rot="1500000">
            <a:off x="5297170" y="3181350"/>
            <a:ext cx="424180" cy="782955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8" name="上箭头 67"/>
          <p:cNvSpPr/>
          <p:nvPr/>
        </p:nvSpPr>
        <p:spPr>
          <a:xfrm rot="20100000">
            <a:off x="6365875" y="3184525"/>
            <a:ext cx="424180" cy="782955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9" name="上箭头 68"/>
          <p:cNvSpPr/>
          <p:nvPr/>
        </p:nvSpPr>
        <p:spPr>
          <a:xfrm rot="10800000">
            <a:off x="5796280" y="2159000"/>
            <a:ext cx="424180" cy="592455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6220460" y="2270760"/>
            <a:ext cx="1153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6"/>
                </a:solidFill>
              </a:rPr>
              <a:t>演化可信</a:t>
            </a:r>
            <a:endParaRPr lang="zh-CN" altLang="en-US" b="1">
              <a:solidFill>
                <a:schemeClr val="accent6"/>
              </a:solidFill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4131310" y="3392170"/>
            <a:ext cx="1153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6"/>
                </a:solidFill>
              </a:rPr>
              <a:t>执行可信</a:t>
            </a:r>
            <a:endParaRPr lang="zh-CN" altLang="en-US" b="1">
              <a:solidFill>
                <a:schemeClr val="accent6"/>
              </a:solidFill>
            </a:endParaRPr>
          </a:p>
        </p:txBody>
      </p:sp>
      <p:sp>
        <p:nvSpPr>
          <p:cNvPr id="72" name="文本框 71"/>
          <p:cNvSpPr txBox="1"/>
          <p:nvPr/>
        </p:nvSpPr>
        <p:spPr>
          <a:xfrm>
            <a:off x="6913245" y="3392170"/>
            <a:ext cx="1153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b="1">
                <a:solidFill>
                  <a:schemeClr val="accent6"/>
                </a:solidFill>
              </a:rPr>
              <a:t>结论可信</a:t>
            </a:r>
            <a:endParaRPr lang="zh-CN" altLang="en-US" b="1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" name="矩形 11"/>
          <p:cNvSpPr/>
          <p:nvPr/>
        </p:nvSpPr>
        <p:spPr>
          <a:xfrm>
            <a:off x="72390" y="474345"/>
            <a:ext cx="4608195" cy="26174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81305" y="596900"/>
            <a:ext cx="43986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多源演化情报构建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0" name="圆角矩形 29"/>
          <p:cNvSpPr/>
          <p:nvPr/>
        </p:nvSpPr>
        <p:spPr>
          <a:xfrm>
            <a:off x="263525" y="1118235"/>
            <a:ext cx="1268730" cy="135445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硬件更新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信息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1682115" y="1118235"/>
            <a:ext cx="1255395" cy="136144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浏览器版本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策略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变化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3087370" y="1118235"/>
            <a:ext cx="1388745" cy="136144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插件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扩展与环境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变化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98755" y="2630805"/>
            <a:ext cx="43986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形成时间感知先验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71755" y="3411220"/>
            <a:ext cx="4608195" cy="26174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80670" y="3533775"/>
            <a:ext cx="43986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指纹变化事件抽取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62890" y="4055110"/>
            <a:ext cx="1268730" cy="135445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多时刻指纹观测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数据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1681480" y="4055110"/>
            <a:ext cx="1255395" cy="136144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变化特征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识别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3086735" y="4055110"/>
            <a:ext cx="1388745" cy="136144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共同变化特征与时序关系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98120" y="5567680"/>
            <a:ext cx="43986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形成变化模式表示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144770" y="2232660"/>
            <a:ext cx="3876675" cy="20599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5145405" y="2348865"/>
            <a:ext cx="387540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变化语义对齐与归因建模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15" name="肘形连接符 14"/>
          <p:cNvCxnSpPr>
            <a:stCxn id="12" idx="3"/>
            <a:endCxn id="11" idx="1"/>
          </p:cNvCxnSpPr>
          <p:nvPr/>
        </p:nvCxnSpPr>
        <p:spPr>
          <a:xfrm>
            <a:off x="4680585" y="1783080"/>
            <a:ext cx="464185" cy="1479550"/>
          </a:xfrm>
          <a:prstGeom prst="bentConnector3">
            <a:avLst>
              <a:gd name="adj1" fmla="val 50068"/>
            </a:avLst>
          </a:prstGeom>
          <a:ln w="317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6" name="肘形连接符 15"/>
          <p:cNvCxnSpPr>
            <a:stCxn id="5" idx="3"/>
            <a:endCxn id="11" idx="1"/>
          </p:cNvCxnSpPr>
          <p:nvPr/>
        </p:nvCxnSpPr>
        <p:spPr>
          <a:xfrm flipV="1">
            <a:off x="4679950" y="3262630"/>
            <a:ext cx="464820" cy="1457325"/>
          </a:xfrm>
          <a:prstGeom prst="bentConnector3">
            <a:avLst>
              <a:gd name="adj1" fmla="val 50000"/>
            </a:avLst>
          </a:prstGeom>
          <a:ln w="317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17" name="文本框 16"/>
          <p:cNvSpPr txBox="1"/>
          <p:nvPr/>
        </p:nvSpPr>
        <p:spPr>
          <a:xfrm>
            <a:off x="4872355" y="1506220"/>
            <a:ext cx="13398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迁移先验</a:t>
            </a:r>
            <a:endParaRPr lang="zh-CN" altLang="en-US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4821555" y="4719955"/>
            <a:ext cx="13398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变化模式</a:t>
            </a:r>
            <a:endParaRPr lang="zh-CN" altLang="en-US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0" name="圆角矩形 19"/>
          <p:cNvSpPr/>
          <p:nvPr/>
        </p:nvSpPr>
        <p:spPr>
          <a:xfrm>
            <a:off x="5227955" y="2752090"/>
            <a:ext cx="3703955" cy="44767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建立变化现象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—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状态迁移对应关系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1" name="圆角矩形 20"/>
          <p:cNvSpPr/>
          <p:nvPr/>
        </p:nvSpPr>
        <p:spPr>
          <a:xfrm>
            <a:off x="5227955" y="3341370"/>
            <a:ext cx="3703955" cy="44767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匹配潜在变化来源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4880610" y="3902075"/>
            <a:ext cx="43986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形成可解释的归因假设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9400540" y="2232660"/>
            <a:ext cx="2749550" cy="20599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9401175" y="2348865"/>
            <a:ext cx="27482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输出结果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7" name="圆角矩形 26"/>
          <p:cNvSpPr/>
          <p:nvPr/>
        </p:nvSpPr>
        <p:spPr>
          <a:xfrm>
            <a:off x="9433560" y="2752090"/>
            <a:ext cx="2626995" cy="44767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变化来源解释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8" name="圆角矩形 27"/>
          <p:cNvSpPr/>
          <p:nvPr/>
        </p:nvSpPr>
        <p:spPr>
          <a:xfrm>
            <a:off x="9433560" y="3341370"/>
            <a:ext cx="2626995" cy="44767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影响路径分析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9215755" y="3909695"/>
            <a:ext cx="311912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为后续范围验证提供依据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31" name="直接箭头连接符 30"/>
          <p:cNvCxnSpPr>
            <a:stCxn id="11" idx="3"/>
            <a:endCxn id="25" idx="1"/>
          </p:cNvCxnSpPr>
          <p:nvPr/>
        </p:nvCxnSpPr>
        <p:spPr>
          <a:xfrm>
            <a:off x="9021445" y="3262630"/>
            <a:ext cx="379095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2" name="矩形 31"/>
          <p:cNvSpPr/>
          <p:nvPr/>
        </p:nvSpPr>
        <p:spPr>
          <a:xfrm>
            <a:off x="9399905" y="4605655"/>
            <a:ext cx="2749550" cy="140462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9400540" y="4721860"/>
            <a:ext cx="274828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技术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作用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9552305" y="5060315"/>
            <a:ext cx="2395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为后续范围验证与边界判定提供解释基础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cxnSp>
        <p:nvCxnSpPr>
          <p:cNvPr id="35" name="肘形连接符 34"/>
          <p:cNvCxnSpPr>
            <a:stCxn id="24" idx="2"/>
            <a:endCxn id="32" idx="1"/>
          </p:cNvCxnSpPr>
          <p:nvPr/>
        </p:nvCxnSpPr>
        <p:spPr>
          <a:xfrm rot="5400000" flipV="1">
            <a:off x="7721283" y="3629343"/>
            <a:ext cx="1037590" cy="2319655"/>
          </a:xfrm>
          <a:prstGeom prst="bentConnector2">
            <a:avLst/>
          </a:prstGeom>
          <a:ln w="31750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8921750" y="1974215"/>
            <a:ext cx="53530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归因结果</a:t>
            </a:r>
            <a:endParaRPr lang="zh-CN" altLang="en-US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37" name="文本框 36"/>
          <p:cNvSpPr txBox="1"/>
          <p:nvPr/>
        </p:nvSpPr>
        <p:spPr>
          <a:xfrm>
            <a:off x="7592060" y="5365115"/>
            <a:ext cx="133985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>
              <a:buClrTx/>
              <a:buSzTx/>
              <a:buFontTx/>
            </a:pP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解释</a:t>
            </a:r>
            <a:r>
              <a:rPr lang="zh-CN" altLang="en-US" b="1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基础</a:t>
            </a:r>
            <a:endParaRPr lang="zh-CN" altLang="en-US" b="1">
              <a:solidFill>
                <a:srgbClr val="FF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" name="矩形 8"/>
          <p:cNvSpPr/>
          <p:nvPr>
            <p:custDataLst>
              <p:tags r:id="rId1"/>
            </p:custDataLst>
          </p:nvPr>
        </p:nvSpPr>
        <p:spPr>
          <a:xfrm>
            <a:off x="4895850" y="95250"/>
            <a:ext cx="2478405" cy="329755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圆角矩形 10"/>
          <p:cNvSpPr/>
          <p:nvPr>
            <p:custDataLst>
              <p:tags r:id="rId2"/>
            </p:custDataLst>
          </p:nvPr>
        </p:nvSpPr>
        <p:spPr>
          <a:xfrm>
            <a:off x="5052060" y="610870"/>
            <a:ext cx="2165350" cy="56578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虚拟机受控复现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3"/>
            </p:custDataLst>
          </p:nvPr>
        </p:nvSpPr>
        <p:spPr>
          <a:xfrm>
            <a:off x="5052060" y="1292225"/>
            <a:ext cx="2165350" cy="54927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真实机器路径校验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4"/>
            </p:custDataLst>
          </p:nvPr>
        </p:nvSpPr>
        <p:spPr>
          <a:xfrm>
            <a:off x="5051425" y="1993265"/>
            <a:ext cx="2166620" cy="54927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统一采集结果比对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5"/>
            </p:custDataLst>
          </p:nvPr>
        </p:nvSpPr>
        <p:spPr>
          <a:xfrm>
            <a:off x="5052060" y="2675890"/>
            <a:ext cx="2165350" cy="549275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支撑多条件验证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6"/>
            </p:custDataLst>
          </p:nvPr>
        </p:nvSpPr>
        <p:spPr>
          <a:xfrm>
            <a:off x="5052060" y="210185"/>
            <a:ext cx="2165350" cy="398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可复现验证平台</a:t>
            </a:r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矩形 5"/>
          <p:cNvSpPr/>
          <p:nvPr>
            <p:custDataLst>
              <p:tags r:id="rId7"/>
            </p:custDataLst>
          </p:nvPr>
        </p:nvSpPr>
        <p:spPr>
          <a:xfrm>
            <a:off x="590550" y="95250"/>
            <a:ext cx="2478405" cy="329755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7" name="圆角矩形 6"/>
          <p:cNvSpPr/>
          <p:nvPr>
            <p:custDataLst>
              <p:tags r:id="rId8"/>
            </p:custDataLst>
          </p:nvPr>
        </p:nvSpPr>
        <p:spPr>
          <a:xfrm>
            <a:off x="746760" y="610870"/>
            <a:ext cx="2165350" cy="56578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浏览器版本变化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圆角矩形 7"/>
          <p:cNvSpPr/>
          <p:nvPr>
            <p:custDataLst>
              <p:tags r:id="rId9"/>
            </p:custDataLst>
          </p:nvPr>
        </p:nvSpPr>
        <p:spPr>
          <a:xfrm>
            <a:off x="746760" y="1292225"/>
            <a:ext cx="2165350" cy="54927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系统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配置变化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10"/>
            </p:custDataLst>
          </p:nvPr>
        </p:nvSpPr>
        <p:spPr>
          <a:xfrm>
            <a:off x="746125" y="1993265"/>
            <a:ext cx="2166620" cy="54927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插件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扩展变化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5" name="圆角矩形 14"/>
          <p:cNvSpPr/>
          <p:nvPr>
            <p:custDataLst>
              <p:tags r:id="rId11"/>
            </p:custDataLst>
          </p:nvPr>
        </p:nvSpPr>
        <p:spPr>
          <a:xfrm>
            <a:off x="746760" y="2675890"/>
            <a:ext cx="2165350" cy="549275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形成真实变化样本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2"/>
            </p:custDataLst>
          </p:nvPr>
        </p:nvSpPr>
        <p:spPr>
          <a:xfrm>
            <a:off x="746760" y="210185"/>
            <a:ext cx="2165350" cy="398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真实演化条件设计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矩形 16"/>
          <p:cNvSpPr/>
          <p:nvPr>
            <p:custDataLst>
              <p:tags r:id="rId13"/>
            </p:custDataLst>
          </p:nvPr>
        </p:nvSpPr>
        <p:spPr>
          <a:xfrm>
            <a:off x="9201150" y="95250"/>
            <a:ext cx="2478405" cy="32975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8" name="圆角矩形 17"/>
          <p:cNvSpPr/>
          <p:nvPr>
            <p:custDataLst>
              <p:tags r:id="rId14"/>
            </p:custDataLst>
          </p:nvPr>
        </p:nvSpPr>
        <p:spPr>
          <a:xfrm>
            <a:off x="9357360" y="610870"/>
            <a:ext cx="2165350" cy="56578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属性级伪装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5"/>
            </p:custDataLst>
          </p:nvPr>
        </p:nvSpPr>
        <p:spPr>
          <a:xfrm>
            <a:off x="9357360" y="1292225"/>
            <a:ext cx="2165350" cy="54927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环境级伪装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圆角矩形 19"/>
          <p:cNvSpPr/>
          <p:nvPr>
            <p:custDataLst>
              <p:tags r:id="rId16"/>
            </p:custDataLst>
          </p:nvPr>
        </p:nvSpPr>
        <p:spPr>
          <a:xfrm>
            <a:off x="9356725" y="1993265"/>
            <a:ext cx="2166620" cy="54927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脚本级伪装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圆角矩形 20"/>
          <p:cNvSpPr/>
          <p:nvPr>
            <p:custDataLst>
              <p:tags r:id="rId17"/>
            </p:custDataLst>
          </p:nvPr>
        </p:nvSpPr>
        <p:spPr>
          <a:xfrm>
            <a:off x="9357360" y="2675890"/>
            <a:ext cx="2165350" cy="54927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形成伪装对照样本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8"/>
            </p:custDataLst>
          </p:nvPr>
        </p:nvSpPr>
        <p:spPr>
          <a:xfrm>
            <a:off x="9357360" y="210185"/>
            <a:ext cx="2165350" cy="398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伪装对照条件设计</a:t>
            </a:r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60" name="直接箭头连接符 59"/>
          <p:cNvCxnSpPr>
            <a:stCxn id="6" idx="3"/>
            <a:endCxn id="9" idx="1"/>
          </p:cNvCxnSpPr>
          <p:nvPr/>
        </p:nvCxnSpPr>
        <p:spPr>
          <a:xfrm>
            <a:off x="3068955" y="1744345"/>
            <a:ext cx="1826895" cy="0"/>
          </a:xfrm>
          <a:prstGeom prst="straightConnector1">
            <a:avLst/>
          </a:prstGeom>
          <a:ln w="57150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3148965" y="1841500"/>
            <a:ext cx="1667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accent6"/>
                </a:solidFill>
              </a:rPr>
              <a:t> </a:t>
            </a:r>
            <a:r>
              <a:rPr lang="zh-CN" altLang="en-US" b="1">
                <a:solidFill>
                  <a:schemeClr val="accent6"/>
                </a:solidFill>
              </a:rPr>
              <a:t>真实变化样本</a:t>
            </a:r>
            <a:endParaRPr lang="zh-CN" altLang="en-US" b="1">
              <a:solidFill>
                <a:schemeClr val="accent6"/>
              </a:solidFill>
            </a:endParaRPr>
          </a:p>
        </p:txBody>
      </p:sp>
      <p:cxnSp>
        <p:nvCxnSpPr>
          <p:cNvPr id="23" name="直接箭头连接符 22"/>
          <p:cNvCxnSpPr>
            <a:stCxn id="17" idx="1"/>
            <a:endCxn id="9" idx="3"/>
          </p:cNvCxnSpPr>
          <p:nvPr/>
        </p:nvCxnSpPr>
        <p:spPr>
          <a:xfrm flipH="1">
            <a:off x="7374255" y="1744345"/>
            <a:ext cx="1826895" cy="0"/>
          </a:xfrm>
          <a:prstGeom prst="straightConnector1">
            <a:avLst/>
          </a:prstGeom>
          <a:ln w="57150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7531735" y="1841500"/>
            <a:ext cx="1667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accent6"/>
                </a:solidFill>
              </a:rPr>
              <a:t> </a:t>
            </a:r>
            <a:r>
              <a:rPr lang="zh-CN" altLang="en-US" b="1">
                <a:solidFill>
                  <a:schemeClr val="accent6"/>
                </a:solidFill>
              </a:rPr>
              <a:t>伪装对照</a:t>
            </a:r>
            <a:r>
              <a:rPr lang="zh-CN" altLang="en-US" b="1">
                <a:solidFill>
                  <a:schemeClr val="accent6"/>
                </a:solidFill>
              </a:rPr>
              <a:t>样本</a:t>
            </a:r>
            <a:endParaRPr lang="zh-CN" altLang="en-US" b="1">
              <a:solidFill>
                <a:schemeClr val="accent6"/>
              </a:solidFill>
            </a:endParaRPr>
          </a:p>
        </p:txBody>
      </p:sp>
      <p:sp>
        <p:nvSpPr>
          <p:cNvPr id="31" name="矩形 30"/>
          <p:cNvSpPr/>
          <p:nvPr>
            <p:custDataLst>
              <p:tags r:id="rId19"/>
            </p:custDataLst>
          </p:nvPr>
        </p:nvSpPr>
        <p:spPr>
          <a:xfrm>
            <a:off x="2861310" y="4211320"/>
            <a:ext cx="6547485" cy="22155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2" name="圆角矩形 31"/>
          <p:cNvSpPr/>
          <p:nvPr>
            <p:custDataLst>
              <p:tags r:id="rId20"/>
            </p:custDataLst>
          </p:nvPr>
        </p:nvSpPr>
        <p:spPr>
          <a:xfrm>
            <a:off x="3067685" y="4683760"/>
            <a:ext cx="1994535" cy="124523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对比真实样本与伪装样本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21"/>
            </p:custDataLst>
          </p:nvPr>
        </p:nvSpPr>
        <p:spPr>
          <a:xfrm>
            <a:off x="4814570" y="4285615"/>
            <a:ext cx="2640965" cy="398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差异分析与边界刻画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8" name="圆角矩形 37"/>
          <p:cNvSpPr/>
          <p:nvPr>
            <p:custDataLst>
              <p:tags r:id="rId22"/>
            </p:custDataLst>
          </p:nvPr>
        </p:nvSpPr>
        <p:spPr>
          <a:xfrm>
            <a:off x="5137785" y="4683760"/>
            <a:ext cx="1994535" cy="124523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en-US" sz="160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识别边界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内外差异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9" name="圆角矩形 38"/>
          <p:cNvSpPr/>
          <p:nvPr>
            <p:custDataLst>
              <p:tags r:id="rId23"/>
            </p:custDataLst>
          </p:nvPr>
        </p:nvSpPr>
        <p:spPr>
          <a:xfrm>
            <a:off x="7207885" y="4683760"/>
            <a:ext cx="1994535" cy="124523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刻画可接受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变化范围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9" name="上箭头 68"/>
          <p:cNvSpPr/>
          <p:nvPr/>
        </p:nvSpPr>
        <p:spPr>
          <a:xfrm rot="10800000">
            <a:off x="5883910" y="3458845"/>
            <a:ext cx="424180" cy="592455"/>
          </a:xfrm>
          <a:prstGeom prst="upArrow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0" name="文本框 69"/>
          <p:cNvSpPr txBox="1"/>
          <p:nvPr/>
        </p:nvSpPr>
        <p:spPr>
          <a:xfrm>
            <a:off x="6308090" y="3570605"/>
            <a:ext cx="11531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accent6"/>
                </a:solidFill>
              </a:rPr>
              <a:t> </a:t>
            </a:r>
            <a:r>
              <a:rPr lang="zh-CN" altLang="en-US" b="1">
                <a:solidFill>
                  <a:schemeClr val="accent6"/>
                </a:solidFill>
              </a:rPr>
              <a:t>验证结果</a:t>
            </a:r>
            <a:endParaRPr lang="zh-CN" altLang="en-US" b="1">
              <a:solidFill>
                <a:schemeClr val="accent6"/>
              </a:solidFill>
            </a:endParaRPr>
          </a:p>
        </p:txBody>
      </p:sp>
      <p:sp>
        <p:nvSpPr>
          <p:cNvPr id="40" name="文本框 39"/>
          <p:cNvSpPr txBox="1"/>
          <p:nvPr>
            <p:custDataLst>
              <p:tags r:id="rId24"/>
            </p:custDataLst>
          </p:nvPr>
        </p:nvSpPr>
        <p:spPr>
          <a:xfrm>
            <a:off x="3359150" y="5998210"/>
            <a:ext cx="5551805" cy="3981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同一性判定边界：为后续动态验证提供判定依据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19200" y="594995"/>
            <a:ext cx="9753600" cy="566737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1073743924" name="图片 107374392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83330" y="1524635"/>
            <a:ext cx="6502400" cy="37020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内容占位符 4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43230" y="721995"/>
            <a:ext cx="9448800" cy="45339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073743917" name="图片 1073743916" descr="Gemini_Generated_Image_qon70uqon70uqon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99845" y="555625"/>
            <a:ext cx="9927590" cy="541591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" name="矩形 3"/>
          <p:cNvSpPr/>
          <p:nvPr/>
        </p:nvSpPr>
        <p:spPr>
          <a:xfrm>
            <a:off x="10594340" y="5391150"/>
            <a:ext cx="411480" cy="353695"/>
          </a:xfrm>
          <a:prstGeom prst="rect">
            <a:avLst/>
          </a:prstGeom>
          <a:solidFill>
            <a:srgbClr val="DDEAD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51530" y="470535"/>
            <a:ext cx="2400300" cy="201930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1830" y="561340"/>
            <a:ext cx="3606800" cy="154622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65730" y="3998595"/>
            <a:ext cx="3749675" cy="18980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950" y="4083685"/>
            <a:ext cx="2042795" cy="17983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64535" y="1247775"/>
            <a:ext cx="5662930" cy="420497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382510" y="1830705"/>
            <a:ext cx="1127125" cy="2971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7442200" y="1824355"/>
            <a:ext cx="100774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3987800" y="2834005"/>
            <a:ext cx="180340" cy="19748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矩形 8"/>
          <p:cNvSpPr/>
          <p:nvPr/>
        </p:nvSpPr>
        <p:spPr>
          <a:xfrm>
            <a:off x="4464685" y="2580640"/>
            <a:ext cx="180340" cy="22282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5391150" y="1824355"/>
            <a:ext cx="180340" cy="29787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6331585" y="1698625"/>
            <a:ext cx="180340" cy="31045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6794500" y="1638300"/>
            <a:ext cx="180340" cy="31648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7270750" y="1861820"/>
            <a:ext cx="180340" cy="293433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矩形 13"/>
          <p:cNvSpPr/>
          <p:nvPr/>
        </p:nvSpPr>
        <p:spPr>
          <a:xfrm>
            <a:off x="7740015" y="2025650"/>
            <a:ext cx="180340" cy="27774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矩形 14"/>
          <p:cNvSpPr/>
          <p:nvPr/>
        </p:nvSpPr>
        <p:spPr>
          <a:xfrm>
            <a:off x="8204835" y="2376170"/>
            <a:ext cx="180340" cy="2419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矩形 15"/>
          <p:cNvSpPr/>
          <p:nvPr/>
        </p:nvSpPr>
        <p:spPr>
          <a:xfrm>
            <a:off x="4434205" y="2917825"/>
            <a:ext cx="180340" cy="546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4927600" y="2376170"/>
            <a:ext cx="180340" cy="2419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矩形 20"/>
          <p:cNvSpPr/>
          <p:nvPr/>
        </p:nvSpPr>
        <p:spPr>
          <a:xfrm>
            <a:off x="5854700" y="2386965"/>
            <a:ext cx="180340" cy="2419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2" name="矩形 21"/>
          <p:cNvSpPr/>
          <p:nvPr/>
        </p:nvSpPr>
        <p:spPr>
          <a:xfrm>
            <a:off x="5831840" y="2959735"/>
            <a:ext cx="180340" cy="546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6306185" y="2917825"/>
            <a:ext cx="180340" cy="546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6766560" y="2924810"/>
            <a:ext cx="180340" cy="546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7229475" y="2834005"/>
            <a:ext cx="180340" cy="546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6" name="矩形 25"/>
          <p:cNvSpPr/>
          <p:nvPr/>
        </p:nvSpPr>
        <p:spPr>
          <a:xfrm>
            <a:off x="5358130" y="2889885"/>
            <a:ext cx="180340" cy="5461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" name="圆角矩形 49"/>
          <p:cNvSpPr/>
          <p:nvPr/>
        </p:nvSpPr>
        <p:spPr>
          <a:xfrm>
            <a:off x="403860" y="654685"/>
            <a:ext cx="3634740" cy="3609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1" name="圆角矩形 50"/>
          <p:cNvSpPr/>
          <p:nvPr/>
        </p:nvSpPr>
        <p:spPr>
          <a:xfrm>
            <a:off x="715645" y="830580"/>
            <a:ext cx="3023235" cy="3873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渲染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4" name="圆角矩形 3"/>
          <p:cNvSpPr/>
          <p:nvPr/>
        </p:nvSpPr>
        <p:spPr>
          <a:xfrm>
            <a:off x="8135620" y="654685"/>
            <a:ext cx="3634740" cy="360934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圆角矩形 4"/>
          <p:cNvSpPr/>
          <p:nvPr/>
        </p:nvSpPr>
        <p:spPr>
          <a:xfrm>
            <a:off x="8447405" y="830580"/>
            <a:ext cx="3023235" cy="3873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计算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6" name="圆角矩形 5"/>
          <p:cNvSpPr/>
          <p:nvPr/>
        </p:nvSpPr>
        <p:spPr>
          <a:xfrm>
            <a:off x="4278630" y="3518535"/>
            <a:ext cx="3634740" cy="305181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圆角矩形 6"/>
          <p:cNvSpPr/>
          <p:nvPr/>
        </p:nvSpPr>
        <p:spPr>
          <a:xfrm>
            <a:off x="4584700" y="3688715"/>
            <a:ext cx="3023235" cy="387350"/>
          </a:xfrm>
          <a:prstGeom prst="roundRect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/>
              <a:t>协同</a:t>
            </a:r>
            <a:r>
              <a:rPr lang="zh-CN" altLang="en-US"/>
              <a:t>层</a:t>
            </a:r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1"/>
            </p:custDataLst>
          </p:nvPr>
        </p:nvSpPr>
        <p:spPr>
          <a:xfrm>
            <a:off x="715010" y="1349375"/>
            <a:ext cx="3023870" cy="1002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buClrTx/>
              <a:buSzTx/>
              <a:buFontTx/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Canvas/WebGL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渲染耗时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图形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响应模式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2"/>
            </p:custDataLst>
          </p:nvPr>
        </p:nvSpPr>
        <p:spPr>
          <a:xfrm>
            <a:off x="8446770" y="1349375"/>
            <a:ext cx="3023870" cy="1002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buClrTx/>
              <a:buSzTx/>
              <a:buFontTx/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WASM/JS 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浮点计算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耗时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短时任务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相应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3"/>
            </p:custDataLst>
          </p:nvPr>
        </p:nvSpPr>
        <p:spPr>
          <a:xfrm>
            <a:off x="4584065" y="4222115"/>
            <a:ext cx="3023870" cy="10020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渲染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-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计算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时序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多任务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一致性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联合关系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特征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4584065" y="1285240"/>
            <a:ext cx="3007360" cy="14998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执行侧联合判定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融合多层执行侧</a:t>
            </a:r>
            <a:r>
              <a:rPr lang="zh-CN" altLang="en-US">
                <a:solidFill>
                  <a:schemeClr val="tx1"/>
                </a:solidFill>
              </a:rPr>
              <a:t>证据</a:t>
            </a:r>
            <a:endParaRPr lang="zh-CN" altLang="en-US">
              <a:solidFill>
                <a:schemeClr val="tx1"/>
              </a:solidFill>
            </a:endParaRPr>
          </a:p>
          <a:p>
            <a:pPr algn="ctr"/>
            <a:r>
              <a:rPr lang="zh-CN" altLang="en-US">
                <a:solidFill>
                  <a:schemeClr val="tx1"/>
                </a:solidFill>
              </a:rPr>
              <a:t>形成</a:t>
            </a:r>
            <a:r>
              <a:rPr lang="zh-CN" altLang="en-US">
                <a:solidFill>
                  <a:schemeClr val="tx1"/>
                </a:solidFill>
              </a:rPr>
              <a:t>当下执行增强判定</a:t>
            </a:r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12" name="直接箭头连接符 11"/>
          <p:cNvCxnSpPr>
            <a:stCxn id="6" idx="0"/>
            <a:endCxn id="10" idx="2"/>
          </p:cNvCxnSpPr>
          <p:nvPr/>
        </p:nvCxnSpPr>
        <p:spPr>
          <a:xfrm flipH="1" flipV="1">
            <a:off x="6087745" y="2785110"/>
            <a:ext cx="8255" cy="733425"/>
          </a:xfrm>
          <a:prstGeom prst="straightConnector1">
            <a:avLst/>
          </a:prstGeom>
          <a:ln w="57150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13" name="图片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930" y="2216150"/>
            <a:ext cx="2514600" cy="184086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33900" y="5224145"/>
            <a:ext cx="3124200" cy="946150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32495" y="2482850"/>
            <a:ext cx="2876550" cy="1403350"/>
          </a:xfrm>
          <a:prstGeom prst="rect">
            <a:avLst/>
          </a:prstGeom>
        </p:spPr>
      </p:pic>
      <p:cxnSp>
        <p:nvCxnSpPr>
          <p:cNvPr id="16" name="直接箭头连接符 15"/>
          <p:cNvCxnSpPr>
            <a:stCxn id="50" idx="3"/>
            <a:endCxn id="10" idx="1"/>
          </p:cNvCxnSpPr>
          <p:nvPr/>
        </p:nvCxnSpPr>
        <p:spPr>
          <a:xfrm flipV="1">
            <a:off x="4038600" y="2035175"/>
            <a:ext cx="545465" cy="424180"/>
          </a:xfrm>
          <a:prstGeom prst="straightConnector1">
            <a:avLst/>
          </a:prstGeom>
          <a:ln w="57150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4" idx="1"/>
            <a:endCxn id="10" idx="3"/>
          </p:cNvCxnSpPr>
          <p:nvPr/>
        </p:nvCxnSpPr>
        <p:spPr>
          <a:xfrm flipH="1" flipV="1">
            <a:off x="7591425" y="2035175"/>
            <a:ext cx="544195" cy="424180"/>
          </a:xfrm>
          <a:prstGeom prst="straightConnector1">
            <a:avLst/>
          </a:prstGeom>
          <a:ln w="57150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矩形 14"/>
          <p:cNvSpPr/>
          <p:nvPr>
            <p:custDataLst>
              <p:tags r:id="rId1"/>
            </p:custDataLst>
          </p:nvPr>
        </p:nvSpPr>
        <p:spPr>
          <a:xfrm>
            <a:off x="187960" y="325755"/>
            <a:ext cx="3241040" cy="622236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圆角矩形 10"/>
          <p:cNvSpPr/>
          <p:nvPr>
            <p:custDataLst>
              <p:tags r:id="rId2"/>
            </p:custDataLst>
          </p:nvPr>
        </p:nvSpPr>
        <p:spPr>
          <a:xfrm>
            <a:off x="295275" y="4128770"/>
            <a:ext cx="3001010" cy="155321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8" name="圆角矩形 7"/>
          <p:cNvSpPr/>
          <p:nvPr>
            <p:custDataLst>
              <p:tags r:id="rId3"/>
            </p:custDataLst>
          </p:nvPr>
        </p:nvSpPr>
        <p:spPr>
          <a:xfrm>
            <a:off x="295275" y="2323465"/>
            <a:ext cx="3001010" cy="155321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0" name="圆角矩形 29"/>
          <p:cNvSpPr/>
          <p:nvPr>
            <p:custDataLst>
              <p:tags r:id="rId4"/>
            </p:custDataLst>
          </p:nvPr>
        </p:nvSpPr>
        <p:spPr>
          <a:xfrm>
            <a:off x="295275" y="518160"/>
            <a:ext cx="3001010" cy="1553210"/>
          </a:xfrm>
          <a:prstGeom prst="round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551815" y="565785"/>
            <a:ext cx="2520950" cy="111442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/>
          <a:stretch>
            <a:fillRect/>
          </a:stretch>
        </p:blipFill>
        <p:spPr>
          <a:xfrm>
            <a:off x="752475" y="2537460"/>
            <a:ext cx="1911985" cy="680720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tretch>
            <a:fillRect/>
          </a:stretch>
        </p:blipFill>
        <p:spPr>
          <a:xfrm>
            <a:off x="752475" y="4211955"/>
            <a:ext cx="2211705" cy="957580"/>
          </a:xfrm>
          <a:prstGeom prst="rect">
            <a:avLst/>
          </a:prstGeom>
        </p:spPr>
      </p:pic>
      <p:sp>
        <p:nvSpPr>
          <p:cNvPr id="12" name="文本框 11"/>
          <p:cNvSpPr txBox="1"/>
          <p:nvPr>
            <p:custDataLst>
              <p:tags r:id="rId11"/>
            </p:custDataLst>
          </p:nvPr>
        </p:nvSpPr>
        <p:spPr>
          <a:xfrm>
            <a:off x="998855" y="1577340"/>
            <a:ext cx="1419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Canvas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通道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12"/>
            </p:custDataLst>
          </p:nvPr>
        </p:nvSpPr>
        <p:spPr>
          <a:xfrm>
            <a:off x="1125855" y="3352165"/>
            <a:ext cx="1419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WebGL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通道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13"/>
            </p:custDataLst>
          </p:nvPr>
        </p:nvSpPr>
        <p:spPr>
          <a:xfrm>
            <a:off x="1085850" y="5169535"/>
            <a:ext cx="141986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Audio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通道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4"/>
            </p:custDataLst>
          </p:nvPr>
        </p:nvSpPr>
        <p:spPr>
          <a:xfrm>
            <a:off x="638810" y="5818505"/>
            <a:ext cx="21405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浏览器</a:t>
            </a: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API</a:t>
            </a:r>
            <a:endParaRPr lang="en-US" altLang="zh-CN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系统代码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分析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矩形 17"/>
          <p:cNvSpPr/>
          <p:nvPr>
            <p:custDataLst>
              <p:tags r:id="rId15"/>
            </p:custDataLst>
          </p:nvPr>
        </p:nvSpPr>
        <p:spPr>
          <a:xfrm>
            <a:off x="3668395" y="325755"/>
            <a:ext cx="3233420" cy="62223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6"/>
            </p:custDataLst>
          </p:nvPr>
        </p:nvSpPr>
        <p:spPr>
          <a:xfrm>
            <a:off x="3797300" y="4459605"/>
            <a:ext cx="3001010" cy="91567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插入静音、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片段顺序调整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圆角矩形 19"/>
          <p:cNvSpPr/>
          <p:nvPr>
            <p:custDataLst>
              <p:tags r:id="rId17"/>
            </p:custDataLst>
          </p:nvPr>
        </p:nvSpPr>
        <p:spPr>
          <a:xfrm>
            <a:off x="3797300" y="2603500"/>
            <a:ext cx="3001010" cy="99504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理论值控制、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渲染差异扰动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圆角矩形 20"/>
          <p:cNvSpPr/>
          <p:nvPr>
            <p:custDataLst>
              <p:tags r:id="rId18"/>
            </p:custDataLst>
          </p:nvPr>
        </p:nvSpPr>
        <p:spPr>
          <a:xfrm>
            <a:off x="3797300" y="836930"/>
            <a:ext cx="3001010" cy="922020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字符起点控制、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组合宽度扰动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9"/>
            </p:custDataLst>
          </p:nvPr>
        </p:nvSpPr>
        <p:spPr>
          <a:xfrm>
            <a:off x="4227830" y="5818505"/>
            <a:ext cx="21405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收集动态多通道扰动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指纹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8" name="矩形 27"/>
          <p:cNvSpPr/>
          <p:nvPr>
            <p:custDataLst>
              <p:tags r:id="rId20"/>
            </p:custDataLst>
          </p:nvPr>
        </p:nvSpPr>
        <p:spPr>
          <a:xfrm>
            <a:off x="7192645" y="325755"/>
            <a:ext cx="3339465" cy="62223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9" name="圆角矩形 28"/>
          <p:cNvSpPr/>
          <p:nvPr>
            <p:custDataLst>
              <p:tags r:id="rId21"/>
            </p:custDataLst>
          </p:nvPr>
        </p:nvSpPr>
        <p:spPr>
          <a:xfrm>
            <a:off x="7327265" y="4459605"/>
            <a:ext cx="3001010" cy="91567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时序对齐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 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逆拼接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1" name="圆角矩形 30"/>
          <p:cNvSpPr/>
          <p:nvPr>
            <p:custDataLst>
              <p:tags r:id="rId22"/>
            </p:custDataLst>
          </p:nvPr>
        </p:nvSpPr>
        <p:spPr>
          <a:xfrm>
            <a:off x="7327265" y="2603500"/>
            <a:ext cx="3001010" cy="99504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差异校正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 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稳定特征映射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2" name="圆角矩形 31"/>
          <p:cNvSpPr/>
          <p:nvPr>
            <p:custDataLst>
              <p:tags r:id="rId23"/>
            </p:custDataLst>
          </p:nvPr>
        </p:nvSpPr>
        <p:spPr>
          <a:xfrm>
            <a:off x="7327265" y="836930"/>
            <a:ext cx="3001010" cy="92202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位置对齐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 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频域归一化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33" name="文本框 32"/>
          <p:cNvSpPr txBox="1"/>
          <p:nvPr>
            <p:custDataLst>
              <p:tags r:id="rId24"/>
            </p:custDataLst>
          </p:nvPr>
        </p:nvSpPr>
        <p:spPr>
          <a:xfrm>
            <a:off x="7757795" y="5818505"/>
            <a:ext cx="2140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多通道逆变换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25"/>
          <a:stretch>
            <a:fillRect/>
          </a:stretch>
        </p:blipFill>
        <p:spPr>
          <a:xfrm>
            <a:off x="10927080" y="2590800"/>
            <a:ext cx="850900" cy="1021715"/>
          </a:xfrm>
          <a:prstGeom prst="rect">
            <a:avLst/>
          </a:prstGeom>
        </p:spPr>
      </p:pic>
      <p:cxnSp>
        <p:nvCxnSpPr>
          <p:cNvPr id="35" name="直接箭头连接符 34"/>
          <p:cNvCxnSpPr>
            <a:stCxn id="30" idx="3"/>
            <a:endCxn id="21" idx="1"/>
          </p:cNvCxnSpPr>
          <p:nvPr/>
        </p:nvCxnSpPr>
        <p:spPr>
          <a:xfrm>
            <a:off x="3296285" y="1294765"/>
            <a:ext cx="501015" cy="317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>
            <a:stCxn id="8" idx="3"/>
            <a:endCxn id="20" idx="1"/>
          </p:cNvCxnSpPr>
          <p:nvPr/>
        </p:nvCxnSpPr>
        <p:spPr>
          <a:xfrm>
            <a:off x="3296285" y="3100070"/>
            <a:ext cx="501015" cy="127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>
            <a:stCxn id="11" idx="3"/>
            <a:endCxn id="19" idx="1"/>
          </p:cNvCxnSpPr>
          <p:nvPr/>
        </p:nvCxnSpPr>
        <p:spPr>
          <a:xfrm>
            <a:off x="3296285" y="4905375"/>
            <a:ext cx="501015" cy="12065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>
            <a:stCxn id="21" idx="3"/>
            <a:endCxn id="32" idx="1"/>
          </p:cNvCxnSpPr>
          <p:nvPr/>
        </p:nvCxnSpPr>
        <p:spPr>
          <a:xfrm>
            <a:off x="6798310" y="1297940"/>
            <a:ext cx="528955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20" idx="3"/>
            <a:endCxn id="31" idx="1"/>
          </p:cNvCxnSpPr>
          <p:nvPr/>
        </p:nvCxnSpPr>
        <p:spPr>
          <a:xfrm>
            <a:off x="6798310" y="3101340"/>
            <a:ext cx="528955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>
            <a:stCxn id="19" idx="3"/>
            <a:endCxn id="29" idx="1"/>
          </p:cNvCxnSpPr>
          <p:nvPr/>
        </p:nvCxnSpPr>
        <p:spPr>
          <a:xfrm>
            <a:off x="6798310" y="4917440"/>
            <a:ext cx="528955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肘形连接符 40"/>
          <p:cNvCxnSpPr>
            <a:stCxn id="32" idx="3"/>
            <a:endCxn id="34" idx="1"/>
          </p:cNvCxnSpPr>
          <p:nvPr/>
        </p:nvCxnSpPr>
        <p:spPr>
          <a:xfrm>
            <a:off x="10328275" y="1297940"/>
            <a:ext cx="598805" cy="1804035"/>
          </a:xfrm>
          <a:prstGeom prst="bentConnector3">
            <a:avLst>
              <a:gd name="adj1" fmla="val 50053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肘形连接符 41"/>
          <p:cNvCxnSpPr>
            <a:stCxn id="31" idx="3"/>
            <a:endCxn id="34" idx="1"/>
          </p:cNvCxnSpPr>
          <p:nvPr/>
        </p:nvCxnSpPr>
        <p:spPr>
          <a:xfrm>
            <a:off x="10328275" y="3101340"/>
            <a:ext cx="598805" cy="635"/>
          </a:xfrm>
          <a:prstGeom prst="bentConnector3">
            <a:avLst>
              <a:gd name="adj1" fmla="val 50053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肘形连接符 42"/>
          <p:cNvCxnSpPr>
            <a:stCxn id="29" idx="3"/>
            <a:endCxn id="34" idx="1"/>
          </p:cNvCxnSpPr>
          <p:nvPr/>
        </p:nvCxnSpPr>
        <p:spPr>
          <a:xfrm flipV="1">
            <a:off x="10328275" y="3101975"/>
            <a:ext cx="598805" cy="1815465"/>
          </a:xfrm>
          <a:prstGeom prst="bentConnector3">
            <a:avLst>
              <a:gd name="adj1" fmla="val 50053"/>
            </a:avLst>
          </a:prstGeom>
          <a:ln w="28575">
            <a:solidFill>
              <a:schemeClr val="tx1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4" name="文本框 43"/>
          <p:cNvSpPr txBox="1"/>
          <p:nvPr>
            <p:custDataLst>
              <p:tags r:id="rId26"/>
            </p:custDataLst>
          </p:nvPr>
        </p:nvSpPr>
        <p:spPr>
          <a:xfrm>
            <a:off x="10213975" y="3483610"/>
            <a:ext cx="2140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b="1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统一特征输出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矩形 14"/>
          <p:cNvSpPr/>
          <p:nvPr>
            <p:custDataLst>
              <p:tags r:id="rId1"/>
            </p:custDataLst>
          </p:nvPr>
        </p:nvSpPr>
        <p:spPr>
          <a:xfrm>
            <a:off x="88265" y="114300"/>
            <a:ext cx="4334510" cy="5123815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5" y="790575"/>
            <a:ext cx="4199890" cy="4293870"/>
          </a:xfrm>
          <a:prstGeom prst="rect">
            <a:avLst/>
          </a:prstGeom>
        </p:spPr>
      </p:pic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823595" y="296545"/>
            <a:ext cx="28638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跨执行环境多源特征分析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矩形 8"/>
          <p:cNvSpPr/>
          <p:nvPr>
            <p:custDataLst>
              <p:tags r:id="rId4"/>
            </p:custDataLst>
          </p:nvPr>
        </p:nvSpPr>
        <p:spPr>
          <a:xfrm>
            <a:off x="5250815" y="767715"/>
            <a:ext cx="3364230" cy="383032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>
            <p:custDataLst>
              <p:tags r:id="rId5"/>
            </p:custDataLst>
          </p:nvPr>
        </p:nvSpPr>
        <p:spPr>
          <a:xfrm>
            <a:off x="5472430" y="4124325"/>
            <a:ext cx="3143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形成可比较的跨端统一表示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1" name="圆角矩形 10"/>
          <p:cNvSpPr/>
          <p:nvPr>
            <p:custDataLst>
              <p:tags r:id="rId6"/>
            </p:custDataLst>
          </p:nvPr>
        </p:nvSpPr>
        <p:spPr>
          <a:xfrm>
            <a:off x="5420360" y="1885950"/>
            <a:ext cx="3001010" cy="56578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特征空间映射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/ 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归一化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5420360" y="2567305"/>
            <a:ext cx="3001010" cy="54927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跨端相似度计算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/ 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置信度建模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圆角矩形 12"/>
          <p:cNvSpPr/>
          <p:nvPr>
            <p:custDataLst>
              <p:tags r:id="rId8"/>
            </p:custDataLst>
          </p:nvPr>
        </p:nvSpPr>
        <p:spPr>
          <a:xfrm>
            <a:off x="5420360" y="3268345"/>
            <a:ext cx="3001010" cy="549275"/>
          </a:xfrm>
          <a:prstGeom prst="roundRect">
            <a:avLst/>
          </a:prstGeom>
          <a:solidFill>
            <a:schemeClr val="bg2">
              <a:lumMod val="7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统一身份表示生成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4" name="矩形 13"/>
          <p:cNvSpPr/>
          <p:nvPr>
            <p:custDataLst>
              <p:tags r:id="rId9"/>
            </p:custDataLst>
          </p:nvPr>
        </p:nvSpPr>
        <p:spPr>
          <a:xfrm>
            <a:off x="9733280" y="767715"/>
            <a:ext cx="1980565" cy="38303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10"/>
            </p:custDataLst>
          </p:nvPr>
        </p:nvSpPr>
        <p:spPr>
          <a:xfrm>
            <a:off x="9805670" y="1186815"/>
            <a:ext cx="18878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en-US" altLang="zh-CN" b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输出结果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圆角矩形 17"/>
          <p:cNvSpPr/>
          <p:nvPr>
            <p:custDataLst>
              <p:tags r:id="rId11"/>
            </p:custDataLst>
          </p:nvPr>
        </p:nvSpPr>
        <p:spPr>
          <a:xfrm>
            <a:off x="9982835" y="1901825"/>
            <a:ext cx="1534160" cy="55626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统一身份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表示向量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2"/>
            </p:custDataLst>
          </p:nvPr>
        </p:nvSpPr>
        <p:spPr>
          <a:xfrm>
            <a:off x="9982835" y="2585085"/>
            <a:ext cx="1534160" cy="55626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跨端相似度评分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圆角矩形 19"/>
          <p:cNvSpPr/>
          <p:nvPr>
            <p:custDataLst>
              <p:tags r:id="rId13"/>
            </p:custDataLst>
          </p:nvPr>
        </p:nvSpPr>
        <p:spPr>
          <a:xfrm>
            <a:off x="9982835" y="3268345"/>
            <a:ext cx="1534160" cy="55626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互证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基础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结果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14"/>
            </p:custDataLst>
          </p:nvPr>
        </p:nvSpPr>
        <p:spPr>
          <a:xfrm>
            <a:off x="5472430" y="1245870"/>
            <a:ext cx="314325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跨端映射与统一表示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3" name="直接箭头连接符 2"/>
          <p:cNvCxnSpPr>
            <a:stCxn id="15" idx="3"/>
            <a:endCxn id="9" idx="1"/>
          </p:cNvCxnSpPr>
          <p:nvPr/>
        </p:nvCxnSpPr>
        <p:spPr>
          <a:xfrm>
            <a:off x="4422775" y="2676525"/>
            <a:ext cx="828040" cy="6350"/>
          </a:xfrm>
          <a:prstGeom prst="straightConnector1">
            <a:avLst/>
          </a:prstGeom>
          <a:ln w="57150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5" name="直接箭头连接符 4"/>
          <p:cNvCxnSpPr>
            <a:stCxn id="9" idx="3"/>
            <a:endCxn id="14" idx="1"/>
          </p:cNvCxnSpPr>
          <p:nvPr/>
        </p:nvCxnSpPr>
        <p:spPr>
          <a:xfrm>
            <a:off x="8615045" y="2682875"/>
            <a:ext cx="1118235" cy="0"/>
          </a:xfrm>
          <a:prstGeom prst="straightConnector1">
            <a:avLst/>
          </a:prstGeom>
          <a:ln w="57150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3" name="圆角矩形 62"/>
          <p:cNvSpPr/>
          <p:nvPr/>
        </p:nvSpPr>
        <p:spPr>
          <a:xfrm>
            <a:off x="4628515" y="906145"/>
            <a:ext cx="416560" cy="155194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特征映射输入</a:t>
            </a:r>
            <a:endParaRPr lang="zh-CN" altLang="en-US" sz="1600"/>
          </a:p>
        </p:txBody>
      </p:sp>
      <p:sp>
        <p:nvSpPr>
          <p:cNvPr id="27" name="圆角矩形 26"/>
          <p:cNvSpPr/>
          <p:nvPr/>
        </p:nvSpPr>
        <p:spPr>
          <a:xfrm>
            <a:off x="8966200" y="906145"/>
            <a:ext cx="416560" cy="1551940"/>
          </a:xfrm>
          <a:prstGeom prst="roundRect">
            <a:avLst/>
          </a:prstGeom>
          <a:solidFill>
            <a:schemeClr val="accent6"/>
          </a:solidFill>
          <a:ln>
            <a:solidFill>
              <a:schemeClr val="accent6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/>
              <a:t>统一表示输出</a:t>
            </a:r>
            <a:endParaRPr lang="zh-CN" altLang="en-US" sz="16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" name="矩形 14"/>
          <p:cNvSpPr/>
          <p:nvPr>
            <p:custDataLst>
              <p:tags r:id="rId1"/>
            </p:custDataLst>
          </p:nvPr>
        </p:nvSpPr>
        <p:spPr>
          <a:xfrm>
            <a:off x="187960" y="592455"/>
            <a:ext cx="3241040" cy="50749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30" name="圆角矩形 29"/>
          <p:cNvSpPr/>
          <p:nvPr>
            <p:custDataLst>
              <p:tags r:id="rId2"/>
            </p:custDataLst>
          </p:nvPr>
        </p:nvSpPr>
        <p:spPr>
          <a:xfrm>
            <a:off x="295275" y="1310640"/>
            <a:ext cx="3001010" cy="106235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身份流转约束</a:t>
            </a:r>
            <a:endParaRPr lang="en-US" altLang="zh-CN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App</a:t>
            </a:r>
            <a:r>
              <a:rPr lang="en-US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Web</a:t>
            </a:r>
            <a:endParaRPr lang="en-US" altLang="zh-CN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Web</a:t>
            </a:r>
            <a:r>
              <a:rPr lang="en-US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→</a:t>
            </a: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App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3"/>
            </p:custDataLst>
          </p:nvPr>
        </p:nvSpPr>
        <p:spPr>
          <a:xfrm>
            <a:off x="725170" y="681355"/>
            <a:ext cx="21405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跨端约束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来源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6" name="圆角矩形 5"/>
          <p:cNvSpPr/>
          <p:nvPr>
            <p:custDataLst>
              <p:tags r:id="rId4"/>
            </p:custDataLst>
          </p:nvPr>
        </p:nvSpPr>
        <p:spPr>
          <a:xfrm>
            <a:off x="307975" y="2750820"/>
            <a:ext cx="3001010" cy="106235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上下文绑定约束</a:t>
            </a:r>
            <a:endParaRPr lang="en-US" altLang="zh-CN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App–WebView 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共生</a:t>
            </a:r>
            <a:endParaRPr lang="en-US" altLang="zh-CN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Bridge / Session 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关联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9" name="圆角矩形 8"/>
          <p:cNvSpPr/>
          <p:nvPr>
            <p:custDataLst>
              <p:tags r:id="rId5"/>
            </p:custDataLst>
          </p:nvPr>
        </p:nvSpPr>
        <p:spPr>
          <a:xfrm>
            <a:off x="307975" y="4191000"/>
            <a:ext cx="3001010" cy="1062355"/>
          </a:xfrm>
          <a:prstGeom prst="round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网络与时序约束</a:t>
            </a:r>
            <a:endParaRPr lang="en-US" altLang="zh-CN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IP / TLS / Clock</a:t>
            </a:r>
            <a:endParaRPr lang="en-US" altLang="zh-CN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跳转时间关系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矩形 9"/>
          <p:cNvSpPr/>
          <p:nvPr>
            <p:custDataLst>
              <p:tags r:id="rId6"/>
            </p:custDataLst>
          </p:nvPr>
        </p:nvSpPr>
        <p:spPr>
          <a:xfrm>
            <a:off x="4475480" y="325755"/>
            <a:ext cx="3241040" cy="561276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2" name="圆角矩形 11"/>
          <p:cNvSpPr/>
          <p:nvPr>
            <p:custDataLst>
              <p:tags r:id="rId7"/>
            </p:custDataLst>
          </p:nvPr>
        </p:nvSpPr>
        <p:spPr>
          <a:xfrm>
            <a:off x="4582795" y="1043940"/>
            <a:ext cx="3001010" cy="11811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约束关系建模</a:t>
            </a:r>
            <a:endParaRPr lang="en-US" altLang="zh-CN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身份表征一致性</a:t>
            </a:r>
            <a:endParaRPr lang="en-US" altLang="zh-CN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上下文状态一致性</a:t>
            </a:r>
            <a:endParaRPr lang="en-US" altLang="zh-CN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网络与时序一致性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3" name="文本框 12"/>
          <p:cNvSpPr txBox="1"/>
          <p:nvPr>
            <p:custDataLst>
              <p:tags r:id="rId8"/>
            </p:custDataLst>
          </p:nvPr>
        </p:nvSpPr>
        <p:spPr>
          <a:xfrm>
            <a:off x="5012690" y="414655"/>
            <a:ext cx="21405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跨执行环境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一致性约束检测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" name="圆角矩形 17"/>
          <p:cNvSpPr/>
          <p:nvPr>
            <p:custDataLst>
              <p:tags r:id="rId9"/>
            </p:custDataLst>
          </p:nvPr>
        </p:nvSpPr>
        <p:spPr>
          <a:xfrm>
            <a:off x="4582795" y="2463165"/>
            <a:ext cx="3001010" cy="11811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异常不一致识别</a:t>
            </a:r>
            <a:endParaRPr lang="en-US" altLang="zh-CN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单端冲突检测</a:t>
            </a:r>
            <a:endParaRPr lang="en-US" altLang="zh-CN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跨端约束违反识别</a:t>
            </a:r>
            <a:endParaRPr lang="en-US" altLang="zh-CN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异常模式量化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9" name="圆角矩形 18"/>
          <p:cNvSpPr/>
          <p:nvPr>
            <p:custDataLst>
              <p:tags r:id="rId10"/>
            </p:custDataLst>
          </p:nvPr>
        </p:nvSpPr>
        <p:spPr>
          <a:xfrm>
            <a:off x="4582795" y="3882390"/>
            <a:ext cx="3001010" cy="11811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 b="1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伪装归因与联合判定</a:t>
            </a:r>
            <a:endParaRPr lang="en-US" altLang="zh-CN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属性级伪造</a:t>
            </a:r>
            <a:endParaRPr lang="en-US" altLang="zh-CN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环境级伪造</a:t>
            </a:r>
            <a:endParaRPr lang="en-US" altLang="zh-CN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algn="ctr">
              <a:buClrTx/>
              <a:buSzTx/>
              <a:buFontTx/>
            </a:pPr>
            <a:r>
              <a:rPr lang="en-US" altLang="zh-CN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Hook / 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篡改归因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11"/>
            </p:custDataLst>
          </p:nvPr>
        </p:nvSpPr>
        <p:spPr>
          <a:xfrm>
            <a:off x="5026025" y="5209540"/>
            <a:ext cx="2140585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形成面向伪装检测的一致性约束边界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1" name="矩形 20"/>
          <p:cNvSpPr/>
          <p:nvPr>
            <p:custDataLst>
              <p:tags r:id="rId12"/>
            </p:custDataLst>
          </p:nvPr>
        </p:nvSpPr>
        <p:spPr>
          <a:xfrm>
            <a:off x="8737600" y="1644015"/>
            <a:ext cx="3241040" cy="297624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  <a:prstDash val="dash"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b="1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22" name="文本框 21"/>
          <p:cNvSpPr txBox="1"/>
          <p:nvPr>
            <p:custDataLst>
              <p:tags r:id="rId13"/>
            </p:custDataLst>
          </p:nvPr>
        </p:nvSpPr>
        <p:spPr>
          <a:xfrm>
            <a:off x="9274810" y="1732915"/>
            <a:ext cx="2140585" cy="38100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>
              <a:buClrTx/>
              <a:buSzTx/>
              <a:buFontTx/>
            </a:pP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输出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结果</a:t>
            </a:r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4" name="圆角矩形 23"/>
          <p:cNvSpPr/>
          <p:nvPr>
            <p:custDataLst>
              <p:tags r:id="rId14"/>
            </p:custDataLst>
          </p:nvPr>
        </p:nvSpPr>
        <p:spPr>
          <a:xfrm>
            <a:off x="8870950" y="2235200"/>
            <a:ext cx="3001010" cy="56451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跨端一致性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评分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5" name="圆角矩形 24"/>
          <p:cNvSpPr/>
          <p:nvPr>
            <p:custDataLst>
              <p:tags r:id="rId15"/>
            </p:custDataLst>
          </p:nvPr>
        </p:nvSpPr>
        <p:spPr>
          <a:xfrm>
            <a:off x="8870950" y="3037205"/>
            <a:ext cx="3001010" cy="56451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伪装检测结果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26" name="圆角矩形 25"/>
          <p:cNvSpPr/>
          <p:nvPr>
            <p:custDataLst>
              <p:tags r:id="rId16"/>
            </p:custDataLst>
          </p:nvPr>
        </p:nvSpPr>
        <p:spPr>
          <a:xfrm>
            <a:off x="8858250" y="3839210"/>
            <a:ext cx="3001010" cy="56451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buClrTx/>
              <a:buSzTx/>
              <a:buFontTx/>
            </a:pP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联合判定</a:t>
            </a:r>
            <a:r>
              <a:rPr lang="zh-CN" altLang="en-US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界面</a:t>
            </a:r>
            <a:endParaRPr lang="zh-CN" altLang="en-US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cxnSp>
        <p:nvCxnSpPr>
          <p:cNvPr id="27" name="直接箭头连接符 26"/>
          <p:cNvCxnSpPr>
            <a:stCxn id="15" idx="3"/>
            <a:endCxn id="10" idx="1"/>
          </p:cNvCxnSpPr>
          <p:nvPr/>
        </p:nvCxnSpPr>
        <p:spPr>
          <a:xfrm>
            <a:off x="3429000" y="3129915"/>
            <a:ext cx="1046480" cy="2540"/>
          </a:xfrm>
          <a:prstGeom prst="straightConnector1">
            <a:avLst/>
          </a:prstGeom>
          <a:ln w="57150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1" name="直接箭头连接符 30"/>
          <p:cNvCxnSpPr>
            <a:stCxn id="10" idx="3"/>
            <a:endCxn id="21" idx="1"/>
          </p:cNvCxnSpPr>
          <p:nvPr/>
        </p:nvCxnSpPr>
        <p:spPr>
          <a:xfrm>
            <a:off x="7716520" y="3132455"/>
            <a:ext cx="1021080" cy="0"/>
          </a:xfrm>
          <a:prstGeom prst="straightConnector1">
            <a:avLst/>
          </a:prstGeom>
          <a:ln w="57150">
            <a:solidFill>
              <a:schemeClr val="accent6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1" name="文本框 70"/>
          <p:cNvSpPr txBox="1"/>
          <p:nvPr/>
        </p:nvSpPr>
        <p:spPr>
          <a:xfrm>
            <a:off x="3118485" y="3275965"/>
            <a:ext cx="1667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accent6"/>
                </a:solidFill>
              </a:rPr>
              <a:t>约束</a:t>
            </a:r>
            <a:r>
              <a:rPr lang="zh-CN" altLang="en-US" b="1">
                <a:solidFill>
                  <a:schemeClr val="accent6"/>
                </a:solidFill>
              </a:rPr>
              <a:t>输入</a:t>
            </a:r>
            <a:endParaRPr lang="zh-CN" altLang="en-US" b="1">
              <a:solidFill>
                <a:schemeClr val="accent6"/>
              </a:solidFill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7393305" y="3302000"/>
            <a:ext cx="16675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accent6"/>
                </a:solidFill>
              </a:rPr>
              <a:t>判定输入</a:t>
            </a:r>
            <a:endParaRPr lang="zh-CN" altLang="en-US" b="1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2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3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4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5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6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7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8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9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10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11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12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13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14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15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16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17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18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19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20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21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22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23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24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25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26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27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28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29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30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31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32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33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34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35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36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37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38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39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40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41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42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43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44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45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46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47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48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49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50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51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52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53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54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55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56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57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58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59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60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61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62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63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64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65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66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67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68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69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70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71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72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73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74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75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76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77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ags/tag78.xml><?xml version="1.0" encoding="utf-8"?>
<p:tagLst xmlns:p="http://schemas.openxmlformats.org/presentationml/2006/main">
  <p:tag name="KSO_WM_DIAGRAM_VIRTUALLY_FRAME" val="{&quot;height&quot;:489.95,&quot;left&quot;:55.2,&quot;top&quot;:25.65,&quot;width&quot;:295.65}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2385</Words>
  <Application>WPS 演示</Application>
  <PresentationFormat>宽屏</PresentationFormat>
  <Paragraphs>466</Paragraphs>
  <Slides>18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5" baseType="lpstr">
      <vt:lpstr>Arial</vt:lpstr>
      <vt:lpstr>宋体</vt:lpstr>
      <vt:lpstr>Wingdings</vt:lpstr>
      <vt:lpstr>Calibri</vt:lpstr>
      <vt:lpstr>微软雅黑</vt:lpstr>
      <vt:lpstr>Arial Unicode MS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巫蜀江</cp:lastModifiedBy>
  <cp:revision>20</cp:revision>
  <dcterms:created xsi:type="dcterms:W3CDTF">2023-08-09T12:44:00Z</dcterms:created>
  <dcterms:modified xsi:type="dcterms:W3CDTF">2026-03-12T19:28:17Z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31A367BF8CEF417F872E0FE593C181E8_12</vt:lpwstr>
  </property>
</Properties>
</file>