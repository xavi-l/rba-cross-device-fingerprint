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4f4ddf398c46d4" /><Relationship Type="http://schemas.openxmlformats.org/officeDocument/2006/relationships/extended-properties" Target="/docProps/app.xml" Id="R45bea13f0e7d4bf0" /><Relationship Type="http://schemas.openxmlformats.org/officeDocument/2006/relationships/officeDocument" Target="/ppt/presentation.xml" Id="Rbf301acec21443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789ddca14c41f1"/>
  </p:sldMasterIdLst>
  <p:notesMasterIdLst>
    <p:notesMasterId xmlns:r="http://schemas.openxmlformats.org/officeDocument/2006/relationships" r:id="Ra584b09e883641e3"/>
  </p:notesMasterIdLst>
  <p:sldIdLst>
    <p:sldId xmlns:r="http://schemas.openxmlformats.org/officeDocument/2006/relationships" id="256" r:id="Rb7790cf5cc66436f"/>
    <p:sldId xmlns:r="http://schemas.openxmlformats.org/officeDocument/2006/relationships" id="257" r:id="R33df3095deac4fca"/>
    <p:sldId xmlns:r="http://schemas.openxmlformats.org/officeDocument/2006/relationships" id="258" r:id="Ra42001971e6e44be"/>
    <p:sldId xmlns:r="http://schemas.openxmlformats.org/officeDocument/2006/relationships" id="259" r:id="R28108507bbc44574"/>
    <p:sldId xmlns:r="http://schemas.openxmlformats.org/officeDocument/2006/relationships" id="260" r:id="Rc0c5aab572664154"/>
    <p:sldId xmlns:r="http://schemas.openxmlformats.org/officeDocument/2006/relationships" id="261" r:id="R9075966d94dc4612"/>
    <p:sldId xmlns:r="http://schemas.openxmlformats.org/officeDocument/2006/relationships" id="262" r:id="R9c18dce5ca604def"/>
    <p:sldId xmlns:r="http://schemas.openxmlformats.org/officeDocument/2006/relationships" id="263" r:id="R69d9a8fb82ce460d"/>
    <p:sldId xmlns:r="http://schemas.openxmlformats.org/officeDocument/2006/relationships" id="264" r:id="R0abf5942e0ce4ffb"/>
    <p:sldId xmlns:r="http://schemas.openxmlformats.org/officeDocument/2006/relationships" id="265" r:id="Rab5c83b9b0644412"/>
    <p:sldId xmlns:r="http://schemas.openxmlformats.org/officeDocument/2006/relationships" id="266" r:id="R5bb83a4e69eb4bad"/>
    <p:sldId xmlns:r="http://schemas.openxmlformats.org/officeDocument/2006/relationships" id="267" r:id="R618eef557cca4262"/>
    <p:sldId xmlns:r="http://schemas.openxmlformats.org/officeDocument/2006/relationships" id="268" r:id="R17924a623f7b4029"/>
    <p:sldId xmlns:r="http://schemas.openxmlformats.org/officeDocument/2006/relationships" id="269" r:id="R35549a7750664d35"/>
    <p:sldId xmlns:r="http://schemas.openxmlformats.org/officeDocument/2006/relationships" id="270" r:id="R47f6daf0149d4f93"/>
    <p:sldId xmlns:r="http://schemas.openxmlformats.org/officeDocument/2006/relationships" id="271" r:id="R183feeb205db4ac5"/>
    <p:sldId xmlns:r="http://schemas.openxmlformats.org/officeDocument/2006/relationships" id="272" r:id="Rbdf17de6480c4d66"/>
    <p:sldId xmlns:r="http://schemas.openxmlformats.org/officeDocument/2006/relationships" id="273" r:id="R9b81716637834af3"/>
    <p:sldId xmlns:r="http://schemas.openxmlformats.org/officeDocument/2006/relationships" id="274" r:id="R69eb393ee4cd46f5"/>
    <p:sldId xmlns:r="http://schemas.openxmlformats.org/officeDocument/2006/relationships" id="275" r:id="R56e9cc503b044175"/>
    <p:sldId xmlns:r="http://schemas.openxmlformats.org/officeDocument/2006/relationships" id="276" r:id="Rb873307d4f2c4aa9"/>
    <p:sldId xmlns:r="http://schemas.openxmlformats.org/officeDocument/2006/relationships" id="277" r:id="R741e2c1727b1484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789ddca14c41f1" /><Relationship Type="http://schemas.openxmlformats.org/officeDocument/2006/relationships/theme" Target="/ppt/theme/theme1.xml" Id="Rbaa923eb4ac746bc" /><Relationship Type="http://schemas.openxmlformats.org/officeDocument/2006/relationships/notesMaster" Target="/ppt/notesMasters/notesMaster1.xml" Id="Ra584b09e883641e3" /><Relationship Type="http://schemas.openxmlformats.org/officeDocument/2006/relationships/presProps" Target="/ppt/presProps.xml" Id="R195784d92140409c" /><Relationship Type="http://schemas.openxmlformats.org/officeDocument/2006/relationships/viewProps" Target="/ppt/viewProps.xml" Id="R2725b39f0f764330" /><Relationship Type="http://schemas.openxmlformats.org/officeDocument/2006/relationships/tableStyles" Target="/ppt/tableStyles.xml" Id="Ra11bf66f2e38484f" /><Relationship Type="http://schemas.openxmlformats.org/officeDocument/2006/relationships/slide" Target="/ppt/slides/slide1.xml" Id="Rb7790cf5cc66436f" /><Relationship Type="http://schemas.openxmlformats.org/officeDocument/2006/relationships/slide" Target="/ppt/slides/slide2.xml" Id="R33df3095deac4fca" /><Relationship Type="http://schemas.openxmlformats.org/officeDocument/2006/relationships/slide" Target="/ppt/slides/slide3.xml" Id="Ra42001971e6e44be" /><Relationship Type="http://schemas.openxmlformats.org/officeDocument/2006/relationships/slide" Target="/ppt/slides/slide4.xml" Id="R28108507bbc44574" /><Relationship Type="http://schemas.openxmlformats.org/officeDocument/2006/relationships/slide" Target="/ppt/slides/slide5.xml" Id="Rc0c5aab572664154" /><Relationship Type="http://schemas.openxmlformats.org/officeDocument/2006/relationships/slide" Target="/ppt/slides/slide6.xml" Id="R9075966d94dc4612" /><Relationship Type="http://schemas.openxmlformats.org/officeDocument/2006/relationships/slide" Target="/ppt/slides/slide7.xml" Id="R9c18dce5ca604def" /><Relationship Type="http://schemas.openxmlformats.org/officeDocument/2006/relationships/slide" Target="/ppt/slides/slide8.xml" Id="R69d9a8fb82ce460d" /><Relationship Type="http://schemas.openxmlformats.org/officeDocument/2006/relationships/slide" Target="/ppt/slides/slide9.xml" Id="R0abf5942e0ce4ffb" /><Relationship Type="http://schemas.openxmlformats.org/officeDocument/2006/relationships/slide" Target="/ppt/slides/slide10.xml" Id="Rab5c83b9b0644412" /><Relationship Type="http://schemas.openxmlformats.org/officeDocument/2006/relationships/slide" Target="/ppt/slides/slide11.xml" Id="R5bb83a4e69eb4bad" /><Relationship Type="http://schemas.openxmlformats.org/officeDocument/2006/relationships/slide" Target="/ppt/slides/slide12.xml" Id="R618eef557cca4262" /><Relationship Type="http://schemas.openxmlformats.org/officeDocument/2006/relationships/slide" Target="/ppt/slides/slide13.xml" Id="R17924a623f7b4029" /><Relationship Type="http://schemas.openxmlformats.org/officeDocument/2006/relationships/slide" Target="/ppt/slides/slide14.xml" Id="R35549a7750664d35" /><Relationship Type="http://schemas.openxmlformats.org/officeDocument/2006/relationships/slide" Target="/ppt/slides/slide15.xml" Id="R47f6daf0149d4f93" /><Relationship Type="http://schemas.openxmlformats.org/officeDocument/2006/relationships/slide" Target="/ppt/slides/slide16.xml" Id="R183feeb205db4ac5" /><Relationship Type="http://schemas.openxmlformats.org/officeDocument/2006/relationships/slide" Target="/ppt/slides/slide17.xml" Id="Rbdf17de6480c4d66" /><Relationship Type="http://schemas.openxmlformats.org/officeDocument/2006/relationships/slide" Target="/ppt/slides/slide18.xml" Id="R9b81716637834af3" /><Relationship Type="http://schemas.openxmlformats.org/officeDocument/2006/relationships/slide" Target="/ppt/slides/slide19.xml" Id="R69eb393ee4cd46f5" /><Relationship Type="http://schemas.openxmlformats.org/officeDocument/2006/relationships/slide" Target="/ppt/slides/slide20.xml" Id="R56e9cc503b044175" /><Relationship Type="http://schemas.openxmlformats.org/officeDocument/2006/relationships/slide" Target="/ppt/slides/slide21.xml" Id="Rb873307d4f2c4aa9" /><Relationship Type="http://schemas.openxmlformats.org/officeDocument/2006/relationships/slide" Target="/ppt/slides/slide22.xml" Id="R741e2c1727b148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20e68f16d7645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28e76769c14d75" /><Relationship Type="http://schemas.openxmlformats.org/officeDocument/2006/relationships/notesMaster" Target="/ppt/notesMasters/notesMaster1.xml" Id="R01e6b0a1224747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97c78d5b334b5b" /><Relationship Type="http://schemas.openxmlformats.org/officeDocument/2006/relationships/notesMaster" Target="/ppt/notesMasters/notesMaster1.xml" Id="R0af97267084544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9d274ce547404a" /><Relationship Type="http://schemas.openxmlformats.org/officeDocument/2006/relationships/notesMaster" Target="/ppt/notesMasters/notesMaster1.xml" Id="R688b3fc50bb740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572f4de1154063" /><Relationship Type="http://schemas.openxmlformats.org/officeDocument/2006/relationships/notesMaster" Target="/ppt/notesMasters/notesMaster1.xml" Id="R79ed404477514c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e46a85da094f8b" /><Relationship Type="http://schemas.openxmlformats.org/officeDocument/2006/relationships/notesMaster" Target="/ppt/notesMasters/notesMaster1.xml" Id="R2bb19e38a3ac40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82d76c91ef481d" /><Relationship Type="http://schemas.openxmlformats.org/officeDocument/2006/relationships/notesMaster" Target="/ppt/notesMasters/notesMaster1.xml" Id="R11d2e4828d1145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d50e14f33f4469" /><Relationship Type="http://schemas.openxmlformats.org/officeDocument/2006/relationships/notesMaster" Target="/ppt/notesMasters/notesMaster1.xml" Id="R20c704cfaba444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da1f1ea8224f98" /><Relationship Type="http://schemas.openxmlformats.org/officeDocument/2006/relationships/notesMaster" Target="/ppt/notesMasters/notesMaster1.xml" Id="R3c48ec3d5f2546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0b5d73dc2843e6" /><Relationship Type="http://schemas.openxmlformats.org/officeDocument/2006/relationships/notesMaster" Target="/ppt/notesMasters/notesMaster1.xml" Id="R7c4428e835d04f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12d3d109c94dfd" /><Relationship Type="http://schemas.openxmlformats.org/officeDocument/2006/relationships/notesMaster" Target="/ppt/notesMasters/notesMaster1.xml" Id="Ra5d11ca1f91141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357d2e1e914a48" /><Relationship Type="http://schemas.openxmlformats.org/officeDocument/2006/relationships/notesMaster" Target="/ppt/notesMasters/notesMaster1.xml" Id="Rf31eec66aba141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d7b45e16de4380" /><Relationship Type="http://schemas.openxmlformats.org/officeDocument/2006/relationships/notesMaster" Target="/ppt/notesMasters/notesMaster1.xml" Id="R39d47e19456846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7762a2f76744bc" /><Relationship Type="http://schemas.openxmlformats.org/officeDocument/2006/relationships/notesMaster" Target="/ppt/notesMasters/notesMaster1.xml" Id="R07922f9d4f2548e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bc7d8362cf424e" /><Relationship Type="http://schemas.openxmlformats.org/officeDocument/2006/relationships/notesMaster" Target="/ppt/notesMasters/notesMaster1.xml" Id="R569aa12b6f6f43f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1293ddd54a4daa" /><Relationship Type="http://schemas.openxmlformats.org/officeDocument/2006/relationships/notesMaster" Target="/ppt/notesMasters/notesMaster1.xml" Id="R042b5414feab44f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f2b89466f94e7d" /><Relationship Type="http://schemas.openxmlformats.org/officeDocument/2006/relationships/notesMaster" Target="/ppt/notesMasters/notesMaster1.xml" Id="R32e3114cd0d147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2813ae8b543409c" /><Relationship Type="http://schemas.openxmlformats.org/officeDocument/2006/relationships/notesMaster" Target="/ppt/notesMasters/notesMaster1.xml" Id="Rde01784914b04c7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c4d461823e142de" /><Relationship Type="http://schemas.openxmlformats.org/officeDocument/2006/relationships/notesMaster" Target="/ppt/notesMasters/notesMaster1.xml" Id="R7845c1a9d2bb4b0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21ab590cab74950" /><Relationship Type="http://schemas.openxmlformats.org/officeDocument/2006/relationships/notesMaster" Target="/ppt/notesMasters/notesMaster1.xml" Id="Rbc502996f46e429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324f6e06c5649ef" /><Relationship Type="http://schemas.openxmlformats.org/officeDocument/2006/relationships/notesMaster" Target="/ppt/notesMasters/notesMaster1.xml" Id="R8eddbf6aac3c400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75d2af4a6964b33" /><Relationship Type="http://schemas.openxmlformats.org/officeDocument/2006/relationships/notesMaster" Target="/ppt/notesMasters/notesMaster1.xml" Id="R030d6baf133e4c6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1a51e8a21c44bed" /><Relationship Type="http://schemas.openxmlformats.org/officeDocument/2006/relationships/notesMaster" Target="/ppt/notesMasters/notesMaster1.xml" Id="Rcd08d23a6dbf4c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4b865834b440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5f60878f176409d" /><Relationship Type="http://schemas.openxmlformats.org/officeDocument/2006/relationships/slideLayout" Target="/ppt/slideLayouts/slideLayout2.xml" Id="R272602e8c49c41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2602e8c49c41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4c7ba1efff41a4" /><Relationship Type="http://schemas.openxmlformats.org/officeDocument/2006/relationships/notesSlide" Target="/ppt/notesSlides/notesSlide1.xml" Id="R27e329f9c97643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b6c361549946ca" /><Relationship Type="http://schemas.openxmlformats.org/officeDocument/2006/relationships/notesSlide" Target="/ppt/notesSlides/notesSlide2.xml" Id="R9bc91c65fe3b4e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db0ec69ccd4df7" /><Relationship Type="http://schemas.openxmlformats.org/officeDocument/2006/relationships/notesSlide" Target="/ppt/notesSlides/notesSlide3.xml" Id="Rb48f77bbbeed45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f8f093d43b4051" /><Relationship Type="http://schemas.openxmlformats.org/officeDocument/2006/relationships/notesSlide" Target="/ppt/notesSlides/notesSlide4.xml" Id="Rd94b6360ed2e42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7d963e46af4bf7" /><Relationship Type="http://schemas.openxmlformats.org/officeDocument/2006/relationships/image" Target="/ppt/media/image.png" Id="Rce41c256e2454285" /><Relationship Type="http://schemas.openxmlformats.org/officeDocument/2006/relationships/notesSlide" Target="/ppt/notesSlides/notesSlide5.xml" Id="Redc93e8af0cc45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071b28ed734a16" /><Relationship Type="http://schemas.openxmlformats.org/officeDocument/2006/relationships/notesSlide" Target="/ppt/notesSlides/notesSlide6.xml" Id="R377a3e7653ae43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5c1cb88174494f" /><Relationship Type="http://schemas.openxmlformats.org/officeDocument/2006/relationships/notesSlide" Target="/ppt/notesSlides/notesSlide7.xml" Id="R8fd006e3261941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6f4939749944e2" /><Relationship Type="http://schemas.openxmlformats.org/officeDocument/2006/relationships/image" Target="/ppt/media/image2.png" Id="R05176a315e4e49a8" /><Relationship Type="http://schemas.openxmlformats.org/officeDocument/2006/relationships/notesSlide" Target="/ppt/notesSlides/notesSlide8.xml" Id="Rd06cea99e01f48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1ea857ee2c4251" /><Relationship Type="http://schemas.openxmlformats.org/officeDocument/2006/relationships/notesSlide" Target="/ppt/notesSlides/notesSlide9.xml" Id="Rb703bf69f36948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2d4eec3f5e47eb" /><Relationship Type="http://schemas.openxmlformats.org/officeDocument/2006/relationships/image" Target="/ppt/media/image3.png" Id="R393c07b66b3b4542" /><Relationship Type="http://schemas.openxmlformats.org/officeDocument/2006/relationships/notesSlide" Target="/ppt/notesSlides/notesSlide10.xml" Id="R6a00b7bc474c47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22699dbe814fed" /><Relationship Type="http://schemas.openxmlformats.org/officeDocument/2006/relationships/image" Target="/ppt/media/image4.png" Id="R118e5a11b9ed4e9e" /><Relationship Type="http://schemas.openxmlformats.org/officeDocument/2006/relationships/notesSlide" Target="/ppt/notesSlides/notesSlide11.xml" Id="Re67ccb9e190c4c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b6f226dacf45a8" /><Relationship Type="http://schemas.openxmlformats.org/officeDocument/2006/relationships/notesSlide" Target="/ppt/notesSlides/notesSlide12.xml" Id="R37bb0587b0234e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f27112884745a2" /><Relationship Type="http://schemas.openxmlformats.org/officeDocument/2006/relationships/image" Target="/ppt/media/image5.png" Id="R5048cb3bcf144d58" /><Relationship Type="http://schemas.openxmlformats.org/officeDocument/2006/relationships/notesSlide" Target="/ppt/notesSlides/notesSlide13.xml" Id="R2fbbb7e67bdf45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db16c3008f490f" /><Relationship Type="http://schemas.openxmlformats.org/officeDocument/2006/relationships/notesSlide" Target="/ppt/notesSlides/notesSlide14.xml" Id="R40ea46dd87cb430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0056f0f7b441b8" /><Relationship Type="http://schemas.openxmlformats.org/officeDocument/2006/relationships/notesSlide" Target="/ppt/notesSlides/notesSlide15.xml" Id="R7643fb310793451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41004efe524e09" /><Relationship Type="http://schemas.openxmlformats.org/officeDocument/2006/relationships/notesSlide" Target="/ppt/notesSlides/notesSlide16.xml" Id="R5a07301b821b4c8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223a5c5a2d4223" /><Relationship Type="http://schemas.openxmlformats.org/officeDocument/2006/relationships/image" Target="/ppt/media/image6.png" Id="Re1c9095bead3495b" /><Relationship Type="http://schemas.openxmlformats.org/officeDocument/2006/relationships/notesSlide" Target="/ppt/notesSlides/notesSlide17.xml" Id="R85bfe6ec5e814e1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0c143a5a4f47a6" /><Relationship Type="http://schemas.openxmlformats.org/officeDocument/2006/relationships/image" Target="/ppt/media/image7.png" Id="R1099a3c7087f4dcf" /><Relationship Type="http://schemas.openxmlformats.org/officeDocument/2006/relationships/notesSlide" Target="/ppt/notesSlides/notesSlide18.xml" Id="R4feaf55422434de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0568eb60ee45f0" /><Relationship Type="http://schemas.openxmlformats.org/officeDocument/2006/relationships/image" Target="/ppt/media/image8.png" Id="R6d5246d2f6734436" /><Relationship Type="http://schemas.openxmlformats.org/officeDocument/2006/relationships/notesSlide" Target="/ppt/notesSlides/notesSlide19.xml" Id="R4c18d24f2481403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00d435423a40a3" /><Relationship Type="http://schemas.openxmlformats.org/officeDocument/2006/relationships/image" Target="/ppt/media/image9.png" Id="R2c16b485b8334167" /><Relationship Type="http://schemas.openxmlformats.org/officeDocument/2006/relationships/notesSlide" Target="/ppt/notesSlides/notesSlide20.xml" Id="Rb4a1361aa8244a1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9fa6c0abae41f7" /><Relationship Type="http://schemas.openxmlformats.org/officeDocument/2006/relationships/notesSlide" Target="/ppt/notesSlides/notesSlide21.xml" Id="R5508bdf02f2045e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8cea348d894948" /><Relationship Type="http://schemas.openxmlformats.org/officeDocument/2006/relationships/notesSlide" Target="/ppt/notesSlides/notesSlide22.xml" Id="Re507bb895e5f452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2C4D36-8866-4B6D-A877-5B3E78FB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7B7AA-D619-44D7-B64F-1086D927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5FBB4-22EE-4392-9D8E-B21C05C8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BB5B0-251D-4D20-A263-ABDBAD77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572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43958-57C1-4C1D-AAE8-F364CDEC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47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C2CC3-DD23-495C-82E8-8A7A641E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3906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3638E-C7BF-448F-8A1C-007F976E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04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14B16-0A52-44E6-8FC6-B705DDB7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240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22E52-E1F9-41BA-9F5E-EE682D69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62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429C0-6447-4DA6-BDF8-35C76EB2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AFF72-9C09-4C16-A84D-3C6434F9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19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D34DE-53A1-42ED-A786-13D6BD83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908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9961B-B569-43E9-A3D8-C963284E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76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75843-68FD-4E96-B276-B40C93A1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97924-6A6A-4F15-86BC-6AC03504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毕业论文答辩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D123C-009A-4B91-8491-909D1524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RBA中基于Web-WebView-Android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多端关联的设备身份交叉验证机制研究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ED1055-569D-4AD2-B85A-2EA2D881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Web-WebView-Android 多端关联 | 设备身份交叉验证 | RBA 风控场景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110807-0CC1-483B-8C37-4BBA9811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609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核心主张：本文围绕同一移动端会话中的三类指纹源采集、对齐和跨层互证，构建可解释的端侧风险评分闭环。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F73B38-1A2E-499C-9E3C-940041B5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2C249-61B8-44AF-A1BF-CDBC7890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三端融合采集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17E0B4-8351-4F11-8261-2E1754E8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53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1B0E53-D903-4EB7-BB39-2DF476C2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91100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6B6D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6B6D4"/>
                </a:solidFill>
                <a:latin typeface="PingFang SC"/>
                <a:ea typeface="PingFang SC"/>
                <a:cs typeface="PingFang SC"/>
              </a:rPr>
              <a:t>session_id会话对齐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83BA2A-0BF8-4106-880D-C6597815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53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B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11BE70-72D7-4B83-B472-651C0A5F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91100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B8A6"/>
                </a:solidFill>
                <a:latin typeface="PingFang SC"/>
                <a:ea typeface="PingFang SC"/>
                <a:cs typeface="PingFang SC"/>
              </a:rPr>
              <a:t>规则知识库离线标注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99DA1A-7878-4F14-9B49-6B803B26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53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EE57D7-7894-474B-B413-D0FACAE8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91100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端侧轻量评分闭环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95A2ED-2BE6-467B-A04D-E198F91F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C62FAB-4F2B-40A2-8224-E59697BC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本科毕业论文答辩</a:t>
            </a:r>
          </a:p>
        </p:txBody>
      </p:sp>
    </p:spTree>
    <p:extLst>
      <p:ext uri="{BB962C8B-B14F-4D97-AF65-F5344CB8AC3E}">
        <p14:creationId xmlns:p14="http://schemas.microsoft.com/office/powerpoint/2010/main" val="477816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6B9206-5D81-4168-8B1B-E02F1E5A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E33962DA-0ECC-4094-8995-BB0E5A71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CFDF449E-C8F0-471B-A9C1-48C4351E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60C30-8428-454B-943B-EAD38C04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232A4-8C07-4A71-9012-BD53899B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RBA移动应用中的设备身份风险藏在三层环境之间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67C1B-E76D-45DA-BA21-D14144C0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单端指纹能看到局部字段，但难以判断这些字段是否来自同一设备、同一宿主和同一次真实会话。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7E064-EC33-4E1B-AA63-B172E160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5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AF78D-ACD9-4039-A180-2F8B44E8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Android Native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E84FC-C1D3-4981-A56D-08DE14F2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2495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设备型号 / 系统版本 / Build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物理屏幕 / 电池 / 传感器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ADB / 安全配置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4477E-F564-4BC1-A5C2-85254AD2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D"/>
          </a:solidFill>
          <a:ln xmlns:a="http://schemas.openxmlformats.org/drawingml/2006/main" w="9525">
            <a:solidFill>
              <a:srgbClr val="BFD5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7CED0-7917-4A77-9367-990A5D6F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4315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WebView 宿主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47531B-380F-42DE-8935-44F7E9B3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14650"/>
            <a:ext cx="2495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JSBridge / Provider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默认UA / 安装来源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debuggable / SDK配置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66D83-8963-4377-A097-95E72D99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BF5"/>
          </a:solidFill>
          <a:ln xmlns:a="http://schemas.openxmlformats.org/drawingml/2006/main" w="9525">
            <a:solidFill>
              <a:srgbClr val="BFD5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28F5A-4EAD-421F-B2BC-5F3B8091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Web 前端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12609-572E-4BEE-A35C-62951323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14650"/>
            <a:ext cx="2495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Navigator / DPR / 屏幕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WebGL / Canvas / 时区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算力挑战 / 平台暴露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43B85-B3B5-4CFE-83D3-E5E05527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局部字段可被伪造；跨层一致性更难长期伪造。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3A523-AC6C-4611-8C04-E8BFC205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0B2003-E388-4C34-9967-9A5EA1BF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来源：论文第1章、第2章三端特征定义</a:t>
            </a:r>
          </a:p>
        </p:txBody>
      </p:sp>
    </p:spTree>
    <p:extLst>
      <p:ext uri="{BB962C8B-B14F-4D97-AF65-F5344CB8AC3E}">
        <p14:creationId xmlns:p14="http://schemas.microsoft.com/office/powerpoint/2010/main" val="18212191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D257E1-3894-43F3-87C4-598A29A6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01BCA5EB-7890-4A44-A7C4-83927124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E038CEAC-109D-46C8-B526-B6D56377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研究空缺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CDBF9-36A5-487A-9C3B-3BE12834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55F5D-F226-4FD3-97A0-1743CC05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已有研究提供组件，本文补上跨层一致性问题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6ACC7-5A9D-4656-B415-EF0D7DB9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研究定位聚焦RBA移动应用场景的跨层一致性缺口：同一会话内的 Web、WebView 与 Android 仍缺少系统化互证实现。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C426C-86A0-448A-9D37-E09A3267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0996E-754A-43C8-A475-BD208282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1A1FA-43FF-4EF5-8DAD-C0302C9F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1983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相关方向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1CC67-4604-4FDF-A3A3-6222005B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870" y="2000250"/>
            <a:ext cx="393573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已有基础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9DA5D-9C77-4AEF-906C-670473B8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00250"/>
            <a:ext cx="415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本文切入点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72DE5-EC00-4025-A0B0-591FECCB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C9269-117B-4161-8A43-B642EB53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19837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浏览器/设备指纹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1231D-1369-4F2D-801A-B7A64569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870" y="2333625"/>
            <a:ext cx="393573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Web API、Canvas、WebGL、UA等字段可用于环境识别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CB1216-054F-45DD-9BFF-ACEB2981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33625"/>
            <a:ext cx="4152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将Web指纹放回移动App会话中，与Native和WebView互证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C4AC3-8AFE-4C4C-92D6-2577592D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479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CAC8F-BF70-47DA-B6A7-DA6F3369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219837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移动端无感认证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11C4D4-A462-440D-B3BC-91A55CF6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870" y="2886075"/>
            <a:ext cx="393573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行为、传感器、上下文可支持低打扰认证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27DF03-9254-4DE6-ACF1-E36DC859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86075"/>
            <a:ext cx="4152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更关注设备环境、宿主容器和前端运行时的一致性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C8CAE8-31E4-4567-95F5-58218B6D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673F0F-7F37-42EC-8024-F6E78C9F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219837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WebView与JSBridge安全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3C1523-8219-4DA7-BF62-9425BAFC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870" y="3438525"/>
            <a:ext cx="393573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研究多关注漏洞、信息流和桥接风险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3150B0-4133-44F7-B57C-04C053B7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38525"/>
            <a:ext cx="4152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将WebView宿主本身作为独立风控指纹层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445EFD-6D8D-4704-B7C5-F145EC5A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6AC60A-4AF7-49FC-AB3D-BA177613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219837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端侧推理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175923-9587-482D-8141-D67F9E29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870" y="3990975"/>
            <a:ext cx="393573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轻量模型可降低延迟和数据外传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886B1C-2605-4B4C-8A79-90ABFC94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90975"/>
            <a:ext cx="4152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将离线规则标注能力压缩为App本地评分闭环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1809D4-0EA4-47D1-A888-FABB5623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CD5EC8-8E1C-49B4-AF80-17697E0E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来源：论文第1章相关研究总结</a:t>
            </a:r>
          </a:p>
        </p:txBody>
      </p:sp>
      <p:sp>
        <p:nvSpPr>
          <p:cNvPr id="30" name="rev-slide3-takeaway-panel">
            <a:extLst xmlns:a="http://schemas.openxmlformats.org/drawingml/2006/main">
              <a:ext uri="{FF2B5EF4-FFF2-40B4-BE49-F238E27FC236}">
                <a16:creationId xmlns:a16="http://schemas.microsoft.com/office/drawing/2014/main" id="{DA111D2F-C3DC-4ABD-B355-336FC9A2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10401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31" name="rev-slide3-takeaway-title">
            <a:extLst xmlns:a="http://schemas.openxmlformats.org/drawingml/2006/main">
              <a:ext uri="{FF2B5EF4-FFF2-40B4-BE49-F238E27FC236}">
                <a16:creationId xmlns:a16="http://schemas.microsoft.com/office/drawing/2014/main" id="{2693584E-D1D7-46CE-A109-44597456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研究定位</a:t>
            </a:r>
          </a:p>
        </p:txBody>
      </p:sp>
      <p:sp>
        <p:nvSpPr>
          <p:cNvPr id="32" name="rev-slide3-takeaway-text">
            <a:extLst xmlns:a="http://schemas.openxmlformats.org/drawingml/2006/main">
              <a:ext uri="{FF2B5EF4-FFF2-40B4-BE49-F238E27FC236}">
                <a16:creationId xmlns:a16="http://schemas.microsoft.com/office/drawing/2014/main" id="{D49D2A59-BA09-4806-9728-BB948808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076825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已有研究分别覆盖浏览器指纹、移动无感认证、WebView安全与端侧推理；本文将这些组件收束为同一RBA会话内的三端一致性验证问题。</a:t>
            </a:r>
          </a:p>
        </p:txBody>
      </p:sp>
    </p:spTree>
    <p:extLst>
      <p:ext uri="{BB962C8B-B14F-4D97-AF65-F5344CB8AC3E}">
        <p14:creationId xmlns:p14="http://schemas.microsoft.com/office/powerpoint/2010/main" val="14711996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8C3C92-3726-44D1-8070-4D3F8141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B003C466-4563-44C8-BC28-20BDEBB0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31E58614-32F2-4B9C-BC21-9AF6B6CF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研究目标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D0C9C-BCCE-491C-BE9F-EDEED6FC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C0B9F-BB33-4463-9952-2A42F11C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目标是形成采集、标注、训练、端侧评分闭环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B3B69-3FFF-4397-8FB3-81EC93EC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五项工作对应论文第2章系统设计、第3章实现和第4章实验验证。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1D494-8064-4672-B49F-B16B1B0E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628BC-270F-4438-9C13-D3EEF1D4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279EF-2227-4ED0-ADF4-DDCBFBAC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三端设备指纹采集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8B3DAF-73C7-4114-A028-4F5EF663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19275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Native / WebView / Web 分层采集并统一到同一 session_id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F068F-F9A6-4BD6-888A-0E813675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208C9-4A20-4AA4-ADE9-C335DA86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0184E-7BAF-4AFB-9A06-B087942A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3DFD44-0AD7-4715-9B6C-7FC369E6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908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会话合并与数据持久化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6DA6D-DFD0-48BE-A9AB-98C38644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00325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支持异步上报、增量合并、原始JSON与训练JSONL共存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347E9-BC88-4357-B0C6-724F2579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3A439C-F9DD-465F-B755-B261F720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3CBC9-8FC2-4022-A9CB-4A9354D6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C689A-29C0-42D0-ACF9-0C0D866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跨层语义规则知识库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6FF160-8CA0-43F6-A5F3-904527DB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沉淀屏幕、UA、JSBridge、传感器、WebGL等一致性规则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90B2A9-9C3B-4AE0-B0D6-E9B10133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390F38-386F-4C8C-9F09-C1CDE8B4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6145F1-FAB2-4FAB-9AF7-E4A1AA20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05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D0DA87-8F37-403A-A6B2-62FEB4A6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529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离线标签与轻量评分器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9283DA-ED1F-4EB5-ABE3-C6279D1E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62425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规则知识库约束大模型离线标注，再训练端侧模型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2A6912-C37E-4DFE-88E7-D4008E2B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56E447-6EBA-407C-ACBC-AACC50C4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DFEE6E-7C42-4CB8-A714-E1477E3F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4554B2-62F1-456A-890F-3EC26DF7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Android端侧评分闭环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08C299-7599-4935-8F28-A41572A9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43475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本地采集、65维编码、随机森林推理，只上传评分摘要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ECCB34-14F7-4339-947E-34699955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911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6E6498-B435-47FC-9F5B-0DBBBD6B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AE06F3-E9A4-4983-935E-04707BCB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来源：presentaion/答辩讲稿.md 第4页</a:t>
            </a:r>
          </a:p>
        </p:txBody>
      </p:sp>
    </p:spTree>
    <p:extLst>
      <p:ext uri="{BB962C8B-B14F-4D97-AF65-F5344CB8AC3E}">
        <p14:creationId xmlns:p14="http://schemas.microsoft.com/office/powerpoint/2010/main" val="9212946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6ADFE1-D529-42CF-ADA3-A0920B87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FA4DF307-09A6-4790-8648-2E1B9042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90C7748B-DAF8-440C-BF52-D4F53430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系统架构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D4BED-6C15-4CCF-81B2-811BB57C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92209-BDEF-4038-B07C-1311B062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四层架构把三端采集连接到端侧评分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86992-6894-4F34-9773-F6294D45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离线链路负责规则标注与训练，端侧链路负责本地采集、编码和推理。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64120-0ED1-4555-BFC0-0BDF6FD1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7239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1c256e2454285"/>
          <a:stretch xmlns:a="http://schemas.openxmlformats.org/drawingml/2006/main"/>
        </p:blipFill>
        <p:spPr>
          <a:xfrm xmlns:a="http://schemas.openxmlformats.org/drawingml/2006/main">
            <a:off x="2047875" y="1905000"/>
            <a:ext cx="4171950" cy="35433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5E2F0-828C-43A0-88C0-CFD99A90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959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图2-1 系统总体架构：采集层、服务与数据层、规则与训练层、端侧评分层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78553-1842-4EE7-8211-6320D48D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16E2A-BC3F-46B6-A29C-2D6AB6B3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来源：thesis_materials/top_journal_figures/fig2-1_system_architecture.png</a:t>
            </a:r>
          </a:p>
        </p:txBody>
      </p:sp>
      <p:sp>
        <p:nvSpPr>
          <p:cNvPr id="43" name="rev-slide5-panel">
            <a:extLst xmlns:a="http://schemas.openxmlformats.org/drawingml/2006/main">
              <a:ext uri="{FF2B5EF4-FFF2-40B4-BE49-F238E27FC236}">
                <a16:creationId xmlns:a16="http://schemas.microsoft.com/office/drawing/2014/main" id="{7C8C0953-FAD3-47E2-A1EC-100EE72D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29146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44" name="rev-slide5-heading">
            <a:extLst xmlns:a="http://schemas.openxmlformats.org/drawingml/2006/main">
              <a:ext uri="{FF2B5EF4-FFF2-40B4-BE49-F238E27FC236}">
                <a16:creationId xmlns:a16="http://schemas.microsoft.com/office/drawing/2014/main" id="{56C85711-7D20-4ED7-B43D-AF98229F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四层闭环架构</a:t>
            </a:r>
          </a:p>
        </p:txBody>
      </p:sp>
      <p:sp>
        <p:nvSpPr>
          <p:cNvPr id="45" name="rev-slide5-dot-0">
            <a:extLst xmlns:a="http://schemas.openxmlformats.org/drawingml/2006/main">
              <a:ext uri="{FF2B5EF4-FFF2-40B4-BE49-F238E27FC236}">
                <a16:creationId xmlns:a16="http://schemas.microsoft.com/office/drawing/2014/main" id="{A3DBA801-A84C-4817-B6C4-5A22B95A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90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v-slide5-head-0">
            <a:extLst xmlns:a="http://schemas.openxmlformats.org/drawingml/2006/main">
              <a:ext uri="{FF2B5EF4-FFF2-40B4-BE49-F238E27FC236}">
                <a16:creationId xmlns:a16="http://schemas.microsoft.com/office/drawing/2014/main" id="{EF8C9799-B2B5-4DAC-B1A2-A36F0FAB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0512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采集与会话</a:t>
            </a:r>
          </a:p>
        </p:txBody>
      </p:sp>
      <p:sp>
        <p:nvSpPr>
          <p:cNvPr id="47" name="rev-slide5-body-0">
            <a:extLst xmlns:a="http://schemas.openxmlformats.org/drawingml/2006/main">
              <a:ext uri="{FF2B5EF4-FFF2-40B4-BE49-F238E27FC236}">
                <a16:creationId xmlns:a16="http://schemas.microsoft.com/office/drawing/2014/main" id="{5648EF61-24ED-4198-8D55-848CC3E4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2420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三端采集通过会话ID形成同一会话证据</a:t>
            </a:r>
          </a:p>
        </p:txBody>
      </p:sp>
      <p:sp>
        <p:nvSpPr>
          <p:cNvPr id="48" name="rev-slide5-dot-1">
            <a:extLst xmlns:a="http://schemas.openxmlformats.org/drawingml/2006/main">
              <a:ext uri="{FF2B5EF4-FFF2-40B4-BE49-F238E27FC236}">
                <a16:creationId xmlns:a16="http://schemas.microsoft.com/office/drawing/2014/main" id="{5E5AC49E-7F28-4AE4-A871-D8F7105A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62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rev-slide5-head-1">
            <a:extLst xmlns:a="http://schemas.openxmlformats.org/drawingml/2006/main">
              <a:ext uri="{FF2B5EF4-FFF2-40B4-BE49-F238E27FC236}">
                <a16:creationId xmlns:a16="http://schemas.microsoft.com/office/drawing/2014/main" id="{337822E3-2638-4EAE-8FA7-8B6E3B26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47662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规则与训练</a:t>
            </a:r>
          </a:p>
        </p:txBody>
      </p:sp>
      <p:sp>
        <p:nvSpPr>
          <p:cNvPr id="50" name="rev-slide5-body-1">
            <a:extLst xmlns:a="http://schemas.openxmlformats.org/drawingml/2006/main">
              <a:ext uri="{FF2B5EF4-FFF2-40B4-BE49-F238E27FC236}">
                <a16:creationId xmlns:a16="http://schemas.microsoft.com/office/drawing/2014/main" id="{EF1A24DD-22B0-4A0E-8799-079FF205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69570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规则知识库约束离线标注，产出轻量评分器训练样本</a:t>
            </a:r>
          </a:p>
        </p:txBody>
      </p:sp>
      <p:sp>
        <p:nvSpPr>
          <p:cNvPr id="51" name="rev-slide5-dot-2">
            <a:extLst xmlns:a="http://schemas.openxmlformats.org/drawingml/2006/main">
              <a:ext uri="{FF2B5EF4-FFF2-40B4-BE49-F238E27FC236}">
                <a16:creationId xmlns:a16="http://schemas.microsoft.com/office/drawing/2014/main" id="{2C59D185-10FE-4BF0-9116-D8ACD678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133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v-slide5-head-2">
            <a:extLst xmlns:a="http://schemas.openxmlformats.org/drawingml/2006/main">
              <a:ext uri="{FF2B5EF4-FFF2-40B4-BE49-F238E27FC236}">
                <a16:creationId xmlns:a16="http://schemas.microsoft.com/office/drawing/2014/main" id="{65DFEEE7-5E84-4331-9D8C-BD84E79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4812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端侧推理</a:t>
            </a:r>
          </a:p>
        </p:txBody>
      </p:sp>
      <p:sp>
        <p:nvSpPr>
          <p:cNvPr id="53" name="rev-slide5-body-2">
            <a:extLst xmlns:a="http://schemas.openxmlformats.org/drawingml/2006/main">
              <a:ext uri="{FF2B5EF4-FFF2-40B4-BE49-F238E27FC236}">
                <a16:creationId xmlns:a16="http://schemas.microsoft.com/office/drawing/2014/main" id="{D6650BB6-ECE3-453C-BEDD-0C7A1EBD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26720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端侧复用训练阶段特征顺序，在本地完成风险分计算</a:t>
            </a:r>
          </a:p>
        </p:txBody>
      </p:sp>
      <p:sp>
        <p:nvSpPr>
          <p:cNvPr id="54" name="rev-slide5-dot-3">
            <a:extLst xmlns:a="http://schemas.openxmlformats.org/drawingml/2006/main">
              <a:ext uri="{FF2B5EF4-FFF2-40B4-BE49-F238E27FC236}">
                <a16:creationId xmlns:a16="http://schemas.microsoft.com/office/drawing/2014/main" id="{73AADC70-B523-4418-B9DE-9EC1298D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05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rev-slide5-head-3">
            <a:extLst xmlns:a="http://schemas.openxmlformats.org/drawingml/2006/main">
              <a:ext uri="{FF2B5EF4-FFF2-40B4-BE49-F238E27FC236}">
                <a16:creationId xmlns:a16="http://schemas.microsoft.com/office/drawing/2014/main" id="{18F1061C-B539-49A1-9A33-DAB11D46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61962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摘要上报</a:t>
            </a:r>
          </a:p>
        </p:txBody>
      </p:sp>
      <p:sp>
        <p:nvSpPr>
          <p:cNvPr id="56" name="rev-slide5-body-3">
            <a:extLst xmlns:a="http://schemas.openxmlformats.org/drawingml/2006/main">
              <a:ext uri="{FF2B5EF4-FFF2-40B4-BE49-F238E27FC236}">
                <a16:creationId xmlns:a16="http://schemas.microsoft.com/office/drawing/2014/main" id="{2C70AF59-0DC6-433A-BFBA-46746A4C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83870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服务端接收风险分、风险等级和解释摘要，减少原始指纹外传</a:t>
            </a:r>
          </a:p>
        </p:txBody>
      </p:sp>
    </p:spTree>
    <p:extLst>
      <p:ext uri="{BB962C8B-B14F-4D97-AF65-F5344CB8AC3E}">
        <p14:creationId xmlns:p14="http://schemas.microsoft.com/office/powerpoint/2010/main" val="1811488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D100B1-7B5F-48F0-A15C-84B94951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BE0A1BB4-F360-46DC-A2E2-C2064EE0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ED5A5795-5A86-4CA7-955F-7982241A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三端采集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22F01-D544-4F35-9F9F-DEFCB73E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9FDE2-1CED-415A-8694-00C838A9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三端字段对应三种互补风险视角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E73EA-AC45-466D-87F3-B7287364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Native、WebView、Web 分别对应底层设备、宿主容器和前端运行时。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E372D-E68B-4C7A-A7E5-77DF9302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2333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A4A9B-04FE-4D7E-8EDC-F21FF65F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20288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90E4F-8CFC-4BC7-B7A6-84D81380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1050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Android Native字段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56DD0-11D0-4769-A259-9E205452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1050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设备/系统/物理环境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F1495-AA49-4251-AAD7-E140BC59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62150"/>
            <a:ext cx="2333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2A367-14F5-4021-9E91-22613838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076450"/>
            <a:ext cx="20288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85A76-330D-4DD6-A98F-145513BC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57450"/>
            <a:ext cx="21050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WebView宿主字段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A6C9C-794F-4E6D-93EE-20485F52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86050"/>
            <a:ext cx="21050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JSBridge/provider/安装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FCD07-8722-4009-A75D-78455E84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62150"/>
            <a:ext cx="2333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F5770-65D5-4D9E-AD47-97FC8C83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20288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8BA4B-06E2-4E32-B336-0347BABA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21050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Web前端字段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1B8648-B8FB-4DF9-A1C9-19E91AF5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21050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Navigator/WebGL/Canvas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F54E1-D59D-4C21-BBA7-61FCF727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962150"/>
            <a:ext cx="2333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FC81C-7160-4945-996C-155ABC96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76450"/>
            <a:ext cx="20288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65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FE2BD2-A6F9-4468-AD5C-7B192942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57450"/>
            <a:ext cx="21050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Raw all完整特征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564EC4-AC1B-4221-8FE5-55E35C9C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686050"/>
            <a:ext cx="21050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训练与端侧编码基线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F9D3A0-0441-4C87-BD9E-6210B398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99060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88E318-9F15-459B-8818-BD1DB279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694BC8-8D58-4C7A-810B-2C9A181E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76625"/>
            <a:ext cx="159258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特征层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EA0980-8971-48AF-B1CB-12CCB3B9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330" y="3476625"/>
            <a:ext cx="43662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代表字段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4C298E-677B-4898-BC2D-21BA0BAA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090" y="3476625"/>
            <a:ext cx="33756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风控意义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7958A4-1701-4714-A65D-9EF5DBC2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0B9A2F-D00B-49EB-8EBC-FA25169A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159258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Native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C0E8AD-C493-46A7-914B-FB19CB4A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330" y="3810000"/>
            <a:ext cx="43662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型号、系统、屏幕、电池、传感器、ADB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2E88B6-1096-4BA5-B572-8597B649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090" y="3810000"/>
            <a:ext cx="33756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描述底层设备真实性和物理环境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57A5BB-7EE3-498A-8D5B-1D6339ED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014B83-9CCC-4ACD-BBE7-11B2A0FA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67200"/>
            <a:ext cx="159258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WebView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811CDB-ADB7-473F-B538-488E3EC2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330" y="4267200"/>
            <a:ext cx="43662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JSBridge、Provider、宿主UA、安装来源、debuggable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1CDFDB-793C-41EA-BBE0-A4F13890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090" y="4267200"/>
            <a:ext cx="33756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判断页面是否运行在预期App容器中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D3E6E1-2698-45D1-8E2C-E76A64D2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30274B-A9A4-4CDE-8552-B4D5957B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24400"/>
            <a:ext cx="159258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Web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1E362A-00AF-43D3-9897-43C82906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330" y="4724400"/>
            <a:ext cx="43662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UA、DPR、WebGL、Canvas、时区、算力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4BED59-BCAA-49CC-8F42-38EB6CAA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090" y="4724400"/>
            <a:ext cx="33756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描述前端脚本实际观察到的运行环境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9E3D5E-0061-4548-8BFC-44C89E29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9098B8-38C9-441D-B534-A916A575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来源：论文表4-3、表2-1</a:t>
            </a:r>
          </a:p>
        </p:txBody>
      </p:sp>
    </p:spTree>
    <p:extLst>
      <p:ext uri="{BB962C8B-B14F-4D97-AF65-F5344CB8AC3E}">
        <p14:creationId xmlns:p14="http://schemas.microsoft.com/office/powerpoint/2010/main" val="13350445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6DC95F-BEE2-41B1-A83C-FDA76EFA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96446A74-14EA-40A7-B830-B643B841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34872046-1ACE-4AF8-9E5B-239A1EAA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会话对齐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C61AE-D7BE-4E4A-A5F7-772FDF28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B380F-E389-4E80-82AE-858C4FE0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session_id 把异步上报合并为同一会话证据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3756E-4E60-4EF0-BDDE-C1AC4D7C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Native、WebView、Web 不一定同时到达；后端使用增量合并避免空字段覆盖已有数据。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71DC8-6BD4-4075-A8D9-CA08006D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D2009-F92A-4125-B1E0-F56CCE31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6697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Native上报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E4EDC-F158-47A3-A213-A247E0F0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android_native_data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3B7AA-372A-4F94-AC67-64DC5A26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D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FAF80-A1D9-434C-AEF3-53DB6421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997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6B6D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6B6D4"/>
                </a:solidFill>
                <a:latin typeface="PingFang SC"/>
                <a:ea typeface="PingFang SC"/>
                <a:cs typeface="PingFang SC"/>
              </a:rPr>
              <a:t>WebView上报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BA9E9-27BB-4EA0-BD8E-1649C4B4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7667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webview_data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C5165-83AC-400A-A18B-39D0EAD5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BF5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AB1B7-5388-4D91-AA1C-934ECF7D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5297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4B8A6"/>
                </a:solidFill>
                <a:latin typeface="PingFang SC"/>
                <a:ea typeface="PingFang SC"/>
                <a:cs typeface="PingFang SC"/>
              </a:rPr>
              <a:t>Web上报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9208C-2381-412B-B1AC-7EC5C1C3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967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web_data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EAACF6-82AC-4D68-8D05-ABAE4A4B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76625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83CD42-D556-424D-83D7-8453F867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60997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FastAPI接收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335CD-1023-4BD7-B613-45F403F5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7667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/api/collect/fingerprint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D30AC-E3D3-4DF2-A3CF-6C844FD3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76625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1FC7F4-F66A-40BC-B087-A49D1FB4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60997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session_id合并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3D25D-CD04-477E-902A-C6800006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87667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增量覆盖非空字段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336CC-8DED-44D3-B60E-9DDA3DA2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476625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F0D6CF-06E2-4653-BCB5-EF12E857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0997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持久化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EA9B94-A456-402D-94E4-EB5B96BF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87667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merged JSON + training JSONL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FFEFFC-28F3-4F6A-AC49-9625AA78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860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CA58E9-4DEE-43A1-97E9-F988C32B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52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BC9E5C-4230-4B99-8CC5-BABDA506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290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2AD496-08E9-4E5D-BC73-6EE1FDF8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95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F40137-EA09-416E-9CE7-9029839D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720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C5167D-E089-44E8-9459-C51309ED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38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6F6947-3006-4CE9-997C-B06995A8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290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7CAB27-9DA5-4028-BD3D-C6B93DC3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95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684C59-401D-4E4F-9A56-C2B7C709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29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E9328F-A629-4DB3-A2F6-79CA860E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695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DDD4FF-5445-4DE4-8D8A-466E33F4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29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D17B54-7A00-41BE-81DD-4F05BE8B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695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C817D5-0D92-456C-956E-52560C99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86050"/>
            <a:ext cx="190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A88F65-A727-423D-B836-1CDEB7D6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4825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保留原始嵌套结构用于审计，同时展开为JSONL用于标注、训练和消融实验。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07C878-9F4C-4B48-A2EE-AF35131A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283363-DC95-4CD5-9671-A5AEA378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来源：论文第3.2节后端会话合并策略</a:t>
            </a:r>
          </a:p>
        </p:txBody>
      </p:sp>
    </p:spTree>
    <p:extLst>
      <p:ext uri="{BB962C8B-B14F-4D97-AF65-F5344CB8AC3E}">
        <p14:creationId xmlns:p14="http://schemas.microsoft.com/office/powerpoint/2010/main" val="1808423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C80A65-D9D0-4F4E-8560-30333D6E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D4362AC0-FEA8-4AAD-AFB6-4D3F2979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DC77980A-65F7-4CAF-8E0D-521FBD11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离线标注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F4F6C-6966-4F87-906D-7A07050F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3026A-E210-41AD-A695-52AABDC7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大模型只在离线标注阶段使用，并受规则知识库约束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34D5D-AFAE-445C-A7A1-BDC89DC0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在线端侧不依赖大模型服务；复杂语义分析被压缩为可部署的轻量评分器。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6DFE9-519C-4B31-85A5-02A42F33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7239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76a315e4e49a8"/>
          <a:stretch xmlns:a="http://schemas.openxmlformats.org/drawingml/2006/main"/>
        </p:blipFill>
        <p:spPr>
          <a:xfrm xmlns:a="http://schemas.openxmlformats.org/drawingml/2006/main">
            <a:off x="2143125" y="1905000"/>
            <a:ext cx="4000500" cy="3448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ED5AC-4A72-4096-99F3-B1554907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959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图2-2 离线标注训练流程：三端样本 -&gt; 规则知识库 + LLM -&gt; 轻量评分器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E54C1-198A-48EF-86CE-ED0A54AE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48734-5B0C-48B5-B37A-521D27EF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来源：thesis_materials/top_journal_figures/fig2-2_offline_label_training_flow.png</a:t>
            </a:r>
          </a:p>
        </p:txBody>
      </p:sp>
      <p:sp>
        <p:nvSpPr>
          <p:cNvPr id="43" name="rev-slide8-panel">
            <a:extLst xmlns:a="http://schemas.openxmlformats.org/drawingml/2006/main">
              <a:ext uri="{FF2B5EF4-FFF2-40B4-BE49-F238E27FC236}">
                <a16:creationId xmlns:a16="http://schemas.microsoft.com/office/drawing/2014/main" id="{2A05ABAC-6D9D-47D7-AA6F-9835F27A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29146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44" name="rev-slide8-heading">
            <a:extLst xmlns:a="http://schemas.openxmlformats.org/drawingml/2006/main">
              <a:ext uri="{FF2B5EF4-FFF2-40B4-BE49-F238E27FC236}">
                <a16:creationId xmlns:a16="http://schemas.microsoft.com/office/drawing/2014/main" id="{3592DAA8-B5C0-47DF-A42C-0D84AC88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规则约束标注</a:t>
            </a:r>
          </a:p>
        </p:txBody>
      </p:sp>
      <p:sp>
        <p:nvSpPr>
          <p:cNvPr id="45" name="rev-slide8-dot-0">
            <a:extLst xmlns:a="http://schemas.openxmlformats.org/drawingml/2006/main">
              <a:ext uri="{FF2B5EF4-FFF2-40B4-BE49-F238E27FC236}">
                <a16:creationId xmlns:a16="http://schemas.microsoft.com/office/drawing/2014/main" id="{113F0D85-AB6E-48DD-8A81-95BFBE5B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90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v-slide8-head-0">
            <a:extLst xmlns:a="http://schemas.openxmlformats.org/drawingml/2006/main">
              <a:ext uri="{FF2B5EF4-FFF2-40B4-BE49-F238E27FC236}">
                <a16:creationId xmlns:a16="http://schemas.microsoft.com/office/drawing/2014/main" id="{B2572731-BF10-46BC-87E9-E4FDDF6F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0512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知识库约束</a:t>
            </a:r>
          </a:p>
        </p:txBody>
      </p:sp>
      <p:sp>
        <p:nvSpPr>
          <p:cNvPr id="47" name="rev-slide8-body-0">
            <a:extLst xmlns:a="http://schemas.openxmlformats.org/drawingml/2006/main">
              <a:ext uri="{FF2B5EF4-FFF2-40B4-BE49-F238E27FC236}">
                <a16:creationId xmlns:a16="http://schemas.microsoft.com/office/drawing/2014/main" id="{A02B4CDA-ED46-42AE-8F59-6B0AE9DF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2420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跨层一致性规则为标注提供统一判断边界</a:t>
            </a:r>
          </a:p>
        </p:txBody>
      </p:sp>
      <p:sp>
        <p:nvSpPr>
          <p:cNvPr id="48" name="rev-slide8-dot-1">
            <a:extLst xmlns:a="http://schemas.openxmlformats.org/drawingml/2006/main">
              <a:ext uri="{FF2B5EF4-FFF2-40B4-BE49-F238E27FC236}">
                <a16:creationId xmlns:a16="http://schemas.microsoft.com/office/drawing/2014/main" id="{E08B1E11-4BAF-4AF6-B2AB-C846AE10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62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rev-slide8-head-1">
            <a:extLst xmlns:a="http://schemas.openxmlformats.org/drawingml/2006/main">
              <a:ext uri="{FF2B5EF4-FFF2-40B4-BE49-F238E27FC236}">
                <a16:creationId xmlns:a16="http://schemas.microsoft.com/office/drawing/2014/main" id="{25DE191A-91C2-4D78-BCF8-9A8305B4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47662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离线标签生产</a:t>
            </a:r>
          </a:p>
        </p:txBody>
      </p:sp>
      <p:sp>
        <p:nvSpPr>
          <p:cNvPr id="50" name="rev-slide8-body-1">
            <a:extLst xmlns:a="http://schemas.openxmlformats.org/drawingml/2006/main">
              <a:ext uri="{FF2B5EF4-FFF2-40B4-BE49-F238E27FC236}">
                <a16:creationId xmlns:a16="http://schemas.microsoft.com/office/drawing/2014/main" id="{B5860A31-00AF-462A-B8F9-77A9E61E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69570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大模型参与训练数据标注，在线链路保持轻量</a:t>
            </a:r>
          </a:p>
        </p:txBody>
      </p:sp>
      <p:sp>
        <p:nvSpPr>
          <p:cNvPr id="51" name="rev-slide8-dot-2">
            <a:extLst xmlns:a="http://schemas.openxmlformats.org/drawingml/2006/main">
              <a:ext uri="{FF2B5EF4-FFF2-40B4-BE49-F238E27FC236}">
                <a16:creationId xmlns:a16="http://schemas.microsoft.com/office/drawing/2014/main" id="{08C8C5F4-FFBE-44CE-8E46-34F25CB8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133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v-slide8-head-2">
            <a:extLst xmlns:a="http://schemas.openxmlformats.org/drawingml/2006/main">
              <a:ext uri="{FF2B5EF4-FFF2-40B4-BE49-F238E27FC236}">
                <a16:creationId xmlns:a16="http://schemas.microsoft.com/office/drawing/2014/main" id="{85C2F905-CBA9-49E9-A04F-D267E7FF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4812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结构化风险语义</a:t>
            </a:r>
          </a:p>
        </p:txBody>
      </p:sp>
      <p:sp>
        <p:nvSpPr>
          <p:cNvPr id="53" name="rev-slide8-body-2">
            <a:extLst xmlns:a="http://schemas.openxmlformats.org/drawingml/2006/main">
              <a:ext uri="{FF2B5EF4-FFF2-40B4-BE49-F238E27FC236}">
                <a16:creationId xmlns:a16="http://schemas.microsoft.com/office/drawing/2014/main" id="{F4C2B981-4D90-49D3-B3F2-6F21B4D5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26720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复杂异常解释被转化为可训练、可部署的标签信号</a:t>
            </a:r>
          </a:p>
        </p:txBody>
      </p:sp>
      <p:sp>
        <p:nvSpPr>
          <p:cNvPr id="54" name="rev-slide8-dot-3">
            <a:extLst xmlns:a="http://schemas.openxmlformats.org/drawingml/2006/main">
              <a:ext uri="{FF2B5EF4-FFF2-40B4-BE49-F238E27FC236}">
                <a16:creationId xmlns:a16="http://schemas.microsoft.com/office/drawing/2014/main" id="{1E2AF620-E43D-4812-A8D4-A0E9122A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05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rev-slide8-head-3">
            <a:extLst xmlns:a="http://schemas.openxmlformats.org/drawingml/2006/main">
              <a:ext uri="{FF2B5EF4-FFF2-40B4-BE49-F238E27FC236}">
                <a16:creationId xmlns:a16="http://schemas.microsoft.com/office/drawing/2014/main" id="{8931B44E-D395-4B8B-9A73-DF9D53ED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61962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端侧模型承接</a:t>
            </a:r>
          </a:p>
        </p:txBody>
      </p:sp>
      <p:sp>
        <p:nvSpPr>
          <p:cNvPr id="56" name="rev-slide8-body-3">
            <a:extLst xmlns:a="http://schemas.openxmlformats.org/drawingml/2006/main">
              <a:ext uri="{FF2B5EF4-FFF2-40B4-BE49-F238E27FC236}">
                <a16:creationId xmlns:a16="http://schemas.microsoft.com/office/drawing/2014/main" id="{E3A1B5CF-4A21-49F3-91FA-4718606A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83870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随机森林评分器吸收规则语义，并输出可解释风险分</a:t>
            </a:r>
          </a:p>
        </p:txBody>
      </p:sp>
    </p:spTree>
    <p:extLst>
      <p:ext uri="{BB962C8B-B14F-4D97-AF65-F5344CB8AC3E}">
        <p14:creationId xmlns:p14="http://schemas.microsoft.com/office/powerpoint/2010/main" val="15314926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41AC0E-600B-42DE-8329-578B5A1E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0EC55DD5-F564-4979-B1D6-BC4BE385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6A3E3527-0A03-43B1-ADC2-4DBE1D5A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规则知识库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751F5-07AE-4577-87EF-AC944E5E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4B9B7-313E-4489-B807-FEF4C709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规则库把单字段异常升级为跨层关系判断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FBA1B-DDDF-4D9D-8038-47EF2598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规则既覆盖一致性，也包含攻击场景聚合和容错说明。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4557E-4F36-4B85-A9B6-A145477B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8204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091CE-0ABE-420E-9A65-7E182FCF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820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D38D0-9049-41B2-8494-F81BAAEB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324356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规则类别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ADC1D-9237-460A-AFC2-0C0052B1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906" y="1952625"/>
            <a:ext cx="2622804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关联特征层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8ED02-5E80-4945-A8FA-9934E20B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210" y="1952625"/>
            <a:ext cx="35966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规则含义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C26CA-0568-47EA-B862-C2D2DF01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52625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风险解释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DF5F1-EA82-4684-8B02-39408E44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4D2C3-6E80-41E9-8479-70484C90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32435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屏幕一致性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CC0CF3-06B6-4B19-9314-CAA91E47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906" y="2286000"/>
            <a:ext cx="262280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Native屏幕 + Web屏幕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A8899-D727-49DA-BC07-34D814FB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210" y="2286000"/>
            <a:ext cx="359664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逻辑分辨率×DPR 应近似对应物理分辨率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484490-2C0D-4B74-B1EF-DCB6CFB8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8600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偏差过大可能说明Web环境被伪造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5AFDA-AE9D-4FAA-B995-9D463196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AF3D3D-F524-4D93-8295-FF41DA29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132435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UA一致性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D4182E-F93A-40E6-8832-676FD844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906" y="2838450"/>
            <a:ext cx="262280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Native Build + WebView UA + Web UA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3E86DB-ED4E-413F-9743-8B4557ED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210" y="2838450"/>
            <a:ext cx="359664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系统版本、机型和内核版本应相互呼应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145DFC-E576-460A-8BFC-0388C71A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384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不一致可能说明UA改写或请求重放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BAA3D-0269-4AFF-BE4F-04F303E1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D3CA4D-D578-4BC3-8831-4579F621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132435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宿主真实性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07C01F-671E-479C-A8B8-27435B88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906" y="3390900"/>
            <a:ext cx="262280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JSBridge + session_id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130537-7FF9-4277-A297-758A3028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210" y="3390900"/>
            <a:ext cx="359664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Web页面应能通过JSBridge获取同一会话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65BF68-F2DE-4DB6-9E45-3281025F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9090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缺失可能说明外部浏览器或脚本绕过App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A9E968-7AF6-43A2-B074-6FAD9BFC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4D250D-A212-4C2D-816E-D5C6050B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32435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物理可信性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F3B56A-C955-4C52-805C-5C4E1007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906" y="3943350"/>
            <a:ext cx="262280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传感器 + 电池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1AD137-9584-4AD5-A998-C60C3555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210" y="3943350"/>
            <a:ext cx="359664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真机通常具备合理传感器矩阵和动态电池状态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CC4F49-C8C9-40DC-9934-40616826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433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传感器极少或电池死值可能说明模拟器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9B7CDF-7BE9-45DC-838D-B00EB94F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886F3B-67DE-418D-9AB9-F50EC0C5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32435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渲染环境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DCCDBE-9FF2-4485-8FD7-4F4EFDA8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906" y="4495800"/>
            <a:ext cx="262280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WebGL + Native硬件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0F0329-6C52-46F6-9F88-94CC9A6A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210" y="4495800"/>
            <a:ext cx="359664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GPU renderer应符合移动端硬件生态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011316-B626-44AC-8D5B-D16253C0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9580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SwiftShader、Headless、PC GPU属于高风险线索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B85F4B-4C05-40B9-88C2-A1252185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84BCF7-5BC9-4CD6-9455-8951BBF8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来源：论文表3-2 跨层语义规则类型与风险解释</a:t>
            </a:r>
          </a:p>
        </p:txBody>
      </p:sp>
    </p:spTree>
    <p:extLst>
      <p:ext uri="{BB962C8B-B14F-4D97-AF65-F5344CB8AC3E}">
        <p14:creationId xmlns:p14="http://schemas.microsoft.com/office/powerpoint/2010/main" val="10764984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8C6E80-17D8-4D85-AE32-9439D883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8C695A81-5A92-4403-B593-38516205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FEF9932E-9964-4CBC-A9C9-2D4DC666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端侧评分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CBBE1-B9F3-4209-965E-51529144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A7386-65E1-4486-84D9-958E9891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端侧应用在本地完成采集、编码和风险分输出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1DD71-BF9C-4E29-931C-EBB7567C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端侧运行时只上传风险摘要，减少原始三端指纹外传。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87ACB-C19A-4C56-A26D-17E399A4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7239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c07b66b3b4542"/>
          <a:stretch xmlns:a="http://schemas.openxmlformats.org/drawingml/2006/main"/>
        </p:blipFill>
        <p:spPr>
          <a:xfrm xmlns:a="http://schemas.openxmlformats.org/drawingml/2006/main">
            <a:off x="1028700" y="2076450"/>
            <a:ext cx="6591300" cy="3143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8AA60-E3DF-49FB-BEFB-F8AC4D08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685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图2-3 端侧评分运行流程：本地三端采集 -&gt; 特征编码 -&gt; 轻量模型推理 -&gt; 摘要上报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707B0-E812-4357-8F99-C29C8279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3D36E-AE09-42EC-9265-49F5B3DD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来源：thesis_materials/top_journal_figures/fig2-3_on_device_scoring_flow.png</a:t>
            </a:r>
          </a:p>
        </p:txBody>
      </p:sp>
      <p:sp>
        <p:nvSpPr>
          <p:cNvPr id="43" name="slide10-side-panel">
            <a:extLst xmlns:a="http://schemas.openxmlformats.org/drawingml/2006/main">
              <a:ext uri="{FF2B5EF4-FFF2-40B4-BE49-F238E27FC236}">
                <a16:creationId xmlns:a16="http://schemas.microsoft.com/office/drawing/2014/main" id="{7EA8976D-4028-4D44-96AD-45980070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29146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44" name="slide10-side-heading">
            <a:extLst xmlns:a="http://schemas.openxmlformats.org/drawingml/2006/main">
              <a:ext uri="{FF2B5EF4-FFF2-40B4-BE49-F238E27FC236}">
                <a16:creationId xmlns:a16="http://schemas.microsoft.com/office/drawing/2014/main" id="{FA6E8F40-1E8E-4500-A91B-39A6948E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本地评分闭环</a:t>
            </a:r>
          </a:p>
        </p:txBody>
      </p:sp>
      <p:sp>
        <p:nvSpPr>
          <p:cNvPr id="45" name="slide10-side-dot-0">
            <a:extLst xmlns:a="http://schemas.openxmlformats.org/drawingml/2006/main">
              <a:ext uri="{FF2B5EF4-FFF2-40B4-BE49-F238E27FC236}">
                <a16:creationId xmlns:a16="http://schemas.microsoft.com/office/drawing/2014/main" id="{2BA7657E-ABD0-4565-8F10-D84B505E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90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slide10-side-head-0">
            <a:extLst xmlns:a="http://schemas.openxmlformats.org/drawingml/2006/main">
              <a:ext uri="{FF2B5EF4-FFF2-40B4-BE49-F238E27FC236}">
                <a16:creationId xmlns:a16="http://schemas.microsoft.com/office/drawing/2014/main" id="{8620DB4E-D546-4122-AE1C-1C9E70D2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05125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三端本地采集</a:t>
            </a:r>
          </a:p>
        </p:txBody>
      </p:sp>
      <p:sp>
        <p:nvSpPr>
          <p:cNvPr id="47" name="slide10-side-body-0">
            <a:extLst xmlns:a="http://schemas.openxmlformats.org/drawingml/2006/main">
              <a:ext uri="{FF2B5EF4-FFF2-40B4-BE49-F238E27FC236}">
                <a16:creationId xmlns:a16="http://schemas.microsoft.com/office/drawing/2014/main" id="{23ABD9B4-9222-407B-8360-92986B72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051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Native、WebView与Web探针在端侧应用内形成同一会话输入</a:t>
            </a:r>
          </a:p>
        </p:txBody>
      </p:sp>
      <p:sp>
        <p:nvSpPr>
          <p:cNvPr id="48" name="slide10-side-dot-1">
            <a:extLst xmlns:a="http://schemas.openxmlformats.org/drawingml/2006/main">
              <a:ext uri="{FF2B5EF4-FFF2-40B4-BE49-F238E27FC236}">
                <a16:creationId xmlns:a16="http://schemas.microsoft.com/office/drawing/2014/main" id="{42C20BBE-6E5D-4D61-B80D-F47B2A44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05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slide10-side-head-1">
            <a:extLst xmlns:a="http://schemas.openxmlformats.org/drawingml/2006/main">
              <a:ext uri="{FF2B5EF4-FFF2-40B4-BE49-F238E27FC236}">
                <a16:creationId xmlns:a16="http://schemas.microsoft.com/office/drawing/2014/main" id="{E9CFC46A-3377-4A02-AC32-AD162E37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19475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65维编码约束</a:t>
            </a:r>
          </a:p>
        </p:txBody>
      </p:sp>
      <p:sp>
        <p:nvSpPr>
          <p:cNvPr id="50" name="slide10-side-body-1">
            <a:extLst xmlns:a="http://schemas.openxmlformats.org/drawingml/2006/main">
              <a:ext uri="{FF2B5EF4-FFF2-40B4-BE49-F238E27FC236}">
                <a16:creationId xmlns:a16="http://schemas.microsoft.com/office/drawing/2014/main" id="{562E0241-F3D0-4D2F-A55F-0A3ACD03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195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编码器按训练阶段字段顺序构造模型特征</a:t>
            </a:r>
          </a:p>
        </p:txBody>
      </p:sp>
      <p:sp>
        <p:nvSpPr>
          <p:cNvPr id="51" name="slide10-side-dot-2">
            <a:extLst xmlns:a="http://schemas.openxmlformats.org/drawingml/2006/main">
              <a:ext uri="{FF2B5EF4-FFF2-40B4-BE49-F238E27FC236}">
                <a16:creationId xmlns:a16="http://schemas.microsoft.com/office/drawing/2014/main" id="{37C7B2C4-9D8C-4360-991B-36566E8C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19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slide10-side-head-2">
            <a:extLst xmlns:a="http://schemas.openxmlformats.org/drawingml/2006/main">
              <a:ext uri="{FF2B5EF4-FFF2-40B4-BE49-F238E27FC236}">
                <a16:creationId xmlns:a16="http://schemas.microsoft.com/office/drawing/2014/main" id="{4E23449A-299B-4D0D-834C-E1D6A365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33825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轻量模型评分</a:t>
            </a:r>
          </a:p>
        </p:txBody>
      </p:sp>
      <p:sp>
        <p:nvSpPr>
          <p:cNvPr id="53" name="slide10-side-body-2">
            <a:extLst xmlns:a="http://schemas.openxmlformats.org/drawingml/2006/main">
              <a:ext uri="{FF2B5EF4-FFF2-40B4-BE49-F238E27FC236}">
                <a16:creationId xmlns:a16="http://schemas.microsoft.com/office/drawing/2014/main" id="{E259AAE4-83C0-48B2-807F-3180BAA4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338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端侧评分器输出0-100风险分与风险等级</a:t>
            </a:r>
          </a:p>
        </p:txBody>
      </p:sp>
      <p:sp>
        <p:nvSpPr>
          <p:cNvPr id="54" name="slide10-side-dot-3">
            <a:extLst xmlns:a="http://schemas.openxmlformats.org/drawingml/2006/main">
              <a:ext uri="{FF2B5EF4-FFF2-40B4-BE49-F238E27FC236}">
                <a16:creationId xmlns:a16="http://schemas.microsoft.com/office/drawing/2014/main" id="{86BC0900-BF84-4A10-B0B0-28D8E619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slide10-side-head-3">
            <a:extLst xmlns:a="http://schemas.openxmlformats.org/drawingml/2006/main">
              <a:ext uri="{FF2B5EF4-FFF2-40B4-BE49-F238E27FC236}">
                <a16:creationId xmlns:a16="http://schemas.microsoft.com/office/drawing/2014/main" id="{EBE589EA-F06D-465E-823C-84C794C5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48175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摘要化上报</a:t>
            </a:r>
          </a:p>
        </p:txBody>
      </p:sp>
      <p:sp>
        <p:nvSpPr>
          <p:cNvPr id="56" name="slide10-side-body-3">
            <a:extLst xmlns:a="http://schemas.openxmlformats.org/drawingml/2006/main">
              <a:ext uri="{FF2B5EF4-FFF2-40B4-BE49-F238E27FC236}">
                <a16:creationId xmlns:a16="http://schemas.microsoft.com/office/drawing/2014/main" id="{9AB6A96B-B5FC-4C41-946C-F7944886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482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后端接收评分、等级和解释摘要，降低原始指纹外传</a:t>
            </a:r>
          </a:p>
        </p:txBody>
      </p:sp>
    </p:spTree>
    <p:extLst>
      <p:ext uri="{BB962C8B-B14F-4D97-AF65-F5344CB8AC3E}">
        <p14:creationId xmlns:p14="http://schemas.microsoft.com/office/powerpoint/2010/main" val="157395214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F15EAC-A19B-4589-97FB-FBE1329B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201B51E4-689D-4CA7-A020-1E2C2793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9E9C83AB-9774-415C-8448-4392B4E7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端侧实现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BDB1E-0B69-473C-92A9-BA54C3A1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F4E3E-5996-4D40-AC0D-3FCA78F1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端侧闭环的关键约束是固定的65维特征约束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8FB29-FC1A-414D-94A6-25B7ECF8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训练侧与端侧必须共享字段顺序、类别编码和缺失值处理，否则模型输入语义会错位。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E67CC-0A45-40C2-B52A-03AFFE68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9057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e5a11b9ed4e9e"/>
          <a:stretch xmlns:a="http://schemas.openxmlformats.org/drawingml/2006/main"/>
        </p:blipFill>
        <p:spPr>
          <a:xfrm xmlns:a="http://schemas.openxmlformats.org/drawingml/2006/main">
            <a:off x="2492162" y="1790700"/>
            <a:ext cx="4331126" cy="3981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6BB38-05B4-4D60-A34C-4B73B237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752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图3-1 端侧评分模块结构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285E5-CD38-49B8-AEE0-5E13CE71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4A1A0-F320-454F-A69A-38D3D9A6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4315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特征约束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FEC34-4667-4A6E-B2AE-9BBF5516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90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C3A7C-3543-4EF9-8D63-0D362147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146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RiskFeatureEncoder 固化65维字段顺序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C6BAD-B4CC-4B0F-A795-84917F38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B2E72-F26B-439F-B904-D6041F70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623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类别、布尔值、缺失值处理与训练侧一致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E4283-41AE-47B4-9602-BC27C1E1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8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1130A-BB74-4A8C-8A1A-9E470F17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100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DeviceRiskScorer 由 m2cgen 导出Java代码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5318FE-A7BE-4D5E-AD85-22789627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F8871-6069-49CA-992E-38EE26DB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来源：论文第3.6节端侧评分模块实现</a:t>
            </a:r>
          </a:p>
        </p:txBody>
      </p:sp>
    </p:spTree>
    <p:extLst>
      <p:ext uri="{BB962C8B-B14F-4D97-AF65-F5344CB8AC3E}">
        <p14:creationId xmlns:p14="http://schemas.microsoft.com/office/powerpoint/2010/main" val="62103307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910586-90A3-4654-926B-4A10D208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7DE8462D-56F0-4ADB-BA4E-EB84DFB9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8370F189-2D8F-48FC-A971-983D6849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模型选型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023C4-C958-4882-A430-A08DE5BC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68284-8E22-470F-81D1-7B9196B6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随机森林更适合当前端侧部署约束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68E29-D838-4826-BCC5-9D53A761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工程选型强调结构化小样本、低部署成本、可解释和Java导出，随机森林更适合当前端侧闭环。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0EFA7-BC5A-4296-995A-48C820DC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3835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5EB62-14F8-407F-86F6-EB8FAAB9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383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C092E-1395-418E-AD4C-A63D07E2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85975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62378-F3BD-4BB1-8D53-A02780EB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85975"/>
            <a:ext cx="12725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测试样本数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6A920F-6C6D-4C0C-B96B-105A601C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2085975"/>
            <a:ext cx="99822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MAE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93ADD-B7BC-4C92-B12C-F8418703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810" y="2085975"/>
            <a:ext cx="12725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中位误差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37C19-06F5-425E-9745-3954D5A5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85975"/>
            <a:ext cx="12725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P90误差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A4CCF-2880-4668-931F-68F75FC2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890" y="2085975"/>
            <a:ext cx="15468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最大误差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DDD2B-0E02-4E9F-AEAC-8365BCE6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4C6660-CE95-4A31-BA35-2DA6D17C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19350"/>
            <a:ext cx="163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随机森林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00F23-D738-405B-8EBF-E0A2A13E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127254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265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9B2F1A-B740-4A2F-9362-86486DF4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2419350"/>
            <a:ext cx="99822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1.14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77EC1-FF43-46DC-8605-4B0C5DD4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810" y="2419350"/>
            <a:ext cx="127254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1.11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F60CD-0E85-4B76-A252-1510DE19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19350"/>
            <a:ext cx="127254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2.25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F8E4A-AF15-444D-A26C-ADE7C27C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890" y="2419350"/>
            <a:ext cx="15468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6.42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1B2B65-77DC-4457-A1AC-7610CBA8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337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792752-630E-4F37-A9EA-B5CF2599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71800"/>
            <a:ext cx="163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浅层MLP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3A1B72-CD2B-415C-AAE5-415BEA38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71800"/>
            <a:ext cx="127254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265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98432B-69C1-4EE1-983A-62F09217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2971800"/>
            <a:ext cx="99822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2.42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C54CD0-F081-4645-BF6F-B0857160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810" y="2971800"/>
            <a:ext cx="127254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2.04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2D3423-717E-4196-B80A-96377EF1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127254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5.23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E5D2BF-A53A-4CD7-AA37-8382E38B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890" y="2971800"/>
            <a:ext cx="15468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13.29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3FA91C-8A63-4ED7-81D6-14B345E7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C15180-3B55-4948-988C-1B5C4CFB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67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部署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9E2D9-BD8B-4913-BA3B-BC8565D9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720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m2cgen直接导出Java，接入端侧更直接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4FC348-F323-4388-8948-AAE5B515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D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6B5015-F756-4D64-9021-5A790559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67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6B6D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6B6D4"/>
                </a:solidFill>
                <a:latin typeface="PingFang SC"/>
                <a:ea typeface="PingFang SC"/>
                <a:cs typeface="PingFang SC"/>
              </a:rPr>
              <a:t>数据形态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E5DA00-848D-47C6-A142-CCD215A9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5720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小样本结构化数据，树模型更稳定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1CFFAE-5AB2-46B1-9AC5-5AA2FE2E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BF5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D2D86C-DA72-4C79-98ED-22A425B4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67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B8A6"/>
                </a:solidFill>
                <a:latin typeface="PingFang SC"/>
                <a:ea typeface="PingFang SC"/>
                <a:cs typeface="PingFang SC"/>
              </a:rPr>
              <a:t>解释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2020A1-77F5-4676-83B2-BD2FDE0A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720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特征重要性可反查风险来源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4D49A3-A12A-48A3-A448-79DF32BB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D28AC2-55BB-49F4-9D41-05F9B7F1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来源：论文大纲4.6轻量评分器工程选型实验</a:t>
            </a:r>
          </a:p>
        </p:txBody>
      </p:sp>
    </p:spTree>
    <p:extLst>
      <p:ext uri="{BB962C8B-B14F-4D97-AF65-F5344CB8AC3E}">
        <p14:creationId xmlns:p14="http://schemas.microsoft.com/office/powerpoint/2010/main" val="5597587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DE017A-AED7-4381-932F-ECBF6F65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A54D184B-86DE-4362-ACA1-1E796CF9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7C342FAA-4699-48B8-88E1-960F83F4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数据集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CC88C-7A45-4873-9FB8-AA5DB21E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E71C4-0124-4FCE-A9FE-F09FD593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样本覆盖真实设备、云测环境与脚本攻击模板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20F04-BFEC-4697-A600-037EF5C9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数据分布决定实验结论的边界：本组实验用于解释三端一致性规则效果，外推范围限定在原型数据与离线消融设置内。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261BE-98BF-4AC8-818E-FB52C87F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73342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8cb3bcf144d58"/>
          <a:stretch xmlns:a="http://schemas.openxmlformats.org/drawingml/2006/main"/>
        </p:blipFill>
        <p:spPr>
          <a:xfrm xmlns:a="http://schemas.openxmlformats.org/drawingml/2006/main">
            <a:off x="990600" y="2058772"/>
            <a:ext cx="7105650" cy="331195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E27CE-7141-450C-817C-41AFA52E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695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图4实验：数据来源构成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B9BDB-7CAD-4492-98A0-745B1143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32BE6-FC35-4A8A-865B-7C35A133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050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1323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AA3A8-9428-4F8E-933F-38020EF3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带风险标签样本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F2AC6-74B0-4839-9440-E050C418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14650"/>
            <a:ext cx="1866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training/scored_data.jsonl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693D0-E22B-44A4-954C-AFF9819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DF336-A7AD-46A0-9C1C-4AA03CC1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718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286/737/300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0C213-4519-46FB-8AAC-C88F2150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三类来源样本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EFE032-CBA0-42FD-90E7-82E81AEE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81450"/>
            <a:ext cx="1866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physical / cloud / script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FCB43-6D96-472A-905F-331CCAA7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243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CD7F1-B61F-4642-8B82-B3B97E46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386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65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F48283-D27C-4037-9EA5-F96F986C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196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完整原始字段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F3E730-8412-4728-AF61-6312B4A8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48250"/>
            <a:ext cx="1866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33 + 14 + 18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688061-B399-4ECA-86C5-E2B8E1C0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8ECB97-04BC-49A7-AE4C-55D88D17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来源：ablation/figures/figure_01_source_distribution.png，论文表4-1、表4-3</a:t>
            </a:r>
          </a:p>
        </p:txBody>
      </p:sp>
    </p:spTree>
    <p:extLst>
      <p:ext uri="{BB962C8B-B14F-4D97-AF65-F5344CB8AC3E}">
        <p14:creationId xmlns:p14="http://schemas.microsoft.com/office/powerpoint/2010/main" val="17357395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AB47C5-7975-421B-8CFF-CB2372C4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0AD3F94A-4608-44F5-9565-9E1BB366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F4873E8D-B633-4C43-8053-B7177B85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三端消融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5B669-45FD-47D9-81E8-7F48C753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6E0FF-9D5A-4E66-9FE4-171F8475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按端粗删显示原始字段之间存在强代理关系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538DE-9025-4267-BF80-4EF6A26D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完整三端 Raw all 在部分指标上已暴露冗余与噪声，因此需要进一步转向跨层一致性特征。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B2B11-1C3C-4F47-AE86-18ED089D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62150"/>
            <a:ext cx="99060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8EDCA-E970-4F86-BF2D-BF5882BF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6215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BD607-6B76-4199-BE54-224C38E4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9775"/>
            <a:ext cx="198882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71FDD-4202-4FAA-B7C2-D97399B9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70" y="2009775"/>
            <a:ext cx="99822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88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特征数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07365-AB43-433B-9810-6F5B1A44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90" y="2009775"/>
            <a:ext cx="1394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88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Holdout MAE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918E1-D323-4D8F-B8E6-AB682441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9775"/>
            <a:ext cx="1394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88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Grouped MAE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965B5-9783-4230-AD39-68D1A892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210" y="2009775"/>
            <a:ext cx="31775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解释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63C44-12E5-449F-A5E4-54AF674B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7E88F-9F9A-4AEC-A098-C9664DB0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198882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WebView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FF9A0-708E-4A1B-82D5-6A0108B4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70" y="2343150"/>
            <a:ext cx="99822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CD480D-B2CF-42B6-A749-1DAE4DF1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90" y="2343150"/>
            <a:ext cx="13944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1.139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F126B-3FC4-4F56-8296-A97C5908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13944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1.541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5E1EB-3A8A-4741-AA74-B45A6C72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210" y="2343150"/>
            <a:ext cx="317754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JSBridge、安装来源、debuggable等强规则信号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34819-71D0-45B4-9967-21F4E7AE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33377F-DDE5-42C8-BB19-83CCA106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198882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Native + WebView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128F3B-8425-408C-83B5-68F9189B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70" y="2895600"/>
            <a:ext cx="99822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47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0EB5C5-AA98-4CFA-862C-62C935A4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90" y="2895600"/>
            <a:ext cx="13944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1.129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B3F973-5CC1-4584-92E7-42B818C1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13944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2.202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8EA2E6-4C21-41DF-B58D-0D2E012F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210" y="2895600"/>
            <a:ext cx="317754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底层设备 + 宿主容器覆盖大量标签逻辑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27B78D-7C9E-4698-9E32-A60DA6B7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4BD71B-CD05-4EA0-94BA-E45A954C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48050"/>
            <a:ext cx="198882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Native + WebView + Web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D12ABD-0EF9-4727-93DC-D241A410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70" y="3448050"/>
            <a:ext cx="99822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88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65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DDEDE2-D427-437B-86D5-5FD73F87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90" y="3448050"/>
            <a:ext cx="13944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88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1.140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6CC145-28ED-4D2B-A603-7E0C1B93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13944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88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2.642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043CB2-BA91-4496-BCE9-9D199EA3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210" y="3448050"/>
            <a:ext cx="317754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完整原始三端基线，但包含冗余与噪声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F8F23B-B186-4E13-B889-C4672B00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62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B9994F-E134-4B1B-A40D-7D942EB0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198882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Web only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7DD05C-7B9A-4F90-87B2-5A81652D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70" y="4000500"/>
            <a:ext cx="99822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0F4AE8-1DCC-4291-B9F3-27A59F0C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90" y="4000500"/>
            <a:ext cx="13944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1.416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682BBE-89E5-4DA7-801D-AB537458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13944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12.188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A408E1-A0AD-4C4F-ACF4-89402301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210" y="4000500"/>
            <a:ext cx="317754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未见设备/模板下泛化最不稳定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3A3F9A-E8C6-46AE-866C-BD781903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05375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结论：三端融合的核心价值在于把冗余字段转化为可互证、可发现矛盾的关系特征。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80764F-CBC7-414C-BB2D-F8D10F57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E03675-9EC9-444C-B9C8-63D72762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来源：论文表4-6、表4-7</a:t>
            </a:r>
          </a:p>
        </p:txBody>
      </p:sp>
    </p:spTree>
    <p:extLst>
      <p:ext uri="{BB962C8B-B14F-4D97-AF65-F5344CB8AC3E}">
        <p14:creationId xmlns:p14="http://schemas.microsoft.com/office/powerpoint/2010/main" val="75387186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D1644D-F94A-4CDB-A974-34D2818B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6EAB3031-70BC-4ADA-B0C0-9FE60DF4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4987C44E-FFB6-42FC-B4DA-8DB92FFF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一致性特征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15461-4710-4EEA-A94C-9B72F4D4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882FF-C2B1-42D8-95FD-05F4AEA1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38个一致性特征把原始字段转换成关系信号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E898B-3DC8-4A0C-A000-78795144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一致性特征更接近规则知识库的风险判断逻辑。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A0CB5-0AD1-4428-8798-76A2F7AD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7026E-5733-4D3C-95B8-9EFBA47F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Native-Web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71C31-E171-40FD-8535-1C8DE734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7170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40A69-1860-4812-B496-E2199F51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98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型号与UA、Android版本、屏幕DPR、GPU族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32FB7-EC2E-497D-AF5A-1A434AF1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D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292D1-D0AA-4C83-909F-F531CBEC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Native-WebView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23697-6D74-489E-8620-3F6201E6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7170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72FB2-52F4-4F39-83EE-18B6ED25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98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型号与system agent、debug/cleartext、宿主安全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6D3A77-2AEB-4703-8005-C398DC51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BF5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A34CC-FD0A-4B8E-8068-3F46368D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WebView-Web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BBD3D-E744-41E7-AAF5-F22A355C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9570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1958F-CE2C-4A1E-9387-78A5084D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Provider与UA主版本、WebView token、JSBridge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6DF9FF-CF98-4BCE-9ED6-954A564E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85F986-2524-476F-B389-1B707CC4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Tri-layer semantic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757181-E74F-4E22-A2CF-7170B33D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9570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E2B45-9A01-49E9-B916-1A2D2959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传感器+JSBridge、manual+时区/ADB、失败计数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3C617-236E-4097-983B-58FA10E7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从“字段值”转向“字段关系”：这是系统贡献进入实验指标的关键桥梁。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60A506-8C40-44EE-990B-09E0F272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32ABF2-6461-42B5-BD0C-A9B049C1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来源：论文表4-8、表4-9</a:t>
            </a:r>
          </a:p>
        </p:txBody>
      </p:sp>
    </p:spTree>
    <p:extLst>
      <p:ext uri="{BB962C8B-B14F-4D97-AF65-F5344CB8AC3E}">
        <p14:creationId xmlns:p14="http://schemas.microsoft.com/office/powerpoint/2010/main" val="54126452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5D1D6D-8AD4-4D38-9AB2-84A7481C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BE356558-46C9-46AE-BBC6-A578C11D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A026C4A0-54C9-48BE-B07A-BD4944DB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随机留出结果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E8DBE-ED55-4E38-AB9E-79ED1651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74FCB-DB36-4735-A0F9-EA26FD5B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随机留出下，一致性特征已能匹配甚至优于Raw 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EE8DC-E36B-4BAC-B941-2B8106F5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快速实验用于证明一致性特征本身有信息量，但主结论仍以分组交叉验证为准。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47EE0-5256-4582-800B-E3854AD3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8953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B852B-8757-4754-BE43-8BEEABB1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BC220-B1AF-430A-ADEB-95E8BE4A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24075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6F088-D564-4BBA-A0B3-5B852F28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24075"/>
            <a:ext cx="97345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特征数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A1F8A-D193-4F59-BAA5-2EE3D5DD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505" y="2124075"/>
            <a:ext cx="106299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MAE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9C682-EE75-4F7A-BFB8-EBD5E2BE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995" y="2124075"/>
            <a:ext cx="106299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RMSE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8C7D4-5C61-4191-879E-8BA4DD21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485" y="2124075"/>
            <a:ext cx="106299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R2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0AB21-43EB-41E4-AC0D-F3E52ECE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124075"/>
            <a:ext cx="1152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高风险F1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16DC07-98A3-467B-9407-3A891FB6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193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B705F-0A99-4366-BB17-353B9877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574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Raw 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D5F013-EF60-447B-8DDA-917E0798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97345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65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DC281-97D2-435C-B75D-2B66C7A0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505" y="2457450"/>
            <a:ext cx="106299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1.140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88DC3B-9E49-45E9-90F1-5A5B14D0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995" y="2457450"/>
            <a:ext cx="106299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1.544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8F5D4-B1D3-40FD-A2F9-B982518E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485" y="2457450"/>
            <a:ext cx="106299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0.9967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B48BB-2815-40BB-94A7-C9878922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57450"/>
            <a:ext cx="1152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1.000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194ADF-FB1B-459A-8B49-28BFD6E9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D3D8EC-3931-4838-8B59-5081BFAC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527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Consistency 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D87898-DB2C-4A26-84F6-9ABBCFC9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52750"/>
            <a:ext cx="97345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38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E87BDF-C4A4-4D1F-9F7F-9C39D0AB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505" y="2952750"/>
            <a:ext cx="106299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1.103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A440AA-E9C0-49EA-B9DC-832D3E86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995" y="2952750"/>
            <a:ext cx="106299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1.473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3A4B3F-FD52-46F3-AEFC-96929B87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485" y="2952750"/>
            <a:ext cx="106299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0.9970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6D90D3-2E37-43FA-90BC-D20A4B97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952750"/>
            <a:ext cx="1152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1.000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E1A741-F4E1-4BE4-BDE5-8C8EF336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099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A6B777-57E2-40AD-A5B5-0C770B8F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480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Tri-layer semantic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C94022-B284-4D8C-9D85-16177DBD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97345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EE4627-CC60-4CD3-B00C-41D0941E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505" y="3448050"/>
            <a:ext cx="106299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1.111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2ACEBA-3184-40C6-94A6-756C9755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995" y="3448050"/>
            <a:ext cx="106299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1.469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F67058-D998-4446-B5DB-525E5209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485" y="3448050"/>
            <a:ext cx="106299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0.9970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A4F33A-B26A-4833-8B26-B5CE62F7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448050"/>
            <a:ext cx="1152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1.000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6E1B50-F8AB-46B0-B562-02519042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52F90F-309C-44B8-A3F5-A612F549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433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Raw all + Consistency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4B009A-DD78-4B47-81E3-33C22399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43350"/>
            <a:ext cx="97345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103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C060DF-50F0-428E-A163-C2273F97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505" y="3943350"/>
            <a:ext cx="106299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1.108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E39B89-ACA5-4AD1-B1B3-5111D182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995" y="3943350"/>
            <a:ext cx="106299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1.501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9E3AB6-957E-4115-9EC7-06274ED0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485" y="3943350"/>
            <a:ext cx="106299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0.9969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73A034-185D-4FEC-9264-90CD5569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943350"/>
            <a:ext cx="1152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1.000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C48C79-20AC-4C56-8A21-AD8333C8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6250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38个一致性特征 MAE=1.103，说明跨层语义比对兼具可解释性与可学习性，能够形成有效风险信号。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77E540-6053-4058-902E-1E849B4D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D72E65-8AA4-4FA4-95EF-7D9F69DC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来源：论文表4-11</a:t>
            </a:r>
          </a:p>
        </p:txBody>
      </p:sp>
    </p:spTree>
    <p:extLst>
      <p:ext uri="{BB962C8B-B14F-4D97-AF65-F5344CB8AC3E}">
        <p14:creationId xmlns:p14="http://schemas.microsoft.com/office/powerpoint/2010/main" val="98978468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596C8C-E8AF-493C-8342-78E8B036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3DCCF53E-9F7C-42F9-AA87-5AA9599D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A578AA91-172A-4B0B-91D6-3896AD22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分组验证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9292F-DA33-434B-8391-820148F7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43D7B-5B31-4F1B-A09A-390DEF31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分组交叉验证避免同源设备和模板泄漏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9891B-68CF-4787-B880-DFB872C3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同一真实设备、同一云测设备或同一攻击模板不会同时进入训练集和测试集。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35B1B-BA59-4D18-9F3A-68C78766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52600"/>
            <a:ext cx="99060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9095bead3495b"/>
          <a:stretch xmlns:a="http://schemas.openxmlformats.org/drawingml/2006/main"/>
        </p:blipFill>
        <p:spPr>
          <a:xfrm xmlns:a="http://schemas.openxmlformats.org/drawingml/2006/main">
            <a:off x="2563063" y="1866900"/>
            <a:ext cx="7065875" cy="36766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9C076E-02F1-4A31-8353-0AD55B1E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00700"/>
            <a:ext cx="952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图4实验：分组交叉验证各折构成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0FFBC-89FB-434D-9B13-EB8165A4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C6E23-7F80-4381-881C-51C61B35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来源：ablation/figures/figure_02_fold_distribution.png</a:t>
            </a:r>
          </a:p>
        </p:txBody>
      </p:sp>
    </p:spTree>
    <p:extLst>
      <p:ext uri="{BB962C8B-B14F-4D97-AF65-F5344CB8AC3E}">
        <p14:creationId xmlns:p14="http://schemas.microsoft.com/office/powerpoint/2010/main" val="174213049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7FB389-C65C-40DD-85C0-4238E7EC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A8CE4A8A-78FA-4EC6-9619-6C0FF2BD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C2C32638-CF8F-446E-A0EE-9303F07F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评估设计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44DE7-FBDA-4097-BCF1-A1EA9D9A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0EC49-DD98-4D71-8D3C-E767E6F8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随机留出会高估部分特征组合的泛化能力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9F154-7F98-4807-9545-E1E0BEC1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分组后误差上升，说明测试更接近未见设备和未见攻击模板场景。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FF4A3-58F6-4C5B-B3B0-3B5235DF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99441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9a3c7087f4dcf"/>
          <a:stretch xmlns:a="http://schemas.openxmlformats.org/drawingml/2006/main"/>
        </p:blipFill>
        <p:spPr>
          <a:xfrm xmlns:a="http://schemas.openxmlformats.org/drawingml/2006/main">
            <a:off x="2563063" y="1866900"/>
            <a:ext cx="7065875" cy="36766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37C7A-4B6C-41C7-BCB2-BEAF304B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00700"/>
            <a:ext cx="956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图4实验：随机留出与分组交叉验证 MAE 对比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059BB-91A8-4A87-BEE2-FBBC29AA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5A95D-B407-42A7-91B0-67F69630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来源：ablation/figures/figure_03_holdout_vs_grouped_mae.png</a:t>
            </a:r>
          </a:p>
        </p:txBody>
      </p:sp>
    </p:spTree>
    <p:extLst>
      <p:ext uri="{BB962C8B-B14F-4D97-AF65-F5344CB8AC3E}">
        <p14:creationId xmlns:p14="http://schemas.microsoft.com/office/powerpoint/2010/main" val="22831644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33A55E-14B4-4D4A-B889-5E43D0D7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9-marker">
            <a:extLst xmlns:a="http://schemas.openxmlformats.org/drawingml/2006/main">
              <a:ext uri="{FF2B5EF4-FFF2-40B4-BE49-F238E27FC236}">
                <a16:creationId xmlns:a16="http://schemas.microsoft.com/office/drawing/2014/main" id="{5D1B6359-F554-4791-B9A9-C3DB343A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9-label">
            <a:extLst xmlns:a="http://schemas.openxmlformats.org/drawingml/2006/main">
              <a:ext uri="{FF2B5EF4-FFF2-40B4-BE49-F238E27FC236}">
                <a16:creationId xmlns:a16="http://schemas.microsoft.com/office/drawing/2014/main" id="{AA5514C9-6C2F-40EC-A3D3-EF96FF22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分组主结果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0E727-4803-42C3-8D48-CA03CF67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AF360-AEAC-42F5-BA42-AD52C61C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7个三端语义特征在分组验证下优于65维Raw 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7FE77-B957-4905-A2C2-BA1467E1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少量核心语义规则比完整原始字段拼接更稳定，更适合面对未见设备和未见模板。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49A13-15B5-4623-9C1B-BE0A809A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76676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246d2f6734436"/>
          <a:stretch xmlns:a="http://schemas.openxmlformats.org/drawingml/2006/main"/>
        </p:blipFill>
        <p:spPr>
          <a:xfrm xmlns:a="http://schemas.openxmlformats.org/drawingml/2006/main">
            <a:off x="1656797" y="1866900"/>
            <a:ext cx="5992330" cy="36766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19649-54CD-442D-A9A6-FB30B060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00700"/>
            <a:ext cx="7286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图4实验：分组版一致性消融主结果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7F7C0-B688-40DC-B3F1-2DD592C0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4B826-26CD-4705-BB33-6F7D683D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57425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2.281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54215-A71C-430D-8A8E-46BB494D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384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Tri-layer MAE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58CB5-9D0D-4A3A-A17D-8D7E05B2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67025"/>
            <a:ext cx="1866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7个语义规则特征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80388-0A58-4DF5-8B38-3243734D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DB70D8-50F0-4528-B4A7-56DB5F20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2.642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2F5BD-5E3C-419B-97A4-6DD7D873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Raw all MAE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D74D8-DC36-4F19-99D0-0A695053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43350"/>
            <a:ext cx="1866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65维原始字段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F3962B-06E5-4468-9A4A-67B9F082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95775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68FC2-DE13-48F4-BE1A-637DED46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10075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3.358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7E7420-633E-4648-AB00-D99F4CB2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91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Tri-layer RMSE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C85161-9ACA-4C1E-B5DF-8DCB0739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19675"/>
            <a:ext cx="1866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优于Raw all 4.455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543BE0-3A64-4BDA-9CE5-440FB046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321F01-03F0-47DA-A4D4-340FF6FC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来源：ablation/figures/figure_04_grouped_main_results.png，论文表4-12</a:t>
            </a:r>
          </a:p>
        </p:txBody>
      </p:sp>
    </p:spTree>
    <p:extLst>
      <p:ext uri="{BB962C8B-B14F-4D97-AF65-F5344CB8AC3E}">
        <p14:creationId xmlns:p14="http://schemas.microsoft.com/office/powerpoint/2010/main" val="129358481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FBBB83-A741-4676-A1DF-0B696F4E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0-marker">
            <a:extLst xmlns:a="http://schemas.openxmlformats.org/drawingml/2006/main">
              <a:ext uri="{FF2B5EF4-FFF2-40B4-BE49-F238E27FC236}">
                <a16:creationId xmlns:a16="http://schemas.microsoft.com/office/drawing/2014/main" id="{B641C3EA-95D2-465C-9668-B3DBA41E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0-label">
            <a:extLst xmlns:a="http://schemas.openxmlformats.org/drawingml/2006/main">
              <a:ext uri="{FF2B5EF4-FFF2-40B4-BE49-F238E27FC236}">
                <a16:creationId xmlns:a16="http://schemas.microsoft.com/office/drawing/2014/main" id="{DEC5E4AB-178E-4862-B279-37519C86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可解释性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185DD-D05A-40F1-8E12-B70AE1C1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49694-0CFF-421F-A379-6523EE26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模型依赖的是跨层失败和宿主真实性信号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9DA86-92AE-4FBE-BD16-37D52C39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特征重要性显示：传感器、JSBridge、UA、安装来源、ADB等关系特征排在前列。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43B54-6BF0-468A-A4D9-67CDC0F1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72390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6b485b8334167"/>
          <a:stretch xmlns:a="http://schemas.openxmlformats.org/drawingml/2006/main"/>
        </p:blipFill>
        <p:spPr>
          <a:xfrm xmlns:a="http://schemas.openxmlformats.org/drawingml/2006/main">
            <a:off x="1695450" y="1866900"/>
            <a:ext cx="5200650" cy="36766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76BEE-4F14-40B6-BC24-D49C9287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007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图4实验：跨层一致性特征重要性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6626D-191F-448F-BF24-B8594F0D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075C0-F974-4401-81E2-D5C15CF8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来源：ablation/figures/figure_05_consistency_feature_importance.png</a:t>
            </a:r>
          </a:p>
        </p:txBody>
      </p:sp>
      <p:sp>
        <p:nvSpPr>
          <p:cNvPr id="43" name="rev-slide20-panel">
            <a:extLst xmlns:a="http://schemas.openxmlformats.org/drawingml/2006/main">
              <a:ext uri="{FF2B5EF4-FFF2-40B4-BE49-F238E27FC236}">
                <a16:creationId xmlns:a16="http://schemas.microsoft.com/office/drawing/2014/main" id="{96169195-1835-4BAD-BC8D-4E8988C6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29146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44" name="rev-slide20-heading">
            <a:extLst xmlns:a="http://schemas.openxmlformats.org/drawingml/2006/main">
              <a:ext uri="{FF2B5EF4-FFF2-40B4-BE49-F238E27FC236}">
                <a16:creationId xmlns:a16="http://schemas.microsoft.com/office/drawing/2014/main" id="{2E0B74F7-CDD2-490F-99B0-0CBBC63F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风险信号来源</a:t>
            </a:r>
          </a:p>
        </p:txBody>
      </p:sp>
      <p:sp>
        <p:nvSpPr>
          <p:cNvPr id="45" name="rev-slide20-dot-0">
            <a:extLst xmlns:a="http://schemas.openxmlformats.org/drawingml/2006/main">
              <a:ext uri="{FF2B5EF4-FFF2-40B4-BE49-F238E27FC236}">
                <a16:creationId xmlns:a16="http://schemas.microsoft.com/office/drawing/2014/main" id="{1EBB71FA-46F6-4E4F-972E-170CA784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90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v-slide20-head-0">
            <a:extLst xmlns:a="http://schemas.openxmlformats.org/drawingml/2006/main">
              <a:ext uri="{FF2B5EF4-FFF2-40B4-BE49-F238E27FC236}">
                <a16:creationId xmlns:a16="http://schemas.microsoft.com/office/drawing/2014/main" id="{C39343E5-FD31-432B-90B9-FC0E69F2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0512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跨层失败信号</a:t>
            </a:r>
          </a:p>
        </p:txBody>
      </p:sp>
      <p:sp>
        <p:nvSpPr>
          <p:cNvPr id="47" name="rev-slide20-body-0">
            <a:extLst xmlns:a="http://schemas.openxmlformats.org/drawingml/2006/main">
              <a:ext uri="{FF2B5EF4-FFF2-40B4-BE49-F238E27FC236}">
                <a16:creationId xmlns:a16="http://schemas.microsoft.com/office/drawing/2014/main" id="{0CF96AA5-7B13-4153-9046-39ADD77F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2420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传感器、JSBridge、UA与安装来源共同指向环境不一致</a:t>
            </a:r>
          </a:p>
        </p:txBody>
      </p:sp>
      <p:sp>
        <p:nvSpPr>
          <p:cNvPr id="48" name="rev-slide20-dot-1">
            <a:extLst xmlns:a="http://schemas.openxmlformats.org/drawingml/2006/main">
              <a:ext uri="{FF2B5EF4-FFF2-40B4-BE49-F238E27FC236}">
                <a16:creationId xmlns:a16="http://schemas.microsoft.com/office/drawing/2014/main" id="{FA39E17B-91D9-47DC-833A-269662DB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62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rev-slide20-head-1">
            <a:extLst xmlns:a="http://schemas.openxmlformats.org/drawingml/2006/main">
              <a:ext uri="{FF2B5EF4-FFF2-40B4-BE49-F238E27FC236}">
                <a16:creationId xmlns:a16="http://schemas.microsoft.com/office/drawing/2014/main" id="{4E8EB2FC-F81E-4621-91F1-4ED2CF62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47662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宿主真实性</a:t>
            </a:r>
          </a:p>
        </p:txBody>
      </p:sp>
      <p:sp>
        <p:nvSpPr>
          <p:cNvPr id="50" name="rev-slide20-body-1">
            <a:extLst xmlns:a="http://schemas.openxmlformats.org/drawingml/2006/main">
              <a:ext uri="{FF2B5EF4-FFF2-40B4-BE49-F238E27FC236}">
                <a16:creationId xmlns:a16="http://schemas.microsoft.com/office/drawing/2014/main" id="{83E4475B-12A2-4904-8DD8-2B371046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69570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WebView容器与Native环境的匹配关系是主要判别依据</a:t>
            </a:r>
          </a:p>
        </p:txBody>
      </p:sp>
      <p:sp>
        <p:nvSpPr>
          <p:cNvPr id="51" name="rev-slide20-dot-2">
            <a:extLst xmlns:a="http://schemas.openxmlformats.org/drawingml/2006/main">
              <a:ext uri="{FF2B5EF4-FFF2-40B4-BE49-F238E27FC236}">
                <a16:creationId xmlns:a16="http://schemas.microsoft.com/office/drawing/2014/main" id="{072B908A-16C6-425C-BB43-9F55B9D3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133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v-slide20-head-2">
            <a:extLst xmlns:a="http://schemas.openxmlformats.org/drawingml/2006/main">
              <a:ext uri="{FF2B5EF4-FFF2-40B4-BE49-F238E27FC236}">
                <a16:creationId xmlns:a16="http://schemas.microsoft.com/office/drawing/2014/main" id="{A43DC477-1F7E-4B07-8FB3-DB468703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4812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规则可回溯</a:t>
            </a:r>
          </a:p>
        </p:txBody>
      </p:sp>
      <p:sp>
        <p:nvSpPr>
          <p:cNvPr id="53" name="rev-slide20-body-2">
            <a:extLst xmlns:a="http://schemas.openxmlformats.org/drawingml/2006/main">
              <a:ext uri="{FF2B5EF4-FFF2-40B4-BE49-F238E27FC236}">
                <a16:creationId xmlns:a16="http://schemas.microsoft.com/office/drawing/2014/main" id="{702D43B1-16F3-4B72-8F7D-8EF83120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26720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高权重特征可映射回规则库中的一致性判断</a:t>
            </a:r>
          </a:p>
        </p:txBody>
      </p:sp>
      <p:sp>
        <p:nvSpPr>
          <p:cNvPr id="54" name="rev-slide20-dot-3">
            <a:extLst xmlns:a="http://schemas.openxmlformats.org/drawingml/2006/main">
              <a:ext uri="{FF2B5EF4-FFF2-40B4-BE49-F238E27FC236}">
                <a16:creationId xmlns:a16="http://schemas.microsoft.com/office/drawing/2014/main" id="{96CC3298-745F-49C7-A537-E6A8D283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05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rev-slide20-head-3">
            <a:extLst xmlns:a="http://schemas.openxmlformats.org/drawingml/2006/main">
              <a:ext uri="{FF2B5EF4-FFF2-40B4-BE49-F238E27FC236}">
                <a16:creationId xmlns:a16="http://schemas.microsoft.com/office/drawing/2014/main" id="{C42FDF44-DEBC-4AB8-A8A2-CDD81418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61962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解释可落地</a:t>
            </a:r>
          </a:p>
        </p:txBody>
      </p:sp>
      <p:sp>
        <p:nvSpPr>
          <p:cNvPr id="56" name="rev-slide20-body-3">
            <a:extLst xmlns:a="http://schemas.openxmlformats.org/drawingml/2006/main">
              <a:ext uri="{FF2B5EF4-FFF2-40B4-BE49-F238E27FC236}">
                <a16:creationId xmlns:a16="http://schemas.microsoft.com/office/drawing/2014/main" id="{D868DB49-5DDC-40B9-AE08-6DDC9841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83870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评分结果能够关联具体失败关系，支撑风险原因说明</a:t>
            </a:r>
          </a:p>
        </p:txBody>
      </p:sp>
    </p:spTree>
    <p:extLst>
      <p:ext uri="{BB962C8B-B14F-4D97-AF65-F5344CB8AC3E}">
        <p14:creationId xmlns:p14="http://schemas.microsoft.com/office/powerpoint/2010/main" val="6528432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1C5B80-F653-43AC-8275-555D6757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1-marker">
            <a:extLst xmlns:a="http://schemas.openxmlformats.org/drawingml/2006/main">
              <a:ext uri="{FF2B5EF4-FFF2-40B4-BE49-F238E27FC236}">
                <a16:creationId xmlns:a16="http://schemas.microsoft.com/office/drawing/2014/main" id="{63104043-1E14-4D85-82C2-F6546FAD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1-label">
            <a:extLst xmlns:a="http://schemas.openxmlformats.org/drawingml/2006/main">
              <a:ext uri="{FF2B5EF4-FFF2-40B4-BE49-F238E27FC236}">
                <a16:creationId xmlns:a16="http://schemas.microsoft.com/office/drawing/2014/main" id="{0CCABCA3-2566-4217-B3A1-DDFEA8C2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不足与展望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A0C85-EE90-423C-9DF4-B123A9B7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1F2B1-CC9F-4DED-B442-0827AF0E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当前结论成立在原型数据和离线消融边界内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4A578-1194-4A77-BE4F-7C5D456E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论文明确限制外推范围，并给出后续增强路径。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086E3-FBD8-4630-90BC-1D37BD2C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B9448-B342-4A44-8802-8CF38D31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F935F-D723-4537-98B6-7408980F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71675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13A20-8355-44A4-B1E3-5F124D54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7167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当前不足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80ECA-8FC4-482F-B976-F6C77661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71675"/>
            <a:ext cx="421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后续改进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91B91-E4F4-46CD-AFDB-9C292018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CC0DF-2F57-4B7E-BA04-EF4E7C86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1695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数据覆盖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BA02E-9821-48A5-B353-A732C6D4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05050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真实物理设备和真实攻击链路仍不足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507C2-3D0D-49F4-9FC0-A9211FD6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10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扩大品牌、系统、WebView内核和网络环境覆盖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92E8E-7DEB-4B33-8655-0FE3F8AD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69773-526C-479E-9E83-D72CB746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695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标签质量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46A36-1A02-4BF8-BBB6-2D094050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52750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规则知识库 + LLM 标签需要更多人工复核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C13270-B1ED-4AC2-8F1C-6E6447D0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52750"/>
            <a:ext cx="4210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加入抽样审核、规则版本和冲突处理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BAA615-BF4C-46CC-A449-1B7245FA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C255CB-394C-4D4A-B9D1-FE968CFE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695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端侧评估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088B2-C074-4FFC-A118-68DB03B4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00450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离线消融多于大规模真机运行开销测试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F790D4-E876-412B-8F84-548050A0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4210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补充采集耗时、推理耗时、内存和稳定性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29087E-C7E1-44B0-8FA0-D6BEC98C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6299A6-7468-4502-899E-E607957E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1695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分组元数据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3547BA-DC63-44D3-B625-764ACA88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48150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当前 source_type/group_id 仍依赖启发式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80876D-ACAD-4DD7-A10D-6E8CADFE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48150"/>
            <a:ext cx="4210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采集阶段显式记录设备组、模板ID和云测ID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AF2A57-966E-4EC8-90CD-3E4FA2E0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1B1195-672C-4874-B851-B4CE3453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来源：论文第4.7节、第5.3节</a:t>
            </a:r>
          </a:p>
        </p:txBody>
      </p:sp>
    </p:spTree>
    <p:extLst>
      <p:ext uri="{BB962C8B-B14F-4D97-AF65-F5344CB8AC3E}">
        <p14:creationId xmlns:p14="http://schemas.microsoft.com/office/powerpoint/2010/main" val="65371182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4D75F5-30D7-4A52-B081-B58B4C9F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2-marker">
            <a:extLst xmlns:a="http://schemas.openxmlformats.org/drawingml/2006/main">
              <a:ext uri="{FF2B5EF4-FFF2-40B4-BE49-F238E27FC236}">
                <a16:creationId xmlns:a16="http://schemas.microsoft.com/office/drawing/2014/main" id="{80D55DA0-C01B-4A55-B3E6-01CDFBBD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2-label">
            <a:extLst xmlns:a="http://schemas.openxmlformats.org/drawingml/2006/main">
              <a:ext uri="{FF2B5EF4-FFF2-40B4-BE49-F238E27FC236}">
                <a16:creationId xmlns:a16="http://schemas.microsoft.com/office/drawing/2014/main" id="{550C665A-2774-4A52-B501-6F160B63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1A6E1-B1F0-4038-9DE3-74A780AC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918BA-8848-403D-817F-6C2BF2C8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本研究证明了多端关联一致性可作为可解释的设备身份验证信号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360C0-8E40-4EFF-91AC-76FE67C8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238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2B5D7-7E8C-451F-BAFA-7C393211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17811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E7F37-8B20-4B5F-A8AC-B5A9DEFC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17811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Native / WebView / Web 三端分层指纹采集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2A3BF-B552-451B-9CAE-BD059A66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209800"/>
            <a:ext cx="2238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07124-0D9D-4B67-B95B-6DD8BCA1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476500"/>
            <a:ext cx="17811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6B6D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6B6D4"/>
                </a:solidFill>
                <a:latin typeface="PingFang SC"/>
                <a:ea typeface="PingFang SC"/>
                <a:cs typeface="PingFang SC"/>
              </a:rPr>
              <a:t>对齐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D19E6-F23B-44F4-928A-9F45A87A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086100"/>
            <a:ext cx="17811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session_id 合并异步上报，保留原始与训练数据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D1022-CEB8-4CCA-8EB1-783B3E72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2238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939AA-4489-4569-9200-0B8B2E04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17811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4B8A6"/>
                </a:solidFill>
                <a:latin typeface="PingFang SC"/>
                <a:ea typeface="PingFang SC"/>
                <a:cs typeface="PingFang SC"/>
              </a:rPr>
              <a:t>规则化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B36E4-3131-4952-A8C0-33168B24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86100"/>
            <a:ext cx="17811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规则知识库约束离线标注，形成可解释风险标签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B85F6-4D78-4428-A9F5-21083468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09800"/>
            <a:ext cx="2238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94B00-93D7-46A4-A379-0B7A7C32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476500"/>
            <a:ext cx="17811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端侧化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FCE21-CCB1-4DAD-ADD8-49611B57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086100"/>
            <a:ext cx="17811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随机森林Java推理，App本地输出风险分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68D9CE-DF02-4004-A53B-14B1E9CD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E3A8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E3A8A"/>
                </a:solidFill>
                <a:latin typeface="PingFang SC"/>
                <a:ea typeface="PingFang SC"/>
                <a:cs typeface="PingFang SC"/>
              </a:rPr>
              <a:t>谢谢各位老师，欢迎批评指正。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9ECFAB-0AB3-4342-B3E8-FADACFD0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4AC3B-F1B0-431F-AC51-DFBB2B49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本研究 | 答辩结束</a:t>
            </a:r>
          </a:p>
        </p:txBody>
      </p:sp>
    </p:spTree>
    <p:extLst>
      <p:ext uri="{BB962C8B-B14F-4D97-AF65-F5344CB8AC3E}">
        <p14:creationId xmlns:p14="http://schemas.microsoft.com/office/powerpoint/2010/main" val="1858714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2026-05-31T08:38:38.1210000Z</dcterms:created>
  <dcterms:modified xsi:type="dcterms:W3CDTF">2026-05-31T08:38:38.1210000Z</dcterms:modified>
</coreProperties>
</file>