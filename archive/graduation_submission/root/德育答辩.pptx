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95300" y="304800"/>
            <a:ext cx="781050" cy="5715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495300"/>
            <a:ext cx="1276350" cy="47625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85800"/>
            <a:ext cx="533400" cy="5715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382250" y="6153150"/>
            <a:ext cx="1276350" cy="47625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877550" y="5962650"/>
            <a:ext cx="781050" cy="5715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382250" y="6343650"/>
            <a:ext cx="533400" cy="5715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0" y="2286000"/>
            <a:ext cx="12192000" cy="234315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095500" y="2647950"/>
            <a:ext cx="8001000" cy="781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4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德育答辩</a:t>
            </a:r>
            <a:endParaRPr sz="4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143250" y="3448050"/>
            <a:ext cx="5905500" cy="3619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1800" b="0">
                <a:solidFill>
                  <a:srgbClr val="F6D7D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00" b="0">
                <a:solidFill>
                  <a:srgbClr val="F6D7D7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Moral Education Defense</a:t>
            </a:r>
            <a:endParaRPr sz="1800" b="0">
              <a:solidFill>
                <a:srgbClr val="F6D7D7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23950" y="4229100"/>
            <a:ext cx="9944100" cy="19050"/>
          </a:xfrm>
          <a:prstGeom prst="rect">
            <a:avLst/>
          </a:prstGeom>
          <a:solidFill>
            <a:srgbClr val="F3D1D1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857750" y="869950"/>
            <a:ext cx="247650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19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以德修身 · 以行致远</a:t>
            </a:r>
            <a:endParaRPr sz="1950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123950" y="5381625"/>
            <a:ext cx="323850" cy="323850"/>
          </a:xfrm>
          <a:prstGeom prst="ellipse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00150" y="5448300"/>
            <a:ext cx="1714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9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●</a:t>
            </a:r>
            <a:endParaRPr sz="9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581150" y="5314950"/>
            <a:ext cx="228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l">
              <a:defRPr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答辩人：</a:t>
            </a:r>
            <a:r>
              <a:rPr lang="zh-CN"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梁</a:t>
            </a:r>
            <a:r>
              <a:rPr lang="zh-CN"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骁</a:t>
            </a:r>
            <a:endParaRPr lang="zh-CN" sz="1725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4629150" y="5381625"/>
            <a:ext cx="323850" cy="323850"/>
          </a:xfrm>
          <a:prstGeom prst="ellipse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705350" y="5448300"/>
            <a:ext cx="1714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9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●</a:t>
            </a:r>
            <a:endParaRPr sz="9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086350" y="5314950"/>
            <a:ext cx="228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l">
              <a:defRPr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班级：</a:t>
            </a:r>
            <a:r>
              <a:rPr lang="en-US"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220614</a:t>
            </a:r>
            <a:endParaRPr lang="en-US" sz="1725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8039100" y="5381625"/>
            <a:ext cx="323850" cy="323850"/>
          </a:xfrm>
          <a:prstGeom prst="ellipse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115300" y="5448300"/>
            <a:ext cx="1714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9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●</a:t>
            </a:r>
            <a:endParaRPr sz="9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496300" y="5314950"/>
            <a:ext cx="2286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l">
              <a:defRPr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时间：2026.06</a:t>
            </a:r>
            <a:r>
              <a:rPr lang="en-US"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.10</a:t>
            </a:r>
            <a:endParaRPr lang="en-US" sz="1725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95300" y="304800"/>
            <a:ext cx="781050" cy="5715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495300"/>
            <a:ext cx="1276350" cy="47625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85800"/>
            <a:ext cx="533400" cy="5715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382250" y="6153150"/>
            <a:ext cx="1276350" cy="47625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877550" y="5962650"/>
            <a:ext cx="781050" cy="5715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382250" y="6343650"/>
            <a:ext cx="533400" cy="5715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0" y="666750"/>
            <a:ext cx="2533650" cy="552450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平行四边形 9"/>
          <p:cNvSpPr>
            <a:spLocks noGrp="1"/>
          </p:cNvSpPr>
          <p:nvPr/>
        </p:nvSpPr>
        <p:spPr>
          <a:xfrm>
            <a:off x="0" y="666750"/>
            <a:ext cx="2533650" cy="5524500"/>
          </a:xfrm>
          <a:prstGeom prst="parallelogram">
            <a:avLst/>
          </a:prstGeom>
          <a:solidFill>
            <a:srgbClr val="A11B1F"/>
          </a:solidFill>
          <a:ln w="0">
            <a:solidFill>
              <a:srgbClr val="A11B1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1847850"/>
            <a:ext cx="952500" cy="1695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lnSpc>
                <a:spcPct val="104000"/>
              </a:lnSpc>
              <a:buNone/>
              <a:defRPr sz="4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</a:t>
            </a:r>
            <a:endParaRPr sz="4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04000"/>
              </a:lnSpc>
              <a:buNone/>
              <a:defRPr sz="4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录</a:t>
            </a:r>
            <a:endParaRPr sz="46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4114800"/>
            <a:ext cx="133350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1575" b="0">
                <a:solidFill>
                  <a:srgbClr val="F2DCD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0">
                <a:solidFill>
                  <a:srgbClr val="F2DCD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CONTENTS</a:t>
            </a:r>
            <a:endParaRPr sz="1575" b="0">
              <a:solidFill>
                <a:srgbClr val="F2DCD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3352800" y="1790700"/>
            <a:ext cx="590550" cy="590550"/>
          </a:xfrm>
          <a:prstGeom prst="ellipse">
            <a:avLst/>
          </a:prstGeom>
          <a:solidFill>
            <a:srgbClr val="A11B1F"/>
          </a:solidFill>
          <a:ln w="19050">
            <a:solidFill>
              <a:srgbClr val="A11B1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438525" y="1895475"/>
            <a:ext cx="41910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18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01</a:t>
            </a:r>
            <a:endParaRPr sz="1875" b="1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5" name="弧形 14"/>
          <p:cNvSpPr>
            <a:spLocks noGrp="1"/>
          </p:cNvSpPr>
          <p:nvPr/>
        </p:nvSpPr>
        <p:spPr>
          <a:xfrm>
            <a:off x="3714750" y="1714500"/>
            <a:ext cx="419100" cy="419100"/>
          </a:xfrm>
          <a:prstGeom prst="arc">
            <a:avLst/>
          </a:prstGeom>
          <a:solidFill>
            <a:srgbClr val="FFFFFF">
              <a:alpha val="0"/>
            </a:srgbClr>
          </a:solidFill>
          <a:ln w="38100">
            <a:solidFill>
              <a:srgbClr val="A11B1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419600" y="1752600"/>
            <a:ext cx="240030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l">
              <a:defRPr sz="25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成长回顾</a:t>
            </a:r>
            <a:endParaRPr sz="2550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38650" y="2190750"/>
            <a:ext cx="266700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1350" b="0">
                <a:solidFill>
                  <a:srgbClr val="6A6A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A6A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从适应环境到主动承担</a:t>
            </a:r>
            <a:endParaRPr sz="1350" b="0">
              <a:solidFill>
                <a:srgbClr val="6A6A6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7353300" y="1790700"/>
            <a:ext cx="590550" cy="590550"/>
          </a:xfrm>
          <a:prstGeom prst="ellipse">
            <a:avLst/>
          </a:prstGeom>
          <a:solidFill>
            <a:srgbClr val="A11B1F"/>
          </a:solidFill>
          <a:ln w="19050">
            <a:solidFill>
              <a:srgbClr val="A11B1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39025" y="1895475"/>
            <a:ext cx="41910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18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02</a:t>
            </a:r>
            <a:endParaRPr sz="1875" b="1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0" name="弧形 19"/>
          <p:cNvSpPr>
            <a:spLocks noGrp="1"/>
          </p:cNvSpPr>
          <p:nvPr/>
        </p:nvSpPr>
        <p:spPr>
          <a:xfrm>
            <a:off x="7715250" y="1714500"/>
            <a:ext cx="419100" cy="419100"/>
          </a:xfrm>
          <a:prstGeom prst="arc">
            <a:avLst/>
          </a:prstGeom>
          <a:solidFill>
            <a:srgbClr val="FFFFFF">
              <a:alpha val="0"/>
            </a:srgbClr>
          </a:solidFill>
          <a:ln w="38100">
            <a:solidFill>
              <a:srgbClr val="A11B1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420100" y="1752600"/>
            <a:ext cx="240030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l">
              <a:defRPr sz="25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思想认识</a:t>
            </a:r>
            <a:endParaRPr sz="2550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439150" y="2190750"/>
            <a:ext cx="266700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1350" b="0">
                <a:solidFill>
                  <a:srgbClr val="6A6A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A6A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把价值要求转成日常准则</a:t>
            </a:r>
            <a:endParaRPr sz="1350" b="0">
              <a:solidFill>
                <a:srgbClr val="6A6A6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3352800" y="3048000"/>
            <a:ext cx="590550" cy="590550"/>
          </a:xfrm>
          <a:prstGeom prst="ellipse">
            <a:avLst/>
          </a:prstGeom>
          <a:solidFill>
            <a:srgbClr val="A11B1F"/>
          </a:solidFill>
          <a:ln w="19050">
            <a:solidFill>
              <a:srgbClr val="A11B1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438525" y="3152775"/>
            <a:ext cx="41910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18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03</a:t>
            </a:r>
            <a:endParaRPr sz="1875" b="1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5" name="弧形 24"/>
          <p:cNvSpPr>
            <a:spLocks noGrp="1"/>
          </p:cNvSpPr>
          <p:nvPr/>
        </p:nvSpPr>
        <p:spPr>
          <a:xfrm>
            <a:off x="3714750" y="2971800"/>
            <a:ext cx="419100" cy="419100"/>
          </a:xfrm>
          <a:prstGeom prst="arc">
            <a:avLst/>
          </a:prstGeom>
          <a:solidFill>
            <a:srgbClr val="FFFFFF">
              <a:alpha val="0"/>
            </a:srgbClr>
          </a:solidFill>
          <a:ln w="38100">
            <a:solidFill>
              <a:srgbClr val="A11B1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419600" y="3009900"/>
            <a:ext cx="240030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l">
              <a:defRPr sz="25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学习实践</a:t>
            </a:r>
            <a:endParaRPr sz="2550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438650" y="3448050"/>
            <a:ext cx="266700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1350" b="0">
                <a:solidFill>
                  <a:srgbClr val="6A6A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A6A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在学习、纪律、集体中落实</a:t>
            </a:r>
            <a:endParaRPr sz="1350" b="0">
              <a:solidFill>
                <a:srgbClr val="6A6A6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7353300" y="3048000"/>
            <a:ext cx="590550" cy="590550"/>
          </a:xfrm>
          <a:prstGeom prst="ellipse">
            <a:avLst/>
          </a:prstGeom>
          <a:solidFill>
            <a:srgbClr val="A11B1F"/>
          </a:solidFill>
          <a:ln w="19050">
            <a:solidFill>
              <a:srgbClr val="A11B1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39025" y="3152775"/>
            <a:ext cx="41910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18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04</a:t>
            </a:r>
            <a:endParaRPr sz="1875" b="1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0" name="弧形 29"/>
          <p:cNvSpPr>
            <a:spLocks noGrp="1"/>
          </p:cNvSpPr>
          <p:nvPr/>
        </p:nvSpPr>
        <p:spPr>
          <a:xfrm>
            <a:off x="7715250" y="2971800"/>
            <a:ext cx="419100" cy="419100"/>
          </a:xfrm>
          <a:prstGeom prst="arc">
            <a:avLst/>
          </a:prstGeom>
          <a:solidFill>
            <a:srgbClr val="FFFFFF">
              <a:alpha val="0"/>
            </a:srgbClr>
          </a:solidFill>
          <a:ln w="38100">
            <a:solidFill>
              <a:srgbClr val="A11B1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420100" y="3009900"/>
            <a:ext cx="240030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l">
              <a:defRPr sz="25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反思改进</a:t>
            </a:r>
            <a:endParaRPr sz="2550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439150" y="3448050"/>
            <a:ext cx="266700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1350" b="0">
                <a:solidFill>
                  <a:srgbClr val="6A6A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A6A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看见不足并形成行动方案</a:t>
            </a:r>
            <a:endParaRPr sz="1350" b="0">
              <a:solidFill>
                <a:srgbClr val="6A6A6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3352800" y="4305300"/>
            <a:ext cx="590550" cy="590550"/>
          </a:xfrm>
          <a:prstGeom prst="ellipse">
            <a:avLst/>
          </a:prstGeom>
          <a:solidFill>
            <a:srgbClr val="A11B1F"/>
          </a:solidFill>
          <a:ln w="19050">
            <a:solidFill>
              <a:srgbClr val="A11B1F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438525" y="4410075"/>
            <a:ext cx="41910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18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8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05</a:t>
            </a:r>
            <a:endParaRPr sz="1875" b="1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5" name="弧形 34"/>
          <p:cNvSpPr>
            <a:spLocks noGrp="1"/>
          </p:cNvSpPr>
          <p:nvPr/>
        </p:nvSpPr>
        <p:spPr>
          <a:xfrm>
            <a:off x="3714750" y="4229100"/>
            <a:ext cx="419100" cy="419100"/>
          </a:xfrm>
          <a:prstGeom prst="arc">
            <a:avLst/>
          </a:prstGeom>
          <a:solidFill>
            <a:srgbClr val="FFFFFF">
              <a:alpha val="0"/>
            </a:srgbClr>
          </a:solidFill>
          <a:ln w="38100">
            <a:solidFill>
              <a:srgbClr val="A11B1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419600" y="4267200"/>
            <a:ext cx="240030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l">
              <a:defRPr sz="25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未来规划</a:t>
            </a:r>
            <a:endParaRPr sz="2550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438650" y="4705350"/>
            <a:ext cx="2667000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1350" b="0">
                <a:solidFill>
                  <a:srgbClr val="6A6A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A6A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继续守底线、担责任、向前走</a:t>
            </a:r>
            <a:endParaRPr sz="1350" b="0">
              <a:solidFill>
                <a:srgbClr val="6A6A6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2857500" cy="6858000"/>
          </a:xfrm>
          <a:prstGeom prst="rect">
            <a:avLst/>
          </a:prstGeom>
          <a:solidFill>
            <a:srgbClr val="EFEFE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400050"/>
            <a:ext cx="1485900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40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0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目录</a:t>
            </a:r>
            <a:endParaRPr sz="4050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1543050"/>
            <a:ext cx="2857500" cy="76200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等腰三角形 5"/>
          <p:cNvSpPr>
            <a:spLocks noGrp="1"/>
          </p:cNvSpPr>
          <p:nvPr/>
        </p:nvSpPr>
        <p:spPr>
          <a:xfrm>
            <a:off x="0" y="2305050"/>
            <a:ext cx="304800" cy="171450"/>
          </a:xfrm>
          <a:prstGeom prst="triangle">
            <a:avLst/>
          </a:prstGeom>
          <a:solidFill>
            <a:srgbClr val="7F1316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72402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成长回顾</a:t>
            </a:r>
            <a:endParaRPr sz="23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8650" y="269557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思想认识</a:t>
            </a:r>
            <a:endParaRPr sz="2325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366712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学习实践</a:t>
            </a:r>
            <a:endParaRPr sz="2325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8650" y="463867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反思改进</a:t>
            </a:r>
            <a:endParaRPr sz="2325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561022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未来规划</a:t>
            </a:r>
            <a:endParaRPr sz="2325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90900" y="247650"/>
            <a:ext cx="409575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2400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成长回顾</a:t>
            </a:r>
            <a:endParaRPr sz="2400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390900" y="800100"/>
            <a:ext cx="8324850" cy="38100"/>
          </a:xfrm>
          <a:prstGeom prst="rect">
            <a:avLst/>
          </a:prstGeom>
          <a:solidFill>
            <a:srgbClr val="7F1316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562350" y="2190750"/>
            <a:ext cx="1104900" cy="838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4800" b="1">
                <a:solidFill>
                  <a:srgbClr val="A11B1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800" b="1">
                <a:solidFill>
                  <a:srgbClr val="A11B1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01</a:t>
            </a:r>
            <a:endParaRPr sz="4800" b="1">
              <a:solidFill>
                <a:srgbClr val="A11B1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819650" y="2324100"/>
            <a:ext cx="4095750" cy="78105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067300" y="2381250"/>
            <a:ext cx="209550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l">
              <a:def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成长回顾</a:t>
            </a:r>
            <a:endParaRPr sz="22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067300" y="2781300"/>
            <a:ext cx="2476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975" b="0">
                <a:solidFill>
                  <a:srgbClr val="F4CCC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975" b="0">
                <a:solidFill>
                  <a:srgbClr val="F4CCC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Growth Review</a:t>
            </a:r>
            <a:endParaRPr sz="975" b="0">
              <a:solidFill>
                <a:srgbClr val="F4CCC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093325" y="2190750"/>
            <a:ext cx="1333500" cy="11239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lnSpc>
                <a:spcPct val="122000"/>
              </a:lnSpc>
              <a:buNone/>
              <a:defRPr sz="157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角色变化</a:t>
            </a:r>
            <a:endParaRPr sz="1575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2000"/>
              </a:lnSpc>
              <a:buNone/>
              <a:defRPr sz="157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习惯养成</a:t>
            </a:r>
            <a:endParaRPr sz="1575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2000"/>
              </a:lnSpc>
              <a:buNone/>
              <a:defRPr sz="157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集体融入</a:t>
            </a:r>
            <a:endParaRPr sz="1575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829050" y="4895850"/>
            <a:ext cx="6705600" cy="3810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3429000" y="4552950"/>
            <a:ext cx="742950" cy="7429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A11B1F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429000" y="4657725"/>
            <a:ext cx="742950" cy="3619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16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适应</a:t>
            </a:r>
            <a:endParaRPr sz="1650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143250" y="5429250"/>
            <a:ext cx="13335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了解规则</a:t>
            </a:r>
            <a:endParaRPr sz="1425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建立节奏</a:t>
            </a:r>
            <a:endParaRPr sz="1425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5676900" y="4552950"/>
            <a:ext cx="742950" cy="7429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A11B1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676900" y="4657725"/>
            <a:ext cx="742950" cy="3619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16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养成</a:t>
            </a:r>
            <a:endParaRPr sz="1650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391150" y="5429250"/>
            <a:ext cx="13335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诚信自律</a:t>
            </a:r>
            <a:endParaRPr sz="1425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按时完成</a:t>
            </a:r>
            <a:endParaRPr sz="1425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7924800" y="4552950"/>
            <a:ext cx="742950" cy="7429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A11B1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924800" y="4657725"/>
            <a:ext cx="742950" cy="3619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16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融入</a:t>
            </a:r>
            <a:endParaRPr sz="1650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639050" y="5429250"/>
            <a:ext cx="13335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参与集体</a:t>
            </a:r>
            <a:endParaRPr sz="1425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配合协作</a:t>
            </a:r>
            <a:endParaRPr sz="1425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10172700" y="4552950"/>
            <a:ext cx="742950" cy="7429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A11B1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0172700" y="4657725"/>
            <a:ext cx="742950" cy="3619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16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主动</a:t>
            </a:r>
            <a:endParaRPr sz="1650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886950" y="5429250"/>
            <a:ext cx="13335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发现问题</a:t>
            </a:r>
            <a:endParaRPr sz="1425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主动补位</a:t>
            </a:r>
            <a:endParaRPr sz="1425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2857500" cy="6858000"/>
          </a:xfrm>
          <a:prstGeom prst="rect">
            <a:avLst/>
          </a:prstGeom>
          <a:solidFill>
            <a:srgbClr val="EFEFE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400050"/>
            <a:ext cx="1485900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40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0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目录</a:t>
            </a:r>
            <a:endParaRPr sz="4050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2402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成长回顾</a:t>
            </a:r>
            <a:endParaRPr sz="2325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0" y="2514600"/>
            <a:ext cx="2857500" cy="76200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等腰三角形 6"/>
          <p:cNvSpPr>
            <a:spLocks noGrp="1"/>
          </p:cNvSpPr>
          <p:nvPr/>
        </p:nvSpPr>
        <p:spPr>
          <a:xfrm>
            <a:off x="0" y="3276600"/>
            <a:ext cx="304800" cy="171450"/>
          </a:xfrm>
          <a:prstGeom prst="triangle">
            <a:avLst/>
          </a:prstGeom>
          <a:solidFill>
            <a:srgbClr val="7F1316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28650" y="269557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思想认识</a:t>
            </a:r>
            <a:endParaRPr sz="23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366712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学习实践</a:t>
            </a:r>
            <a:endParaRPr sz="2325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8650" y="463867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反思改进</a:t>
            </a:r>
            <a:endParaRPr sz="2325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561022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未来规划</a:t>
            </a:r>
            <a:endParaRPr sz="2325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90900" y="247650"/>
            <a:ext cx="409575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2400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思想认识</a:t>
            </a:r>
            <a:endParaRPr sz="2400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390900" y="800100"/>
            <a:ext cx="8324850" cy="38100"/>
          </a:xfrm>
          <a:prstGeom prst="rect">
            <a:avLst/>
          </a:prstGeom>
          <a:solidFill>
            <a:srgbClr val="7F1316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429000" y="1390650"/>
            <a:ext cx="1047750" cy="7429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4800" b="1">
                <a:solidFill>
                  <a:srgbClr val="A11B1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4800" b="1">
                <a:solidFill>
                  <a:srgbClr val="A11B1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02</a:t>
            </a:r>
            <a:endParaRPr sz="4800" b="1">
              <a:solidFill>
                <a:srgbClr val="A11B1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438650" y="1485900"/>
            <a:ext cx="3638550" cy="60960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667250" y="1600200"/>
            <a:ext cx="3200400" cy="3619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把价值要求转成日常准则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3543300" y="2800350"/>
            <a:ext cx="3200400" cy="1123950"/>
          </a:xfrm>
          <a:prstGeom prst="roundRect">
            <a:avLst>
              <a:gd name="adj" fmla="val 6780"/>
            </a:avLst>
          </a:prstGeom>
          <a:solidFill>
            <a:srgbClr val="F9EEE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3752850" y="2628900"/>
            <a:ext cx="1047750" cy="419100"/>
          </a:xfrm>
          <a:prstGeom prst="roundRect">
            <a:avLst>
              <a:gd name="adj" fmla="val 18182"/>
            </a:avLst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829050" y="2686050"/>
            <a:ext cx="89535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诚信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810000" y="3200400"/>
            <a:ext cx="266700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lnSpc>
                <a:spcPct val="114000"/>
              </a:lnSpc>
              <a:buNone/>
              <a:def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不把侥幸当能力，作业、考试和承诺都守住底线。</a:t>
            </a:r>
            <a:endParaRPr sz="1500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524750" y="2800350"/>
            <a:ext cx="3200400" cy="1123950"/>
          </a:xfrm>
          <a:prstGeom prst="roundRect">
            <a:avLst>
              <a:gd name="adj" fmla="val 6780"/>
            </a:avLst>
          </a:prstGeom>
          <a:solidFill>
            <a:srgbClr val="F4DED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7734300" y="2628900"/>
            <a:ext cx="1047750" cy="419100"/>
          </a:xfrm>
          <a:prstGeom prst="roundRect">
            <a:avLst>
              <a:gd name="adj" fmla="val 18182"/>
            </a:avLst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810500" y="2686050"/>
            <a:ext cx="89535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自律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791450" y="3200400"/>
            <a:ext cx="266700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lnSpc>
                <a:spcPct val="114000"/>
              </a:lnSpc>
              <a:buNone/>
              <a:def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用稳定节奏替代临时突击，尽量把事情做在前面。</a:t>
            </a:r>
            <a:endParaRPr sz="1500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3543300" y="4400550"/>
            <a:ext cx="3200400" cy="1123950"/>
          </a:xfrm>
          <a:prstGeom prst="roundRect">
            <a:avLst>
              <a:gd name="adj" fmla="val 6780"/>
            </a:avLst>
          </a:prstGeom>
          <a:solidFill>
            <a:srgbClr val="F9EEE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3752850" y="4229100"/>
            <a:ext cx="1047750" cy="419100"/>
          </a:xfrm>
          <a:prstGeom prst="roundRect">
            <a:avLst>
              <a:gd name="adj" fmla="val 18182"/>
            </a:avLst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829050" y="4286250"/>
            <a:ext cx="89535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责任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810000" y="4800600"/>
            <a:ext cx="266700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lnSpc>
                <a:spcPct val="114000"/>
              </a:lnSpc>
              <a:buNone/>
              <a:def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遇到集体任务不旁观，先完成分内事，再考虑补位。</a:t>
            </a:r>
            <a:endParaRPr sz="1500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524750" y="4400550"/>
            <a:ext cx="3200400" cy="1123950"/>
          </a:xfrm>
          <a:prstGeom prst="roundRect">
            <a:avLst>
              <a:gd name="adj" fmla="val 6780"/>
            </a:avLst>
          </a:prstGeom>
          <a:solidFill>
            <a:srgbClr val="F4DED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7734300" y="4229100"/>
            <a:ext cx="1047750" cy="419100"/>
          </a:xfrm>
          <a:prstGeom prst="roundRect">
            <a:avLst>
              <a:gd name="adj" fmla="val 18182"/>
            </a:avLst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810500" y="4286250"/>
            <a:ext cx="89535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友善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791450" y="4800600"/>
            <a:ext cx="2667000" cy="5524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lnSpc>
                <a:spcPct val="114000"/>
              </a:lnSpc>
              <a:buNone/>
              <a:def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尊重不同节奏，沟通时先解决问题，再表达情绪。</a:t>
            </a:r>
            <a:endParaRPr sz="1500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-1143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2857500" cy="6858000"/>
          </a:xfrm>
          <a:prstGeom prst="rect">
            <a:avLst/>
          </a:prstGeom>
          <a:solidFill>
            <a:srgbClr val="EFEFE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400050"/>
            <a:ext cx="1485900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40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0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目录</a:t>
            </a:r>
            <a:endParaRPr sz="4050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2402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成长回顾</a:t>
            </a:r>
            <a:endParaRPr sz="2325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69557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思想认识</a:t>
            </a:r>
            <a:endParaRPr sz="2325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3486150"/>
            <a:ext cx="2857500" cy="76200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等腰三角形 7"/>
          <p:cNvSpPr>
            <a:spLocks noGrp="1"/>
          </p:cNvSpPr>
          <p:nvPr/>
        </p:nvSpPr>
        <p:spPr>
          <a:xfrm>
            <a:off x="0" y="4248150"/>
            <a:ext cx="304800" cy="171450"/>
          </a:xfrm>
          <a:prstGeom prst="triangle">
            <a:avLst/>
          </a:prstGeom>
          <a:solidFill>
            <a:srgbClr val="7F1316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366712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学习实践</a:t>
            </a:r>
            <a:endParaRPr sz="23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8650" y="463867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反思改进</a:t>
            </a:r>
            <a:endParaRPr sz="2325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561022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未来规划</a:t>
            </a:r>
            <a:endParaRPr sz="2325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90900" y="247650"/>
            <a:ext cx="409575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2400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学习与纪律</a:t>
            </a:r>
            <a:endParaRPr sz="2400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390900" y="800100"/>
            <a:ext cx="8324850" cy="38100"/>
          </a:xfrm>
          <a:prstGeom prst="rect">
            <a:avLst/>
          </a:prstGeom>
          <a:solidFill>
            <a:srgbClr val="7F1316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562350" y="1466850"/>
            <a:ext cx="3314700" cy="4152900"/>
          </a:xfrm>
          <a:prstGeom prst="rect">
            <a:avLst/>
          </a:prstGeom>
          <a:solidFill>
            <a:srgbClr val="F9EEE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4229100" y="1143000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305300" y="1200150"/>
            <a:ext cx="1847850" cy="4191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学习态度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912870" y="2561590"/>
            <a:ext cx="2571750" cy="31432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按时完成课程与作业，减少拖延造成的被动。</a:t>
            </a:r>
            <a:endParaRPr sz="1500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遇到不懂的问题先查资料、再请教，避免把问题留到最后。</a:t>
            </a:r>
            <a:endParaRPr sz="1500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把阶段性复盘变成习惯，知道自己哪里进步、哪里欠账。</a:t>
            </a:r>
            <a:endParaRPr sz="1500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734300" y="1466850"/>
            <a:ext cx="3314700" cy="4152900"/>
          </a:xfrm>
          <a:prstGeom prst="rect">
            <a:avLst/>
          </a:prstGeom>
          <a:solidFill>
            <a:srgbClr val="F9EEE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8401050" y="1143000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477250" y="1200150"/>
            <a:ext cx="1847850" cy="4191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纪律意识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26730" y="2561590"/>
            <a:ext cx="2571750" cy="31432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遵守课堂、宿舍、考试等基本规范，维护共同秩序。</a:t>
            </a:r>
            <a:endParaRPr sz="1500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尊重老师和同学的时间，沟通前先整理清楚问题。</a:t>
            </a:r>
            <a:endParaRPr sz="1500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在自由度更高的大学生活里，保持边界感和自我约束。</a:t>
            </a:r>
            <a:endParaRPr sz="1500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等腰三角形 22"/>
          <p:cNvSpPr>
            <a:spLocks noGrp="1"/>
          </p:cNvSpPr>
          <p:nvPr/>
        </p:nvSpPr>
        <p:spPr>
          <a:xfrm>
            <a:off x="7086600" y="3124200"/>
            <a:ext cx="438150" cy="438150"/>
          </a:xfrm>
          <a:prstGeom prst="triangle">
            <a:avLst/>
          </a:prstGeom>
          <a:solidFill>
            <a:srgbClr val="C94B4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1143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2857500" cy="6858000"/>
          </a:xfrm>
          <a:prstGeom prst="rect">
            <a:avLst/>
          </a:prstGeom>
          <a:solidFill>
            <a:srgbClr val="EFEFE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400050"/>
            <a:ext cx="1485900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40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0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目录</a:t>
            </a:r>
            <a:endParaRPr sz="4050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2402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成长回顾</a:t>
            </a:r>
            <a:endParaRPr sz="2325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69557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思想认识</a:t>
            </a:r>
            <a:endParaRPr sz="2325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3486150"/>
            <a:ext cx="2857500" cy="76200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等腰三角形 7"/>
          <p:cNvSpPr>
            <a:spLocks noGrp="1"/>
          </p:cNvSpPr>
          <p:nvPr/>
        </p:nvSpPr>
        <p:spPr>
          <a:xfrm>
            <a:off x="0" y="4248150"/>
            <a:ext cx="304800" cy="171450"/>
          </a:xfrm>
          <a:prstGeom prst="triangle">
            <a:avLst/>
          </a:prstGeom>
          <a:solidFill>
            <a:srgbClr val="7F1316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366712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学习实践</a:t>
            </a:r>
            <a:endParaRPr sz="23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8650" y="463867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反思改进</a:t>
            </a:r>
            <a:endParaRPr sz="2325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561022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未来规划</a:t>
            </a:r>
            <a:endParaRPr sz="2325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90900" y="247650"/>
            <a:ext cx="409575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2400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集体责任与实践</a:t>
            </a:r>
            <a:endParaRPr sz="2400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390900" y="800100"/>
            <a:ext cx="8324850" cy="38100"/>
          </a:xfrm>
          <a:prstGeom prst="rect">
            <a:avLst/>
          </a:prstGeom>
          <a:solidFill>
            <a:srgbClr val="7F1316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562350" y="1181100"/>
            <a:ext cx="7791450" cy="609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1800" b="1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我对责任的理解：不是一定要做很大的事，而是在需要自己的地方不</a:t>
            </a:r>
            <a:r>
              <a:rPr lang="zh-CN" sz="1800" b="1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缺席</a:t>
            </a:r>
            <a:r>
              <a:rPr sz="1800" b="1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sz="1800" b="1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3676650" y="2171700"/>
            <a:ext cx="6667500" cy="876300"/>
          </a:xfrm>
          <a:prstGeom prst="roundRect">
            <a:avLst>
              <a:gd name="adj" fmla="val 8696"/>
            </a:avLst>
          </a:prstGeom>
          <a:solidFill>
            <a:srgbClr val="F9EEE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3371850" y="2305050"/>
            <a:ext cx="514350" cy="514350"/>
          </a:xfrm>
          <a:prstGeom prst="ellipse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457575" y="2390775"/>
            <a:ext cx="3429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15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01</a:t>
            </a:r>
            <a:endParaRPr sz="1575" b="1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171950" y="2324100"/>
            <a:ext cx="152400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187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班级事务</a:t>
            </a:r>
            <a:endParaRPr sz="1875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810250" y="2305050"/>
            <a:ext cx="390525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认真配合通知、统计、活动安排，减少沟通成本。</a:t>
            </a:r>
            <a:endParaRPr sz="1500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619500" y="3028950"/>
            <a:ext cx="38100" cy="32385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3676650" y="3371850"/>
            <a:ext cx="6667500" cy="876300"/>
          </a:xfrm>
          <a:prstGeom prst="roundRect">
            <a:avLst>
              <a:gd name="adj" fmla="val 8696"/>
            </a:avLst>
          </a:prstGeom>
          <a:solidFill>
            <a:srgbClr val="F4DED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23" name="椭圆 22"/>
          <p:cNvSpPr>
            <a:spLocks noGrp="1"/>
          </p:cNvSpPr>
          <p:nvPr/>
        </p:nvSpPr>
        <p:spPr>
          <a:xfrm>
            <a:off x="3371850" y="3505200"/>
            <a:ext cx="514350" cy="514350"/>
          </a:xfrm>
          <a:prstGeom prst="ellipse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457575" y="3590925"/>
            <a:ext cx="3429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15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02</a:t>
            </a:r>
            <a:endParaRPr sz="1575" b="1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171950" y="3524250"/>
            <a:ext cx="152400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187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同伴协作</a:t>
            </a:r>
            <a:endParaRPr sz="1875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810250" y="3505200"/>
            <a:ext cx="390525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小组任务里明确分工，遇到进度差异及时补齐。</a:t>
            </a:r>
            <a:endParaRPr sz="1500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619500" y="4229100"/>
            <a:ext cx="38100" cy="32385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3676650" y="4572000"/>
            <a:ext cx="6667500" cy="876300"/>
          </a:xfrm>
          <a:prstGeom prst="roundRect">
            <a:avLst>
              <a:gd name="adj" fmla="val 8696"/>
            </a:avLst>
          </a:prstGeom>
          <a:solidFill>
            <a:srgbClr val="F9EEE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3371850" y="4705350"/>
            <a:ext cx="514350" cy="514350"/>
          </a:xfrm>
          <a:prstGeom prst="ellipse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3457575" y="4791075"/>
            <a:ext cx="3429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15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575" b="1">
                <a:solidFill>
                  <a:srgbClr val="FFFF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03</a:t>
            </a:r>
            <a:endParaRPr sz="1575" b="1">
              <a:solidFill>
                <a:srgbClr val="FFFFFF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171950" y="4724400"/>
            <a:ext cx="152400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187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日常互助</a:t>
            </a:r>
            <a:endParaRPr sz="1875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810250" y="4705350"/>
            <a:ext cx="390525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能帮则帮，能提醒则提醒，不把小问题放大。</a:t>
            </a:r>
            <a:endParaRPr sz="1500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2857500" cy="6858000"/>
          </a:xfrm>
          <a:prstGeom prst="rect">
            <a:avLst/>
          </a:prstGeom>
          <a:solidFill>
            <a:srgbClr val="EFEFE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400050"/>
            <a:ext cx="1485900" cy="723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40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0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目录</a:t>
            </a:r>
            <a:endParaRPr sz="4050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72402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成长回顾</a:t>
            </a:r>
            <a:endParaRPr sz="2325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269557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思想认识</a:t>
            </a:r>
            <a:endParaRPr sz="2325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366712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学习实践</a:t>
            </a:r>
            <a:endParaRPr sz="2325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4457700"/>
            <a:ext cx="2857500" cy="76200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等腰三角形 8"/>
          <p:cNvSpPr>
            <a:spLocks noGrp="1"/>
          </p:cNvSpPr>
          <p:nvPr/>
        </p:nvSpPr>
        <p:spPr>
          <a:xfrm>
            <a:off x="0" y="5219700"/>
            <a:ext cx="304800" cy="171450"/>
          </a:xfrm>
          <a:prstGeom prst="triangle">
            <a:avLst/>
          </a:prstGeom>
          <a:solidFill>
            <a:srgbClr val="7F1316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28650" y="463867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反思改进</a:t>
            </a:r>
            <a:endParaRPr sz="23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5610225"/>
            <a:ext cx="177165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def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未来规划</a:t>
            </a:r>
            <a:endParaRPr sz="2325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90900" y="247650"/>
            <a:ext cx="409575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2400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14141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反思改进</a:t>
            </a:r>
            <a:endParaRPr sz="2400" b="1">
              <a:solidFill>
                <a:srgbClr val="14141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390900" y="800100"/>
            <a:ext cx="8324850" cy="38100"/>
          </a:xfrm>
          <a:prstGeom prst="rect">
            <a:avLst/>
          </a:prstGeom>
          <a:solidFill>
            <a:srgbClr val="7F1316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448050" y="1409700"/>
            <a:ext cx="1714500" cy="55245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562350" y="1504950"/>
            <a:ext cx="1485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问题</a:t>
            </a:r>
            <a:endParaRPr sz="15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162550" y="1409700"/>
            <a:ext cx="3333750" cy="55245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276850" y="1504950"/>
            <a:ext cx="310515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具体表现</a:t>
            </a:r>
            <a:endParaRPr sz="15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496300" y="1409700"/>
            <a:ext cx="3333750" cy="55245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610600" y="1504950"/>
            <a:ext cx="310515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改进办法</a:t>
            </a:r>
            <a:endParaRPr sz="15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448050" y="2114550"/>
            <a:ext cx="1714500" cy="838200"/>
          </a:xfrm>
          <a:prstGeom prst="rect">
            <a:avLst/>
          </a:prstGeom>
          <a:solidFill>
            <a:srgbClr val="F9EEE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657600" y="2305050"/>
            <a:ext cx="1295400" cy="4762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lnSpc>
                <a:spcPct val="110000"/>
              </a:lnSpc>
              <a:buNone/>
              <a:defRPr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时间管理</a:t>
            </a:r>
            <a:endParaRPr sz="1725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162550" y="2114550"/>
            <a:ext cx="3333750" cy="838200"/>
          </a:xfrm>
          <a:prstGeom prst="rect">
            <a:avLst/>
          </a:prstGeom>
          <a:solidFill>
            <a:srgbClr val="F9EEE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372100" y="2305050"/>
            <a:ext cx="2914650" cy="4762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有时习惯把任务集中到最后处理</a:t>
            </a:r>
            <a:endParaRPr sz="1500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496300" y="2114550"/>
            <a:ext cx="3333750" cy="838200"/>
          </a:xfrm>
          <a:prstGeom prst="rect">
            <a:avLst/>
          </a:prstGeom>
          <a:solidFill>
            <a:srgbClr val="F9EEE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705850" y="2305050"/>
            <a:ext cx="2914650" cy="4762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提前拆分任务，固定每周复盘一次</a:t>
            </a:r>
            <a:endParaRPr sz="1500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448050" y="3257550"/>
            <a:ext cx="1714500" cy="838200"/>
          </a:xfrm>
          <a:prstGeom prst="rect">
            <a:avLst/>
          </a:prstGeom>
          <a:solidFill>
            <a:srgbClr val="F4DED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657600" y="3448050"/>
            <a:ext cx="1295400" cy="4762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lnSpc>
                <a:spcPct val="110000"/>
              </a:lnSpc>
              <a:buNone/>
              <a:defRPr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表达主动性</a:t>
            </a:r>
            <a:endParaRPr sz="1725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162550" y="3257550"/>
            <a:ext cx="3333750" cy="838200"/>
          </a:xfrm>
          <a:prstGeom prst="rect">
            <a:avLst/>
          </a:prstGeom>
          <a:solidFill>
            <a:srgbClr val="F4DED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372100" y="3448050"/>
            <a:ext cx="2914650" cy="4762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遇到困难时沟通不够及时</a:t>
            </a:r>
            <a:endParaRPr sz="1500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496300" y="3257550"/>
            <a:ext cx="3333750" cy="838200"/>
          </a:xfrm>
          <a:prstGeom prst="rect">
            <a:avLst/>
          </a:prstGeom>
          <a:solidFill>
            <a:srgbClr val="F4DED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705850" y="3448050"/>
            <a:ext cx="2914650" cy="4762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先说明问题和进度，再提出需要的帮助</a:t>
            </a:r>
            <a:endParaRPr sz="1500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448050" y="4400550"/>
            <a:ext cx="1714500" cy="838200"/>
          </a:xfrm>
          <a:prstGeom prst="rect">
            <a:avLst/>
          </a:prstGeom>
          <a:solidFill>
            <a:srgbClr val="F9EEE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657600" y="4591050"/>
            <a:ext cx="1295400" cy="4762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ctr">
              <a:lnSpc>
                <a:spcPct val="110000"/>
              </a:lnSpc>
              <a:buNone/>
              <a:defRPr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持续性</a:t>
            </a:r>
            <a:endParaRPr sz="1725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162550" y="4400550"/>
            <a:ext cx="3333750" cy="838200"/>
          </a:xfrm>
          <a:prstGeom prst="rect">
            <a:avLst/>
          </a:prstGeom>
          <a:solidFill>
            <a:srgbClr val="F9EEE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5372100" y="4591050"/>
            <a:ext cx="2914650" cy="4762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短期热情容易高，长期坚持还要加强</a:t>
            </a:r>
            <a:endParaRPr sz="1500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496300" y="4400550"/>
            <a:ext cx="3333750" cy="838200"/>
          </a:xfrm>
          <a:prstGeom prst="rect">
            <a:avLst/>
          </a:prstGeom>
          <a:solidFill>
            <a:srgbClr val="F9EEE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705850" y="4591050"/>
            <a:ext cx="2914650" cy="4762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/>
          <a:lstStyle/>
          <a:p>
            <a:pPr algn="l">
              <a:lnSpc>
                <a:spcPct val="110000"/>
              </a:lnSpc>
              <a:buNone/>
              <a:def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把目标变小，把检查节点变明确</a:t>
            </a:r>
            <a:endParaRPr sz="1500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-1143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95300" y="304800"/>
            <a:ext cx="781050" cy="5715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495300"/>
            <a:ext cx="1276350" cy="47625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685800"/>
            <a:ext cx="533400" cy="5715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382250" y="6153150"/>
            <a:ext cx="1276350" cy="47625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877550" y="5962650"/>
            <a:ext cx="781050" cy="5715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382250" y="6343650"/>
            <a:ext cx="533400" cy="5715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0" y="2857500"/>
            <a:ext cx="12192000" cy="137160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371850" y="3105150"/>
            <a:ext cx="5429250" cy="4762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请各位老师批评指正</a:t>
            </a:r>
            <a:endParaRPr sz="2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562350" y="3638550"/>
            <a:ext cx="504825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1350" b="0">
                <a:solidFill>
                  <a:srgbClr val="F1CCC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defRPr>
            </a:pPr>
            <a:r>
              <a:rPr sz="1350" b="0">
                <a:solidFill>
                  <a:srgbClr val="F1CCCC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</a:rPr>
              <a:t>Please criticize and correct me, teachers</a:t>
            </a:r>
            <a:endParaRPr sz="1350" b="0">
              <a:solidFill>
                <a:srgbClr val="F1CCCC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23950" y="1200150"/>
            <a:ext cx="171450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22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未来规划</a:t>
            </a:r>
            <a:endParaRPr sz="2250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1752600"/>
            <a:ext cx="6137910" cy="609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18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282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把德育答辩中的反思，继续落实到学习、工作与生活选择中。</a:t>
            </a:r>
            <a:endParaRPr sz="1800" b="0">
              <a:solidFill>
                <a:srgbClr val="282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714500" y="4819650"/>
            <a:ext cx="2152650" cy="1028700"/>
          </a:xfrm>
          <a:prstGeom prst="roundRect">
            <a:avLst>
              <a:gd name="adj" fmla="val 7407"/>
            </a:avLst>
          </a:prstGeom>
          <a:solidFill>
            <a:srgbClr val="F9EEE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962150" y="5010150"/>
            <a:ext cx="80010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守底线</a:t>
            </a:r>
            <a:endParaRPr sz="1725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962150" y="5391150"/>
            <a:ext cx="161925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6A6A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A6A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诚信、自律、守纪</a:t>
            </a:r>
            <a:endParaRPr sz="1200" b="0">
              <a:solidFill>
                <a:srgbClr val="6A6A6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629150" y="4819650"/>
            <a:ext cx="2152650" cy="1028700"/>
          </a:xfrm>
          <a:prstGeom prst="roundRect">
            <a:avLst>
              <a:gd name="adj" fmla="val 7407"/>
            </a:avLst>
          </a:prstGeom>
          <a:solidFill>
            <a:srgbClr val="F9EEE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876800" y="5010150"/>
            <a:ext cx="80010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担责任</a:t>
            </a:r>
            <a:endParaRPr sz="1725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876800" y="5391150"/>
            <a:ext cx="161925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6A6A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A6A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学习负责，集体尽责</a:t>
            </a:r>
            <a:endParaRPr sz="1200" b="0">
              <a:solidFill>
                <a:srgbClr val="6A6A6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543800" y="4819650"/>
            <a:ext cx="2152650" cy="1028700"/>
          </a:xfrm>
          <a:prstGeom prst="roundRect">
            <a:avLst>
              <a:gd name="adj" fmla="val 7407"/>
            </a:avLst>
          </a:prstGeom>
          <a:solidFill>
            <a:srgbClr val="F9EEEE"/>
          </a:solidFill>
          <a:ln w="9525">
            <a:solidFill>
              <a:srgbClr val="D8C8C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791450" y="5010150"/>
            <a:ext cx="800100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defRPr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能坚持</a:t>
            </a:r>
            <a:endParaRPr sz="1725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791450" y="5391150"/>
            <a:ext cx="161925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6A6A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A6A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把计划落到日常</a:t>
            </a:r>
            <a:endParaRPr sz="1200" b="0">
              <a:solidFill>
                <a:srgbClr val="6A6A6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28700" y="6076950"/>
            <a:ext cx="1981200" cy="19050"/>
          </a:xfrm>
          <a:prstGeom prst="rect">
            <a:avLst/>
          </a:prstGeom>
          <a:solidFill>
            <a:srgbClr val="A11B1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3429000" y="6000750"/>
            <a:ext cx="5334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/>
          <a:lstStyle/>
          <a:p>
            <a:pPr algn="ctr">
              <a:defRPr sz="14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答辩人：</a:t>
            </a:r>
            <a:r>
              <a:rPr lang="zh-CN" sz="14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梁骁</a:t>
            </a:r>
            <a:r>
              <a:rPr sz="14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     班级：</a:t>
            </a:r>
            <a:r>
              <a:rPr lang="en-US" sz="14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220614</a:t>
            </a:r>
            <a:r>
              <a:rPr sz="14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     时间：2026.06</a:t>
            </a:r>
            <a:r>
              <a:rPr lang="en-US" sz="1425" b="1">
                <a:solidFill>
                  <a:srgbClr val="A11B1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.10</a:t>
            </a:r>
            <a:endParaRPr lang="en-US" sz="1425" b="1">
              <a:solidFill>
                <a:srgbClr val="A11B1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1022</Words>
  <Application>WPS 演示</Application>
  <PresentationFormat>Converted Presentation</PresentationFormat>
  <Paragraphs>251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PingFang SC</vt:lpstr>
      <vt:lpstr>Times New Roman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梁骁</cp:lastModifiedBy>
  <cp:revision>6</cp:revision>
  <dcterms:created xsi:type="dcterms:W3CDTF">2026-06-10T10:51:23Z</dcterms:created>
  <dcterms:modified xsi:type="dcterms:W3CDTF">2026-06-10T10:51:23Z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DF31665AA9870A2CD019296A3A8D9774_42</vt:lpwstr>
  </property>
  <property fmtid="{D5CDD505-2E9C-101B-9397-08002B2CF9AE}" pid="3" name="KSOProductBuildVer">
    <vt:lpwstr>2052-7.4.1.8983</vt:lpwstr>
  </property>
</Properties>
</file>