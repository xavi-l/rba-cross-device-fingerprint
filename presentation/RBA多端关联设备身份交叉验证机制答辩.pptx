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001000" y="857250"/>
            <a:ext cx="20002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57185" y="800100"/>
            <a:ext cx="114300" cy="114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496300" y="1390650"/>
            <a:ext cx="2000250" cy="190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61375" y="1343025"/>
            <a:ext cx="114300" cy="114300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91600" y="1924050"/>
            <a:ext cx="20002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0" y="1876425"/>
            <a:ext cx="114300" cy="114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486900" y="2457450"/>
            <a:ext cx="2000250" cy="190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429750" y="2419350"/>
            <a:ext cx="114300" cy="114300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982200" y="2990850"/>
            <a:ext cx="20002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34575" y="2943225"/>
            <a:ext cx="114300" cy="114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514350"/>
            <a:ext cx="2000250" cy="285750"/>
          </a:xfrm>
          <a:prstGeom prst="rect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552450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毕业论文答辩</a:t>
            </a:r>
            <a:endParaRPr sz="105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1162050"/>
            <a:ext cx="9334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33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RBA中基于Web-WebView-Android</a:t>
            </a:r>
            <a:endParaRPr sz="33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33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多端关联的设备身份交叉验证机制研究</a:t>
            </a:r>
            <a:endParaRPr sz="33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2876550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725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Web-WebView-Android 多端关联 | 设备身份交叉验证 | RBA 风控场景</a:t>
            </a:r>
            <a:endParaRPr sz="1725" b="0">
              <a:solidFill>
                <a:srgbClr val="1E3A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90550" y="3581400"/>
            <a:ext cx="609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核心主张：本文围绕同一RBA移动端会话中的Web、WebView与Android三类证据，构建设备身份交叉验证与端侧风险评分闭环。</a:t>
            </a:r>
            <a:endParaRPr sz="15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71500" y="4953000"/>
            <a:ext cx="1809750" cy="285750"/>
          </a:xfrm>
          <a:prstGeom prst="rect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99110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三端融合采集</a:t>
            </a:r>
            <a:endParaRPr sz="1050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762250" y="4953000"/>
            <a:ext cx="1809750" cy="285750"/>
          </a:xfrm>
          <a:prstGeom prst="rect">
            <a:avLst/>
          </a:prstGeom>
          <a:solidFill>
            <a:srgbClr val="E6FA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876550" y="499110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06B6D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6B6D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session_id会话对齐</a:t>
            </a:r>
            <a:endParaRPr sz="1050" b="1">
              <a:solidFill>
                <a:srgbClr val="06B6D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953000" y="4953000"/>
            <a:ext cx="1809750" cy="285750"/>
          </a:xfrm>
          <a:prstGeom prst="rect">
            <a:avLst/>
          </a:prstGeom>
          <a:solidFill>
            <a:srgbClr val="E8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067300" y="499110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规则知识库离线标注</a:t>
            </a:r>
            <a:endParaRPr sz="1050" b="1">
              <a:solidFill>
                <a:srgbClr val="14B8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143750" y="4953000"/>
            <a:ext cx="1809750" cy="285750"/>
          </a:xfrm>
          <a:prstGeom prst="rect">
            <a:avLst/>
          </a:prstGeom>
          <a:solidFill>
            <a:srgbClr val="F1EA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58050" y="4991100"/>
            <a:ext cx="1581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7C3A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7C3A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端侧轻量评分</a:t>
            </a:r>
            <a:endParaRPr sz="1050" b="1">
              <a:solidFill>
                <a:srgbClr val="7C3A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本科毕业论文答辩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研究背景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研究背景：RBA移动应用需要识别跨层设备身份异常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690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RBA需要在用户登录、交易等关键环节判断访问环境是否可信；移动App中的Web、WebView与Android层会同时暴露设备身份线索。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2095500"/>
            <a:ext cx="3143250" cy="2381250"/>
          </a:xfrm>
          <a:prstGeom prst="rect">
            <a:avLst/>
          </a:prstGeom>
          <a:solidFill>
            <a:srgbClr val="EAF2FF"/>
          </a:solidFill>
          <a:ln w="9525">
            <a:solidFill>
              <a:srgbClr val="BFD5F3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343150"/>
            <a:ext cx="2686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Android Native</a:t>
            </a:r>
            <a:endParaRPr sz="180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914650"/>
            <a:ext cx="24955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设备型号 / 系统版本 / Build</a:t>
            </a:r>
            <a:endParaRPr sz="135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物理屏幕 / 电池 / 传感器</a:t>
            </a:r>
            <a:endParaRPr sz="135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ADB / 安全配置</a:t>
            </a:r>
            <a:endParaRPr sz="135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381500" y="2095500"/>
            <a:ext cx="3143250" cy="2381250"/>
          </a:xfrm>
          <a:prstGeom prst="rect">
            <a:avLst/>
          </a:prstGeom>
          <a:solidFill>
            <a:srgbClr val="E6FAFD"/>
          </a:solidFill>
          <a:ln w="9525">
            <a:solidFill>
              <a:srgbClr val="BFD5F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10100" y="2343150"/>
            <a:ext cx="2686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WebView 宿主</a:t>
            </a:r>
            <a:endParaRPr sz="1800" b="1">
              <a:solidFill>
                <a:srgbClr val="06B6D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05350" y="2914650"/>
            <a:ext cx="24955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JSBridge / Provider</a:t>
            </a:r>
            <a:endParaRPr sz="135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默认UA / 安装来源</a:t>
            </a:r>
            <a:endParaRPr sz="135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debuggable / SDK配置</a:t>
            </a:r>
            <a:endParaRPr sz="135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58150" y="2095500"/>
            <a:ext cx="3143250" cy="2381250"/>
          </a:xfrm>
          <a:prstGeom prst="rect">
            <a:avLst/>
          </a:prstGeom>
          <a:solidFill>
            <a:srgbClr val="E8FBF5"/>
          </a:solidFill>
          <a:ln w="9525">
            <a:solidFill>
              <a:srgbClr val="BFD5F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286750" y="2343150"/>
            <a:ext cx="2686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Web 前端</a:t>
            </a:r>
            <a:endParaRPr sz="1800" b="1">
              <a:solidFill>
                <a:srgbClr val="14B8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82000" y="2914650"/>
            <a:ext cx="24955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Navigator / DPR / 屏幕</a:t>
            </a:r>
            <a:endParaRPr sz="135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WebGL / Canvas / 时区</a:t>
            </a:r>
            <a:endParaRPr sz="135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算力挑战 / 平台暴露</a:t>
            </a:r>
            <a:endParaRPr sz="135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190750" y="4953000"/>
            <a:ext cx="7810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本研究关注同一会话内</a:t>
            </a:r>
            <a:r>
              <a:rPr lang="zh-CN" sz="22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多端</a:t>
            </a:r>
            <a:r>
              <a:rPr lang="en-US" altLang="zh-CN" sz="22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feature</a:t>
            </a:r>
            <a:r>
              <a:rPr sz="22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是否相互一致，用跨层关系识别伪造、重放和容器绕过风险。</a:t>
            </a:r>
            <a:endParaRPr sz="225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来源：论文第1章、第2章三端特征定义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意义与目的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研究意义与目的：让移动端RBA具备跨端互证能力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本研究面向移动端RBA场景，在低打扰、少外传、可解释的前提下，识别同一会话中的设备身份异常。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952625"/>
            <a:ext cx="10858500" cy="27051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952625"/>
            <a:ext cx="10858500" cy="342900"/>
          </a:xfrm>
          <a:prstGeom prst="rect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2000250"/>
            <a:ext cx="219837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维度</a:t>
            </a:r>
            <a:endParaRPr sz="112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50870" y="2000250"/>
            <a:ext cx="393573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现有挑战</a:t>
            </a:r>
            <a:endParaRPr sz="112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77100" y="2000250"/>
            <a:ext cx="415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本文目标</a:t>
            </a:r>
            <a:endParaRPr sz="112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" y="2295525"/>
            <a:ext cx="10858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2333625"/>
            <a:ext cx="219837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RBA风控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150870" y="2333625"/>
            <a:ext cx="393573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局部字段容易被伪造、重放或复用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77100" y="2333625"/>
            <a:ext cx="4152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引入三端一致性验证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847975"/>
            <a:ext cx="10858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2886075"/>
            <a:ext cx="219837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移动App环境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150870" y="2886075"/>
            <a:ext cx="393573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三端证据分散在不同运行层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277100" y="2886075"/>
            <a:ext cx="4152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用session_id对齐同一会话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6750" y="3400425"/>
            <a:ext cx="10858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3438525"/>
            <a:ext cx="219837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隐私与部署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150870" y="3438525"/>
            <a:ext cx="393573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完整指纹外传增加传输和合规压力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277100" y="3438525"/>
            <a:ext cx="4152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端侧输出风险分和解释摘要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6750" y="3952875"/>
            <a:ext cx="10858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62000" y="3990975"/>
            <a:ext cx="219837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可解释验证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150870" y="3990975"/>
            <a:ext cx="393573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复杂规则需要转化为可执行判断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277100" y="3990975"/>
            <a:ext cx="4152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离线标注训练轻量评分器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对应论文第1章研究背景、意义与目的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rev-slide3-takeaway-panel"/>
          <p:cNvSpPr>
            <a:spLocks noGrp="1"/>
          </p:cNvSpPr>
          <p:nvPr/>
        </p:nvSpPr>
        <p:spPr>
          <a:xfrm>
            <a:off x="895350" y="4933950"/>
            <a:ext cx="10401300" cy="876300"/>
          </a:xfrm>
          <a:prstGeom prst="rect">
            <a:avLst/>
          </a:prstGeom>
          <a:solidFill>
            <a:srgbClr val="F7FA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32" name="rev-slide3-takeaway-title"/>
          <p:cNvSpPr>
            <a:spLocks noGrp="1"/>
          </p:cNvSpPr>
          <p:nvPr/>
        </p:nvSpPr>
        <p:spPr>
          <a:xfrm>
            <a:off x="1162050" y="5224780"/>
            <a:ext cx="1123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</a:t>
            </a: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主线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rev-slide3-takeaway-text"/>
          <p:cNvSpPr>
            <a:spLocks noGrp="1"/>
          </p:cNvSpPr>
          <p:nvPr/>
        </p:nvSpPr>
        <p:spPr>
          <a:xfrm>
            <a:off x="2819400" y="5224780"/>
            <a:ext cx="790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围绕“同一会话是否来自同一可信设备环境”这一问题，本文完成机制设计、工程实现和实验验证。</a:t>
            </a:r>
            <a:endParaRPr sz="14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研究内容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本文完成三端关联验证机制的设计、实现与验证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研究工作围绕采集、对齐、规则化、端侧评分和实验验证五个环节展开。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828800"/>
            <a:ext cx="323850" cy="3238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1857375"/>
            <a:ext cx="32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18097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三端设备指纹采集</a:t>
            </a:r>
            <a:endParaRPr sz="15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095750" y="181927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Native / WebView / Web 分层采集并统一到同一 session_id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38250" y="2266950"/>
            <a:ext cx="9334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609850"/>
            <a:ext cx="323850" cy="3238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42950" y="2638425"/>
            <a:ext cx="32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38250" y="25908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会话合并与数据持久化</a:t>
            </a:r>
            <a:endParaRPr sz="15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95750" y="26003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支持异步上报、增量合并、原始JSON与训练JSONL共存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38250" y="3048000"/>
            <a:ext cx="9334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3390900"/>
            <a:ext cx="323850" cy="323850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2950" y="3419475"/>
            <a:ext cx="32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38250" y="33718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跨层语义规则知识库</a:t>
            </a:r>
            <a:endParaRPr sz="15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095750" y="338137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沉淀屏幕、UA、JSBridge、传感器、WebGL等一致性规则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238250" y="3829050"/>
            <a:ext cx="9334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4171950"/>
            <a:ext cx="323850" cy="3238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42950" y="4200525"/>
            <a:ext cx="32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38250" y="41529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离线标签与轻量评分器</a:t>
            </a:r>
            <a:endParaRPr sz="15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095750" y="41624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规则知识库约束大模型离线标注，再训练端侧模型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238250" y="4610100"/>
            <a:ext cx="9334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953000"/>
            <a:ext cx="323850" cy="323850"/>
          </a:xfrm>
          <a:prstGeom prst="rect">
            <a:avLst/>
          </a:prstGeom>
          <a:solidFill>
            <a:srgbClr val="1E3A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4981575"/>
            <a:ext cx="32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238250" y="49339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Android端侧评分闭环</a:t>
            </a:r>
            <a:endParaRPr sz="15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095750" y="494347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本地采集、65维编码、随机森林推理，只上传评分摘要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238250" y="5391150"/>
            <a:ext cx="9334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对应论文第2章系统设计、第3章工程实现、第4章实验分析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研究方法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技术路线：离线</a:t>
            </a:r>
            <a:r>
              <a:rPr lang="zh-CN"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提炼</a:t>
            </a: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规则，端侧完成轻量评分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整体方法由两条链路组成：离线链路负责标注和训练，在线链路负责本地验证和评分。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1752600"/>
            <a:ext cx="72390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3745" y="1771650"/>
            <a:ext cx="4600575" cy="390779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895350" y="56959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图2-1 系统总体架构：采集层、服务与数据层、规则与训练层、端侧评分层</a:t>
            </a:r>
            <a:endParaRPr sz="94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来源：thesis_materials/top_journal_figures/fig2-1_system_architecture.png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rev-slide5-panel"/>
          <p:cNvSpPr>
            <a:spLocks noGrp="1"/>
          </p:cNvSpPr>
          <p:nvPr/>
        </p:nvSpPr>
        <p:spPr>
          <a:xfrm>
            <a:off x="8305800" y="2095500"/>
            <a:ext cx="2914650" cy="3333750"/>
          </a:xfrm>
          <a:prstGeom prst="rect">
            <a:avLst/>
          </a:prstGeom>
          <a:solidFill>
            <a:srgbClr val="F7FA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44" name="rev-slide5-heading"/>
          <p:cNvSpPr>
            <a:spLocks noGrp="1"/>
          </p:cNvSpPr>
          <p:nvPr/>
        </p:nvSpPr>
        <p:spPr>
          <a:xfrm>
            <a:off x="8572500" y="23812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6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技术路线</a:t>
            </a:r>
            <a:endParaRPr sz="165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rev-slide5-dot-0"/>
          <p:cNvSpPr>
            <a:spLocks noGrp="1"/>
          </p:cNvSpPr>
          <p:nvPr/>
        </p:nvSpPr>
        <p:spPr>
          <a:xfrm>
            <a:off x="8620125" y="29908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v-slide5-head-0"/>
          <p:cNvSpPr>
            <a:spLocks noGrp="1"/>
          </p:cNvSpPr>
          <p:nvPr/>
        </p:nvSpPr>
        <p:spPr>
          <a:xfrm>
            <a:off x="8791575" y="29051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三端证据收集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rev-slide5-body-0"/>
          <p:cNvSpPr>
            <a:spLocks noGrp="1"/>
          </p:cNvSpPr>
          <p:nvPr/>
        </p:nvSpPr>
        <p:spPr>
          <a:xfrm>
            <a:off x="8791575" y="31242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Web、WebView、Android形成同一会话输入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rev-slide5-dot-1"/>
          <p:cNvSpPr>
            <a:spLocks noGrp="1"/>
          </p:cNvSpPr>
          <p:nvPr/>
        </p:nvSpPr>
        <p:spPr>
          <a:xfrm>
            <a:off x="8620125" y="3562350"/>
            <a:ext cx="66675" cy="6667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v-slide5-head-1"/>
          <p:cNvSpPr>
            <a:spLocks noGrp="1"/>
          </p:cNvSpPr>
          <p:nvPr/>
        </p:nvSpPr>
        <p:spPr>
          <a:xfrm>
            <a:off x="8791575" y="34766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会话级关系构造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rev-slide5-body-1"/>
          <p:cNvSpPr>
            <a:spLocks noGrp="1"/>
          </p:cNvSpPr>
          <p:nvPr/>
        </p:nvSpPr>
        <p:spPr>
          <a:xfrm>
            <a:off x="8791575" y="36957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把字段值转换为跨层一致性判断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rev-slide5-dot-2"/>
          <p:cNvSpPr>
            <a:spLocks noGrp="1"/>
          </p:cNvSpPr>
          <p:nvPr/>
        </p:nvSpPr>
        <p:spPr>
          <a:xfrm>
            <a:off x="8620125" y="4133850"/>
            <a:ext cx="66675" cy="66675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v-slide5-head-2"/>
          <p:cNvSpPr>
            <a:spLocks noGrp="1"/>
          </p:cNvSpPr>
          <p:nvPr/>
        </p:nvSpPr>
        <p:spPr>
          <a:xfrm>
            <a:off x="8791575" y="40481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规则知识标注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rev-slide5-body-2"/>
          <p:cNvSpPr>
            <a:spLocks noGrp="1"/>
          </p:cNvSpPr>
          <p:nvPr/>
        </p:nvSpPr>
        <p:spPr>
          <a:xfrm>
            <a:off x="8791575" y="42672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离线产出可训练、可解释的风险标签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rev-slide5-dot-3"/>
          <p:cNvSpPr>
            <a:spLocks noGrp="1"/>
          </p:cNvSpPr>
          <p:nvPr/>
        </p:nvSpPr>
        <p:spPr>
          <a:xfrm>
            <a:off x="8620125" y="47053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v-slide5-head-3"/>
          <p:cNvSpPr>
            <a:spLocks noGrp="1"/>
          </p:cNvSpPr>
          <p:nvPr/>
        </p:nvSpPr>
        <p:spPr>
          <a:xfrm>
            <a:off x="8791575" y="46196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端侧轻量验证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rev-slide5-body-3"/>
          <p:cNvSpPr>
            <a:spLocks noGrp="1"/>
          </p:cNvSpPr>
          <p:nvPr/>
        </p:nvSpPr>
        <p:spPr>
          <a:xfrm>
            <a:off x="8791575" y="48387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端侧输出风险分、等级和原因摘要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-22860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研究内容一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三端采集覆盖底层设备、宿主容器和前端运行时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这一步回答“采什么”：用三类互补证据描述同一次移动端访问环境。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1962150"/>
            <a:ext cx="2333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076450"/>
            <a:ext cx="20288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33</a:t>
            </a:r>
            <a:endParaRPr sz="210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2457450"/>
            <a:ext cx="21050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Native字段</a:t>
            </a:r>
            <a:endParaRPr sz="105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2686050"/>
            <a:ext cx="2105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设备/系统/物理环境</a:t>
            </a:r>
            <a:endParaRPr sz="79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71875" y="1962150"/>
            <a:ext cx="2333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724275" y="2076450"/>
            <a:ext cx="20288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14</a:t>
            </a:r>
            <a:endParaRPr sz="2100" b="1">
              <a:solidFill>
                <a:srgbClr val="06B6D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86175" y="2457450"/>
            <a:ext cx="21050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WebView宿主字段</a:t>
            </a:r>
            <a:endParaRPr sz="105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86175" y="2686050"/>
            <a:ext cx="2105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JSBridge/provider/安装</a:t>
            </a:r>
            <a:endParaRPr sz="79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67450" y="1962150"/>
            <a:ext cx="2333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19850" y="2076450"/>
            <a:ext cx="20288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18</a:t>
            </a:r>
            <a:endParaRPr sz="2100" b="1">
              <a:solidFill>
                <a:srgbClr val="14B8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81750" y="2457450"/>
            <a:ext cx="21050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Web前端字段</a:t>
            </a:r>
            <a:endParaRPr sz="105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81750" y="2686050"/>
            <a:ext cx="2105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Navigator/WebGL/Canvas</a:t>
            </a:r>
            <a:endParaRPr sz="79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963025" y="1962150"/>
            <a:ext cx="2333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15425" y="2076450"/>
            <a:ext cx="20288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65</a:t>
            </a:r>
            <a:endParaRPr sz="2100" b="1">
              <a:solidFill>
                <a:srgbClr val="1E3A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77325" y="2457450"/>
            <a:ext cx="21050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Raw all完整特征</a:t>
            </a:r>
            <a:endParaRPr sz="105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77325" y="2686050"/>
            <a:ext cx="2105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训练与端侧编码基线</a:t>
            </a:r>
            <a:endParaRPr sz="79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43000" y="3429000"/>
            <a:ext cx="99060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143000" y="3429000"/>
            <a:ext cx="9906000" cy="342900"/>
          </a:xfrm>
          <a:prstGeom prst="rect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238250" y="3476625"/>
            <a:ext cx="159258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特征层</a:t>
            </a:r>
            <a:endParaRPr sz="112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021330" y="3476625"/>
            <a:ext cx="436626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代表字段</a:t>
            </a:r>
            <a:endParaRPr sz="112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578090" y="3476625"/>
            <a:ext cx="337566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风控意义</a:t>
            </a:r>
            <a:endParaRPr sz="112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43000" y="3771900"/>
            <a:ext cx="9906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238250" y="3810000"/>
            <a:ext cx="159258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Native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021330" y="3810000"/>
            <a:ext cx="43662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型号、系统、屏幕、电池、传感器、ADB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578090" y="3810000"/>
            <a:ext cx="33756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描述底层设备真实性和物理环境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43000" y="4229100"/>
            <a:ext cx="9906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238250" y="4267200"/>
            <a:ext cx="159258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WebView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021330" y="4267200"/>
            <a:ext cx="43662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JSBridge、Provider、宿主UA、安装来源、debuggable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578090" y="4267200"/>
            <a:ext cx="33756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判断页面是否运行在预期App容器中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43000" y="4686300"/>
            <a:ext cx="9906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238250" y="4724400"/>
            <a:ext cx="159258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021330" y="4724400"/>
            <a:ext cx="43662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UA、DPR、WebGL、Canvas、时区、算力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578090" y="4724400"/>
            <a:ext cx="33756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描述前端脚本实际观察到的运行环境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来源：论文表4-3、表2-1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研究内容二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session_id 将异步上报合并成同一会话证据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这一步回答“怎么关联”：三端数据到达时间不同，后端按会话进行增量合并和持久化。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333625"/>
            <a:ext cx="1809750" cy="704850"/>
          </a:xfrm>
          <a:prstGeom prst="rect">
            <a:avLst/>
          </a:prstGeom>
          <a:solidFill>
            <a:srgbClr val="EAF2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24669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Native上报</a:t>
            </a:r>
            <a:endParaRPr sz="1350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2733675"/>
            <a:ext cx="1581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4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android_native_data</a:t>
            </a:r>
            <a:endParaRPr sz="94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52500" y="3476625"/>
            <a:ext cx="1809750" cy="704850"/>
          </a:xfrm>
          <a:prstGeom prst="rect">
            <a:avLst/>
          </a:prstGeom>
          <a:solidFill>
            <a:srgbClr val="E6FAFD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36099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6B6D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06B6D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WebView上报</a:t>
            </a:r>
            <a:endParaRPr sz="1350" b="1">
              <a:solidFill>
                <a:srgbClr val="06B6D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3876675"/>
            <a:ext cx="1581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4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webview_data</a:t>
            </a:r>
            <a:endParaRPr sz="94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4619625"/>
            <a:ext cx="1809750" cy="704850"/>
          </a:xfrm>
          <a:prstGeom prst="rect">
            <a:avLst/>
          </a:prstGeom>
          <a:solidFill>
            <a:srgbClr val="E8FBF5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47529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Web上报</a:t>
            </a:r>
            <a:endParaRPr sz="1350" b="1">
              <a:solidFill>
                <a:srgbClr val="14B8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5019675"/>
            <a:ext cx="1581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4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web_data</a:t>
            </a:r>
            <a:endParaRPr sz="94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333875" y="3476625"/>
            <a:ext cx="1809750" cy="704850"/>
          </a:xfrm>
          <a:prstGeom prst="rect">
            <a:avLst/>
          </a:prstGeom>
          <a:solidFill>
            <a:srgbClr val="EAF2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48175" y="36099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FastAPI接收</a:t>
            </a:r>
            <a:endParaRPr sz="135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448175" y="3876675"/>
            <a:ext cx="1581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4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/api/collect/fingerprint</a:t>
            </a:r>
            <a:endParaRPr sz="94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00875" y="3476625"/>
            <a:ext cx="1809750" cy="704850"/>
          </a:xfrm>
          <a:prstGeom prst="rect">
            <a:avLst/>
          </a:prstGeom>
          <a:solidFill>
            <a:srgbClr val="F1EAFE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115175" y="36099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7C3A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C3A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session_id合并</a:t>
            </a:r>
            <a:endParaRPr sz="1350" b="1">
              <a:solidFill>
                <a:srgbClr val="7C3A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115175" y="3876675"/>
            <a:ext cx="1581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4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增量覆盖非空字段</a:t>
            </a:r>
            <a:endParaRPr sz="94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67875" y="3476625"/>
            <a:ext cx="1809750" cy="704850"/>
          </a:xfrm>
          <a:prstGeom prst="rect">
            <a:avLst/>
          </a:prstGeom>
          <a:solidFill>
            <a:srgbClr val="F8FAFC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782175" y="36099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持久化</a:t>
            </a:r>
            <a:endParaRPr sz="135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82175" y="3876675"/>
            <a:ext cx="1581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4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merged JSON + training JSONL</a:t>
            </a:r>
            <a:endParaRPr sz="94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762250" y="2686050"/>
            <a:ext cx="11430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790950" y="2514600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›</a:t>
            </a:r>
            <a:endParaRPr sz="18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762250" y="3829050"/>
            <a:ext cx="11430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790950" y="366712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›</a:t>
            </a:r>
            <a:endParaRPr sz="18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762250" y="4972050"/>
            <a:ext cx="11430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790950" y="480123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›</a:t>
            </a:r>
            <a:endParaRPr sz="18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905250" y="3829050"/>
            <a:ext cx="428625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162425" y="366712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›</a:t>
            </a:r>
            <a:endParaRPr sz="18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143625" y="3829050"/>
            <a:ext cx="8572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896100" y="366712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›</a:t>
            </a:r>
            <a:endParaRPr sz="18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810625" y="3829050"/>
            <a:ext cx="8572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572625" y="366712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›</a:t>
            </a:r>
            <a:endParaRPr sz="18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905250" y="2686050"/>
            <a:ext cx="19050" cy="2286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81650" y="5013960"/>
            <a:ext cx="495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保留原始嵌套结构用于审计，同时展开为JSONL用于标注、训练和消融实验。</a:t>
            </a:r>
            <a:endParaRPr sz="14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来源：论文第3.2节后端会话合并策略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研究方法一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规则知识库把跨层异常转化为可解释判断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这一步回答“怎样形成判断依据”：把屏幕、UA、JSBridge、传感器和WebGL等关系</a:t>
            </a:r>
            <a:r>
              <a:rPr lang="zh-CN"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提炼</a:t>
            </a: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为规则。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905000"/>
            <a:ext cx="10820400" cy="3257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905000"/>
            <a:ext cx="10820400" cy="342900"/>
          </a:xfrm>
          <a:prstGeom prst="rect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1952625"/>
            <a:ext cx="1324356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规则类别</a:t>
            </a:r>
            <a:endParaRPr sz="9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95906" y="1952625"/>
            <a:ext cx="2622804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关联特征层</a:t>
            </a:r>
            <a:endParaRPr sz="9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109210" y="1952625"/>
            <a:ext cx="359664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规则含义</a:t>
            </a:r>
            <a:endParaRPr sz="9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896350" y="1952625"/>
            <a:ext cx="2514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风险解释</a:t>
            </a:r>
            <a:endParaRPr sz="9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2247900"/>
            <a:ext cx="108204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2286000"/>
            <a:ext cx="1324356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屏幕一致性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95906" y="2286000"/>
            <a:ext cx="2622804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Native屏幕 + Web屏幕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09210" y="2286000"/>
            <a:ext cx="35966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逻辑分辨率×DPR 应近似对应物理分辨率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896350" y="2286000"/>
            <a:ext cx="2514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偏差过大可能说明Web环境被伪造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2800350"/>
            <a:ext cx="108204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2838450"/>
            <a:ext cx="1324356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UA一致性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295906" y="2838450"/>
            <a:ext cx="2622804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Native Build + WebView UA + Web UA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09210" y="2838450"/>
            <a:ext cx="35966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系统版本、机型和内核版本应相互呼应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96350" y="2838450"/>
            <a:ext cx="2514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不一致可能说明UA改写或请求重放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3352800"/>
            <a:ext cx="108204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3390900"/>
            <a:ext cx="1324356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宿主真实性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295906" y="3390900"/>
            <a:ext cx="2622804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JSBridge + session_id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109210" y="3390900"/>
            <a:ext cx="35966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Web页面应能通过JSBridge获取同一会话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896350" y="3390900"/>
            <a:ext cx="2514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缺失可能说明外部浏览器或脚本绕过App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85800" y="3905250"/>
            <a:ext cx="108204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81050" y="3943350"/>
            <a:ext cx="1324356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物理可信性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295906" y="3943350"/>
            <a:ext cx="2622804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传感器 + 电池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109210" y="3943350"/>
            <a:ext cx="35966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真机通常具备合理传感器矩阵和动态电池状态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896350" y="3943350"/>
            <a:ext cx="2514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传感器极少或电池死值可能说明模拟器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85800" y="4457700"/>
            <a:ext cx="108204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" y="4495800"/>
            <a:ext cx="1324356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渲染环境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295906" y="4495800"/>
            <a:ext cx="2622804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WebGL + Native硬件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109210" y="4495800"/>
            <a:ext cx="35966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GPU renderer应符合移动端硬件生态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896350" y="4495800"/>
            <a:ext cx="2514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SwiftShader、Headless、PC GPU属于高风险线索</a:t>
            </a:r>
            <a:endParaRPr sz="9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来源：论文表3-2 跨层语义规则类型与风险解释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研究方法二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09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离线标注将规则语义转化为可训练标签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大模型仅参与离线训练数据标注；在线阶段由端侧轻量模型承担评分，降低部署复杂度。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1752600"/>
            <a:ext cx="72390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3275" y="1807210"/>
            <a:ext cx="4501515" cy="38798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895350" y="56959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图2-2 离线标注训练流程：三端样本 -&gt; 规则知识库 + LLM -&gt; 轻量评分器</a:t>
            </a:r>
            <a:endParaRPr sz="94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来源：thesis_materials/top_journal_figures/fig2-2_offline_label_training_flow.png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rev-slide8-panel"/>
          <p:cNvSpPr>
            <a:spLocks noGrp="1"/>
          </p:cNvSpPr>
          <p:nvPr/>
        </p:nvSpPr>
        <p:spPr>
          <a:xfrm>
            <a:off x="8305800" y="2095500"/>
            <a:ext cx="2914650" cy="3333750"/>
          </a:xfrm>
          <a:prstGeom prst="rect">
            <a:avLst/>
          </a:prstGeom>
          <a:solidFill>
            <a:srgbClr val="F7FA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44" name="rev-slide8-heading"/>
          <p:cNvSpPr>
            <a:spLocks noGrp="1"/>
          </p:cNvSpPr>
          <p:nvPr/>
        </p:nvSpPr>
        <p:spPr>
          <a:xfrm>
            <a:off x="8572500" y="23812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6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离线到在线</a:t>
            </a:r>
            <a:endParaRPr sz="165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rev-slide8-dot-0"/>
          <p:cNvSpPr>
            <a:spLocks noGrp="1"/>
          </p:cNvSpPr>
          <p:nvPr/>
        </p:nvSpPr>
        <p:spPr>
          <a:xfrm>
            <a:off x="8620125" y="29908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v-slide8-head-0"/>
          <p:cNvSpPr>
            <a:spLocks noGrp="1"/>
          </p:cNvSpPr>
          <p:nvPr/>
        </p:nvSpPr>
        <p:spPr>
          <a:xfrm>
            <a:off x="8791575" y="29051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知识库约束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rev-slide8-body-0"/>
          <p:cNvSpPr>
            <a:spLocks noGrp="1"/>
          </p:cNvSpPr>
          <p:nvPr/>
        </p:nvSpPr>
        <p:spPr>
          <a:xfrm>
            <a:off x="8791575" y="31242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跨层一致性规则为标注提供统一判断边界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rev-slide8-dot-1"/>
          <p:cNvSpPr>
            <a:spLocks noGrp="1"/>
          </p:cNvSpPr>
          <p:nvPr/>
        </p:nvSpPr>
        <p:spPr>
          <a:xfrm>
            <a:off x="8620125" y="3562350"/>
            <a:ext cx="66675" cy="6667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v-slide8-head-1"/>
          <p:cNvSpPr>
            <a:spLocks noGrp="1"/>
          </p:cNvSpPr>
          <p:nvPr/>
        </p:nvSpPr>
        <p:spPr>
          <a:xfrm>
            <a:off x="8791575" y="34766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离线标签生产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rev-slide8-body-1"/>
          <p:cNvSpPr>
            <a:spLocks noGrp="1"/>
          </p:cNvSpPr>
          <p:nvPr/>
        </p:nvSpPr>
        <p:spPr>
          <a:xfrm>
            <a:off x="8791575" y="36957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大模型参与训练数据标注，在线链路保持轻量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rev-slide8-dot-2"/>
          <p:cNvSpPr>
            <a:spLocks noGrp="1"/>
          </p:cNvSpPr>
          <p:nvPr/>
        </p:nvSpPr>
        <p:spPr>
          <a:xfrm>
            <a:off x="8620125" y="4133850"/>
            <a:ext cx="66675" cy="66675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v-slide8-head-2"/>
          <p:cNvSpPr>
            <a:spLocks noGrp="1"/>
          </p:cNvSpPr>
          <p:nvPr/>
        </p:nvSpPr>
        <p:spPr>
          <a:xfrm>
            <a:off x="8791575" y="40481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结构化风险语义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rev-slide8-body-2"/>
          <p:cNvSpPr>
            <a:spLocks noGrp="1"/>
          </p:cNvSpPr>
          <p:nvPr/>
        </p:nvSpPr>
        <p:spPr>
          <a:xfrm>
            <a:off x="8791575" y="42672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复杂异常解释被转化为可训练、可部署的标签信号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rev-slide8-dot-3"/>
          <p:cNvSpPr>
            <a:spLocks noGrp="1"/>
          </p:cNvSpPr>
          <p:nvPr/>
        </p:nvSpPr>
        <p:spPr>
          <a:xfrm>
            <a:off x="8620125" y="47053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v-slide8-head-3"/>
          <p:cNvSpPr>
            <a:spLocks noGrp="1"/>
          </p:cNvSpPr>
          <p:nvPr/>
        </p:nvSpPr>
        <p:spPr>
          <a:xfrm>
            <a:off x="8791575" y="46196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端侧模型承接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rev-slide8-body-3"/>
          <p:cNvSpPr>
            <a:spLocks noGrp="1"/>
          </p:cNvSpPr>
          <p:nvPr/>
        </p:nvSpPr>
        <p:spPr>
          <a:xfrm>
            <a:off x="8791575" y="48387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随机森林评分器吸收规则语义，并输出可解释风险分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122295" y="1818005"/>
            <a:ext cx="785495" cy="18478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143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工程实现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端侧应用完成本地采集、编码和风险分输出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端侧运行时完成三端采集和模型推理，只向服务端返回评分、等级和解释摘要。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1752600"/>
            <a:ext cx="72390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245" y="1847850"/>
            <a:ext cx="4728845" cy="37147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895350" y="5562600"/>
            <a:ext cx="685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图2-3 端侧评分运行流程：本地三端采集 -&gt; 特征编码 -&gt; 轻量模型推理 -&gt; 摘要上报</a:t>
            </a:r>
            <a:endParaRPr sz="94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来源：thesis_materials/top_journal_figures/fig2-3_on_device_scoring_flow.png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slide10-side-panel"/>
          <p:cNvSpPr>
            <a:spLocks noGrp="1"/>
          </p:cNvSpPr>
          <p:nvPr/>
        </p:nvSpPr>
        <p:spPr>
          <a:xfrm>
            <a:off x="8305800" y="2095500"/>
            <a:ext cx="2914650" cy="3124200"/>
          </a:xfrm>
          <a:prstGeom prst="rect">
            <a:avLst/>
          </a:prstGeom>
          <a:solidFill>
            <a:srgbClr val="F7FA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44" name="slide10-side-heading"/>
          <p:cNvSpPr>
            <a:spLocks noGrp="1"/>
          </p:cNvSpPr>
          <p:nvPr/>
        </p:nvSpPr>
        <p:spPr>
          <a:xfrm>
            <a:off x="8572500" y="23812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6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运行闭环</a:t>
            </a:r>
            <a:endParaRPr sz="165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slide10-side-dot-0"/>
          <p:cNvSpPr>
            <a:spLocks noGrp="1"/>
          </p:cNvSpPr>
          <p:nvPr/>
        </p:nvSpPr>
        <p:spPr>
          <a:xfrm>
            <a:off x="8620125" y="29908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slide10-side-head-0"/>
          <p:cNvSpPr>
            <a:spLocks noGrp="1"/>
          </p:cNvSpPr>
          <p:nvPr/>
        </p:nvSpPr>
        <p:spPr>
          <a:xfrm>
            <a:off x="8782050" y="2905125"/>
            <a:ext cx="2133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三端本地采集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slide10-side-body-0"/>
          <p:cNvSpPr>
            <a:spLocks noGrp="1"/>
          </p:cNvSpPr>
          <p:nvPr/>
        </p:nvSpPr>
        <p:spPr>
          <a:xfrm>
            <a:off x="8782050" y="3105150"/>
            <a:ext cx="213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Native、WebView与Web探针在端侧应用内形成同一会话输入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slide10-side-dot-1"/>
          <p:cNvSpPr>
            <a:spLocks noGrp="1"/>
          </p:cNvSpPr>
          <p:nvPr/>
        </p:nvSpPr>
        <p:spPr>
          <a:xfrm>
            <a:off x="8620125" y="3505200"/>
            <a:ext cx="66675" cy="6667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slide10-side-head-1"/>
          <p:cNvSpPr>
            <a:spLocks noGrp="1"/>
          </p:cNvSpPr>
          <p:nvPr/>
        </p:nvSpPr>
        <p:spPr>
          <a:xfrm>
            <a:off x="8782050" y="3419475"/>
            <a:ext cx="2133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65维编码约束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slide10-side-body-1"/>
          <p:cNvSpPr>
            <a:spLocks noGrp="1"/>
          </p:cNvSpPr>
          <p:nvPr/>
        </p:nvSpPr>
        <p:spPr>
          <a:xfrm>
            <a:off x="8782050" y="3619500"/>
            <a:ext cx="213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编码器按训练阶段字段顺序构造模型特征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slide10-side-dot-2"/>
          <p:cNvSpPr>
            <a:spLocks noGrp="1"/>
          </p:cNvSpPr>
          <p:nvPr/>
        </p:nvSpPr>
        <p:spPr>
          <a:xfrm>
            <a:off x="8620125" y="4019550"/>
            <a:ext cx="66675" cy="66675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slide10-side-head-2"/>
          <p:cNvSpPr>
            <a:spLocks noGrp="1"/>
          </p:cNvSpPr>
          <p:nvPr/>
        </p:nvSpPr>
        <p:spPr>
          <a:xfrm>
            <a:off x="8782050" y="3933825"/>
            <a:ext cx="2133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轻量模型评分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slide10-side-body-2"/>
          <p:cNvSpPr>
            <a:spLocks noGrp="1"/>
          </p:cNvSpPr>
          <p:nvPr/>
        </p:nvSpPr>
        <p:spPr>
          <a:xfrm>
            <a:off x="8782050" y="4133850"/>
            <a:ext cx="213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端侧评分器输出0-100风险分与风险等级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slide10-side-dot-3"/>
          <p:cNvSpPr>
            <a:spLocks noGrp="1"/>
          </p:cNvSpPr>
          <p:nvPr/>
        </p:nvSpPr>
        <p:spPr>
          <a:xfrm>
            <a:off x="8620125" y="453390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slide10-side-head-3"/>
          <p:cNvSpPr>
            <a:spLocks noGrp="1"/>
          </p:cNvSpPr>
          <p:nvPr/>
        </p:nvSpPr>
        <p:spPr>
          <a:xfrm>
            <a:off x="8782050" y="4448175"/>
            <a:ext cx="2133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摘要化上报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slide10-side-body-3"/>
          <p:cNvSpPr>
            <a:spLocks noGrp="1"/>
          </p:cNvSpPr>
          <p:nvPr/>
        </p:nvSpPr>
        <p:spPr>
          <a:xfrm>
            <a:off x="8782050" y="4648200"/>
            <a:ext cx="2133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后端接收评分、等级和解释摘要，降低原始指纹外传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10230" y="1887220"/>
            <a:ext cx="808355" cy="1962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工程实现要点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训练侧与端侧共享同一套65维特征约束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编码顺序、类别映射和缺失值处理保持一致，保证模型输入语义不偏移。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1676400"/>
            <a:ext cx="790575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2162" y="1790700"/>
            <a:ext cx="4331126" cy="39814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895350" y="5829300"/>
            <a:ext cx="752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图3-1 端侧评分模块结构</a:t>
            </a:r>
            <a:endParaRPr sz="94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来源：论文第3.6节端侧评分模块实现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实验工程设计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12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实验围绕数据来源、分组策略和评价指标展开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数据覆盖真实设备、云测环境和脚本攻击模板；分组交叉验证用于控制同源设备和攻击模板泄漏。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1752600"/>
            <a:ext cx="733425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047240"/>
            <a:ext cx="7129780" cy="332359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066800" y="5619750"/>
            <a:ext cx="695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图4实验：数据来源构成</a:t>
            </a:r>
            <a:endParaRPr sz="94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0" y="2190750"/>
            <a:ext cx="2095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724900" y="230505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1323</a:t>
            </a:r>
            <a:endParaRPr sz="2100" b="1">
              <a:solidFill>
                <a:srgbClr val="1E3A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86800" y="2686050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带风险标签样本</a:t>
            </a:r>
            <a:endParaRPr sz="105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686800" y="2914650"/>
            <a:ext cx="1866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training/scored_data.jsonl</a:t>
            </a:r>
            <a:endParaRPr sz="79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0" y="3257550"/>
            <a:ext cx="2095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724900" y="337185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286/737/300</a:t>
            </a:r>
            <a:endParaRPr sz="210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686800" y="3752850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三类来源样本</a:t>
            </a:r>
            <a:endParaRPr sz="105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86800" y="3981450"/>
            <a:ext cx="1866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physical / cloud / script</a:t>
            </a:r>
            <a:endParaRPr sz="79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72500" y="4324350"/>
            <a:ext cx="2095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724900" y="443865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65</a:t>
            </a:r>
            <a:endParaRPr sz="2100" b="1">
              <a:solidFill>
                <a:srgbClr val="14B8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686800" y="4819650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完整原始字段</a:t>
            </a:r>
            <a:endParaRPr sz="105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686800" y="5048250"/>
            <a:ext cx="1866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33 + 14 + 18</a:t>
            </a:r>
            <a:endParaRPr sz="79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来源：ablation/figures/figure_01_source_distribution.png，论文表4-1、表4-3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实验一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13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随机森林满足端侧部署约束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在小样本结构化数据、Java导出和特征重要性解释方面，随机森林更适合作为端侧评分器。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24000" y="2038350"/>
            <a:ext cx="9144000" cy="1457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524000" y="2038350"/>
            <a:ext cx="9144000" cy="342900"/>
          </a:xfrm>
          <a:prstGeom prst="rect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619250" y="2085975"/>
            <a:ext cx="1638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48050" y="2085975"/>
            <a:ext cx="127254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测试样本数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911090" y="2085975"/>
            <a:ext cx="99822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MAE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9810" y="2085975"/>
            <a:ext cx="127254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中位误差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562850" y="2085975"/>
            <a:ext cx="127254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P90误差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025890" y="2085975"/>
            <a:ext cx="154686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最大误差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524000" y="2381250"/>
            <a:ext cx="9144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619250" y="2419350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随机森林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448050" y="2419350"/>
            <a:ext cx="12725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265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911090" y="2419350"/>
            <a:ext cx="99822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1.14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9810" y="2419350"/>
            <a:ext cx="12725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1.11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562850" y="2419350"/>
            <a:ext cx="12725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2.25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25890" y="2419350"/>
            <a:ext cx="154686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6.42</a:t>
            </a:r>
            <a:endParaRPr sz="127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524000" y="2933700"/>
            <a:ext cx="9144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619250" y="2971800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浅层MLP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448050" y="2971800"/>
            <a:ext cx="12725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265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911090" y="2971800"/>
            <a:ext cx="99822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2.42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9810" y="2971800"/>
            <a:ext cx="12725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2.04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562850" y="2971800"/>
            <a:ext cx="12725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5.23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025890" y="2971800"/>
            <a:ext cx="154686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13.29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714500" y="4095750"/>
            <a:ext cx="2571750" cy="876300"/>
          </a:xfrm>
          <a:prstGeom prst="rect">
            <a:avLst/>
          </a:prstGeom>
          <a:solidFill>
            <a:srgbClr val="EAF2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952625" y="42672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部署</a:t>
            </a:r>
            <a:endParaRPr sz="1425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952625" y="45720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1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m2cgen直接导出Java，接入端侧更直接</a:t>
            </a:r>
            <a:endParaRPr sz="101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667250" y="4095750"/>
            <a:ext cx="2571750" cy="876300"/>
          </a:xfrm>
          <a:prstGeom prst="rect">
            <a:avLst/>
          </a:prstGeom>
          <a:solidFill>
            <a:srgbClr val="E6FAFD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905375" y="42672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06B6D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06B6D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数据形态</a:t>
            </a:r>
            <a:endParaRPr sz="1425" b="1">
              <a:solidFill>
                <a:srgbClr val="06B6D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905375" y="45720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1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小样本结构化数据，树模型更稳定</a:t>
            </a:r>
            <a:endParaRPr sz="101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620000" y="4095750"/>
            <a:ext cx="2571750" cy="876300"/>
          </a:xfrm>
          <a:prstGeom prst="rect">
            <a:avLst/>
          </a:prstGeom>
          <a:solidFill>
            <a:srgbClr val="E8FBF5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858125" y="42672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解释</a:t>
            </a:r>
            <a:endParaRPr sz="1425" b="1">
              <a:solidFill>
                <a:srgbClr val="14B8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858125" y="45720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1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特征重要性可反查风险来源</a:t>
            </a:r>
            <a:endParaRPr sz="101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来源：论文大纲4.6轻量评分器工程选型实验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实验二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14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三端消融说明原始字段存在代理关系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实验先按Native、WebView、Web三端粗粒度删减，观察不同证据源对评分结果的影响。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1962150"/>
            <a:ext cx="9906000" cy="27051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43000" y="1962150"/>
            <a:ext cx="9906000" cy="342900"/>
          </a:xfrm>
          <a:prstGeom prst="rect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2009775"/>
            <a:ext cx="198882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配置</a:t>
            </a:r>
            <a:endParaRPr sz="10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17570" y="2009775"/>
            <a:ext cx="99822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特征数</a:t>
            </a:r>
            <a:endParaRPr sz="10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06290" y="2009775"/>
            <a:ext cx="139446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Holdout MAE</a:t>
            </a:r>
            <a:endParaRPr sz="10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91250" y="2009775"/>
            <a:ext cx="139446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Grouped MAE</a:t>
            </a:r>
            <a:endParaRPr sz="10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776210" y="2009775"/>
            <a:ext cx="317754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解释</a:t>
            </a:r>
            <a:endParaRPr sz="10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43000" y="2305050"/>
            <a:ext cx="9906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38250" y="2343150"/>
            <a:ext cx="198882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WebView only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17570" y="2343150"/>
            <a:ext cx="99822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06290" y="2343150"/>
            <a:ext cx="139446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1.139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91250" y="2343150"/>
            <a:ext cx="139446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1.541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776210" y="2343150"/>
            <a:ext cx="31775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JSBridge、安装来源、debuggable等强规则信号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43000" y="2857500"/>
            <a:ext cx="9906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238250" y="2895600"/>
            <a:ext cx="198882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Native + WebView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417570" y="2895600"/>
            <a:ext cx="99822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47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606290" y="2895600"/>
            <a:ext cx="139446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1.129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191250" y="2895600"/>
            <a:ext cx="139446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2.202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776210" y="2895600"/>
            <a:ext cx="31775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底层设备 + 宿主容器覆盖大量标签逻辑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43000" y="3409950"/>
            <a:ext cx="9906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38250" y="3448050"/>
            <a:ext cx="198882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Native + WebView + Web</a:t>
            </a:r>
            <a:endParaRPr sz="10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17570" y="3448050"/>
            <a:ext cx="99822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65</a:t>
            </a:r>
            <a:endParaRPr sz="10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606290" y="3448050"/>
            <a:ext cx="139446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1.140</a:t>
            </a:r>
            <a:endParaRPr sz="10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191250" y="3448050"/>
            <a:ext cx="139446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2.642</a:t>
            </a:r>
            <a:endParaRPr sz="10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776210" y="3448050"/>
            <a:ext cx="31775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完整原始三端基线，但包含冗余与噪声</a:t>
            </a:r>
            <a:endParaRPr sz="109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43000" y="3962400"/>
            <a:ext cx="9906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238250" y="4000500"/>
            <a:ext cx="198882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 only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417570" y="4000500"/>
            <a:ext cx="99822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606290" y="4000500"/>
            <a:ext cx="139446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1.416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191250" y="4000500"/>
            <a:ext cx="139446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12.188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776210" y="4000500"/>
            <a:ext cx="317754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未见设备/模板下泛化最不稳定</a:t>
            </a:r>
            <a:endParaRPr sz="109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619250" y="4905375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结论：三端融合的核心价值在于把冗余字段转化为可互证、可发现矛盾的关系特征。</a:t>
            </a:r>
            <a:endParaRPr sz="165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来源：论文表4-6、表4-7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实验三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15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一致性特征把原始字段转换成关系信号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该实验检验论文核心假设：跨层关系特征是否比单纯拼接原始字段更适合表达设备身份异常。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000250"/>
            <a:ext cx="4762500" cy="1104900"/>
          </a:xfrm>
          <a:prstGeom prst="rect">
            <a:avLst/>
          </a:prstGeom>
          <a:solidFill>
            <a:srgbClr val="EAF2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43000" y="22098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Native-Web</a:t>
            </a:r>
            <a:endParaRPr sz="180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95800" y="2171700"/>
            <a:ext cx="76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</a:t>
            </a:r>
            <a:endParaRPr sz="22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43000" y="260985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型号与UA、Android版本、屏幕DPR、GPU族</a:t>
            </a:r>
            <a:endParaRPr sz="116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10300" y="2000250"/>
            <a:ext cx="4762500" cy="1104900"/>
          </a:xfrm>
          <a:prstGeom prst="rect">
            <a:avLst/>
          </a:prstGeom>
          <a:solidFill>
            <a:srgbClr val="E6FAFD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77000" y="22098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Native-WebView</a:t>
            </a:r>
            <a:endParaRPr sz="1800" b="1">
              <a:solidFill>
                <a:srgbClr val="06B6D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829800" y="2171700"/>
            <a:ext cx="76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8</a:t>
            </a:r>
            <a:endParaRPr sz="2250" b="1">
              <a:solidFill>
                <a:srgbClr val="06B6D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77000" y="260985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型号与system agent、debug/cleartext、宿主安全</a:t>
            </a:r>
            <a:endParaRPr sz="116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3524250"/>
            <a:ext cx="4762500" cy="1104900"/>
          </a:xfrm>
          <a:prstGeom prst="rect">
            <a:avLst/>
          </a:prstGeom>
          <a:solidFill>
            <a:srgbClr val="E8FBF5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43000" y="37338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WebView-Web</a:t>
            </a:r>
            <a:endParaRPr sz="1800" b="1">
              <a:solidFill>
                <a:srgbClr val="14B8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95800" y="3695700"/>
            <a:ext cx="76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5</a:t>
            </a:r>
            <a:endParaRPr sz="2250" b="1">
              <a:solidFill>
                <a:srgbClr val="14B8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43000" y="413385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Provider与UA主版本、WebView token、JSBridge</a:t>
            </a:r>
            <a:endParaRPr sz="116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10300" y="3524250"/>
            <a:ext cx="4762500" cy="1104900"/>
          </a:xfrm>
          <a:prstGeom prst="rect">
            <a:avLst/>
          </a:prstGeom>
          <a:solidFill>
            <a:srgbClr val="F1EAFE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77000" y="37338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Tri-layer semantic</a:t>
            </a:r>
            <a:endParaRPr sz="1800" b="1">
              <a:solidFill>
                <a:srgbClr val="7C3A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829800" y="3695700"/>
            <a:ext cx="76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7</a:t>
            </a:r>
            <a:endParaRPr sz="2250" b="1">
              <a:solidFill>
                <a:srgbClr val="7C3A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77000" y="413385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传感器+JSBridge、manual+时区/ADB、失败计数</a:t>
            </a:r>
            <a:endParaRPr sz="116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381250" y="5429250"/>
            <a:ext cx="742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从“字段值”转向“字段关系”：这是系统贡献进入实验指标的关键桥梁。</a:t>
            </a:r>
            <a:endParaRPr sz="165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来源：论文表4-8、表4-9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9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实验四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16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分组验证下，三端语义特征优于65维Raw all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分组交叉验证更接近未见设备和未见攻击模板场景，主结果以该设置为准。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1752600"/>
            <a:ext cx="7667625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6797" y="1866900"/>
            <a:ext cx="5992330" cy="36766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009650" y="5600700"/>
            <a:ext cx="7286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图4实验：分组版一致性消融主结果</a:t>
            </a:r>
            <a:endParaRPr sz="94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58250" y="2143125"/>
            <a:ext cx="2095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10650" y="2257425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2.281</a:t>
            </a:r>
            <a:endParaRPr sz="2100" b="1">
              <a:solidFill>
                <a:srgbClr val="7C3A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972550" y="2638425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Tri-layer MAE</a:t>
            </a:r>
            <a:endParaRPr sz="105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72550" y="2867025"/>
            <a:ext cx="1866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7个语义规则特征</a:t>
            </a:r>
            <a:endParaRPr sz="79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858250" y="3219450"/>
            <a:ext cx="2095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010650" y="333375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2.642</a:t>
            </a:r>
            <a:endParaRPr sz="210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972550" y="3714750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Raw all MAE</a:t>
            </a:r>
            <a:endParaRPr sz="105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972550" y="3943350"/>
            <a:ext cx="1866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65维原始字段</a:t>
            </a:r>
            <a:endParaRPr sz="79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858250" y="4295775"/>
            <a:ext cx="2095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010650" y="4410075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3.358</a:t>
            </a:r>
            <a:endParaRPr sz="2100" b="1">
              <a:solidFill>
                <a:srgbClr val="14B8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72550" y="4791075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Tri-layer RMSE</a:t>
            </a:r>
            <a:endParaRPr sz="105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72550" y="5019675"/>
            <a:ext cx="1866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优于Raw all 4.455</a:t>
            </a:r>
            <a:endParaRPr sz="79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来源：ablation/figures/figure_04_grouped_main_results.png，论文表4-12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0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结果解释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17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特征重要性对应跨层失败和宿主真实性信号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高权重特征可以回溯到规则知识库中的具体一致性判断，支持解释风险来源。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1752600"/>
            <a:ext cx="7239000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335" y="1771650"/>
            <a:ext cx="5414010" cy="382778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895350" y="560070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图4实验：跨层一致性特征重要性</a:t>
            </a:r>
            <a:endParaRPr sz="94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来源：ablation/figures/figure_05_consistency_feature_importance.png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rev-slide20-panel"/>
          <p:cNvSpPr>
            <a:spLocks noGrp="1"/>
          </p:cNvSpPr>
          <p:nvPr/>
        </p:nvSpPr>
        <p:spPr>
          <a:xfrm>
            <a:off x="8305800" y="2095500"/>
            <a:ext cx="2914650" cy="3333750"/>
          </a:xfrm>
          <a:prstGeom prst="rect">
            <a:avLst/>
          </a:prstGeom>
          <a:solidFill>
            <a:srgbClr val="F7FA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44" name="rev-slide20-heading"/>
          <p:cNvSpPr>
            <a:spLocks noGrp="1"/>
          </p:cNvSpPr>
          <p:nvPr/>
        </p:nvSpPr>
        <p:spPr>
          <a:xfrm>
            <a:off x="8572500" y="23812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6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风险信号来源</a:t>
            </a:r>
            <a:endParaRPr sz="165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rev-slide20-dot-0"/>
          <p:cNvSpPr>
            <a:spLocks noGrp="1"/>
          </p:cNvSpPr>
          <p:nvPr/>
        </p:nvSpPr>
        <p:spPr>
          <a:xfrm>
            <a:off x="8620125" y="29908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v-slide20-head-0"/>
          <p:cNvSpPr>
            <a:spLocks noGrp="1"/>
          </p:cNvSpPr>
          <p:nvPr/>
        </p:nvSpPr>
        <p:spPr>
          <a:xfrm>
            <a:off x="8791575" y="29051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跨层失败信号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rev-slide20-body-0"/>
          <p:cNvSpPr>
            <a:spLocks noGrp="1"/>
          </p:cNvSpPr>
          <p:nvPr/>
        </p:nvSpPr>
        <p:spPr>
          <a:xfrm>
            <a:off x="8791575" y="31242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传感器、JSBridge、UA与安装来源共同指向环境不一致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rev-slide20-dot-1"/>
          <p:cNvSpPr>
            <a:spLocks noGrp="1"/>
          </p:cNvSpPr>
          <p:nvPr/>
        </p:nvSpPr>
        <p:spPr>
          <a:xfrm>
            <a:off x="8620125" y="3562350"/>
            <a:ext cx="66675" cy="66675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v-slide20-head-1"/>
          <p:cNvSpPr>
            <a:spLocks noGrp="1"/>
          </p:cNvSpPr>
          <p:nvPr/>
        </p:nvSpPr>
        <p:spPr>
          <a:xfrm>
            <a:off x="8791575" y="34766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宿主真实性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rev-slide20-body-1"/>
          <p:cNvSpPr>
            <a:spLocks noGrp="1"/>
          </p:cNvSpPr>
          <p:nvPr/>
        </p:nvSpPr>
        <p:spPr>
          <a:xfrm>
            <a:off x="8791575" y="36957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WebView容器与Native环境的匹配关系是主要判别依据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rev-slide20-dot-2"/>
          <p:cNvSpPr>
            <a:spLocks noGrp="1"/>
          </p:cNvSpPr>
          <p:nvPr/>
        </p:nvSpPr>
        <p:spPr>
          <a:xfrm>
            <a:off x="8620125" y="4133850"/>
            <a:ext cx="66675" cy="66675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v-slide20-head-2"/>
          <p:cNvSpPr>
            <a:spLocks noGrp="1"/>
          </p:cNvSpPr>
          <p:nvPr/>
        </p:nvSpPr>
        <p:spPr>
          <a:xfrm>
            <a:off x="8791575" y="40481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规则可回溯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rev-slide20-body-2"/>
          <p:cNvSpPr>
            <a:spLocks noGrp="1"/>
          </p:cNvSpPr>
          <p:nvPr/>
        </p:nvSpPr>
        <p:spPr>
          <a:xfrm>
            <a:off x="8791575" y="42672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高权重特征可映射回规则库中的一致性判断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rev-slide20-dot-3"/>
          <p:cNvSpPr>
            <a:spLocks noGrp="1"/>
          </p:cNvSpPr>
          <p:nvPr/>
        </p:nvSpPr>
        <p:spPr>
          <a:xfrm>
            <a:off x="8620125" y="47053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v-slide20-head-3"/>
          <p:cNvSpPr>
            <a:spLocks noGrp="1"/>
          </p:cNvSpPr>
          <p:nvPr/>
        </p:nvSpPr>
        <p:spPr>
          <a:xfrm>
            <a:off x="8791575" y="46196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解释可落地</a:t>
            </a:r>
            <a:endParaRPr sz="1125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rev-slide20-body-3"/>
          <p:cNvSpPr>
            <a:spLocks noGrp="1"/>
          </p:cNvSpPr>
          <p:nvPr/>
        </p:nvSpPr>
        <p:spPr>
          <a:xfrm>
            <a:off x="8791575" y="48387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评分结果能够关联具体失败关系，支撑风险原因说明</a:t>
            </a:r>
            <a:endParaRPr sz="9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1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1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不足与展望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18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当前结论成立在原型数据和离线消融边界内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525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后续工作重点是扩大真实设备覆盖、补充人工复核标签，并增加端侧运行开销测试。</a:t>
            </a:r>
            <a:endParaRPr sz="127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1924050"/>
            <a:ext cx="10477500" cy="30861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1924050"/>
            <a:ext cx="10477500" cy="342900"/>
          </a:xfrm>
          <a:prstGeom prst="rect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1971675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方向</a:t>
            </a:r>
            <a:endParaRPr sz="112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38450" y="1971675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当前不足</a:t>
            </a:r>
            <a:endParaRPr sz="112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029450" y="1971675"/>
            <a:ext cx="421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后续改进</a:t>
            </a:r>
            <a:endParaRPr sz="1125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2266950"/>
            <a:ext cx="10477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2305050"/>
            <a:ext cx="1695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数据覆盖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838450" y="2305050"/>
            <a:ext cx="4000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真实物理设备和真实攻击链路仍不足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29450" y="2305050"/>
            <a:ext cx="42100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扩大品牌、系统、WebView内核和网络环境覆盖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250" y="2914650"/>
            <a:ext cx="10477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52500" y="2952750"/>
            <a:ext cx="1695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标签质量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838450" y="2952750"/>
            <a:ext cx="4000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规则知识库 + LLM 标签需要更多人工复核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29450" y="2952750"/>
            <a:ext cx="42100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加入抽样审核、规则版本和冲突处理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7250" y="3562350"/>
            <a:ext cx="10477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52500" y="3600450"/>
            <a:ext cx="1695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端侧评估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838450" y="3600450"/>
            <a:ext cx="4000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离线消融多于大规模真机运行开销测试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29450" y="3600450"/>
            <a:ext cx="42100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补充采集耗时、推理耗时、内存和稳定性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57250" y="4210050"/>
            <a:ext cx="104775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52500" y="4248150"/>
            <a:ext cx="1695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分组元数据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838450" y="4248150"/>
            <a:ext cx="4000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 source_type/group_id 仍依赖启发式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029450" y="4248150"/>
            <a:ext cx="42100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采集阶段显式记录设备组、模板ID和云测ID</a:t>
            </a:r>
            <a:endParaRPr sz="1125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来源：论文第4.7节、第5.3节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2-marker"/>
          <p:cNvSpPr>
            <a:spLocks noGrp="1"/>
          </p:cNvSpPr>
          <p:nvPr/>
        </p:nvSpPr>
        <p:spPr>
          <a:xfrm>
            <a:off x="533400" y="342900"/>
            <a:ext cx="3810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2-label"/>
          <p:cNvSpPr>
            <a:spLocks noGrp="1"/>
          </p:cNvSpPr>
          <p:nvPr/>
        </p:nvSpPr>
        <p:spPr>
          <a:xfrm>
            <a:off x="666750" y="295275"/>
            <a:ext cx="457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总结</a:t>
            </a:r>
            <a:endParaRPr sz="975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342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19</a:t>
            </a:r>
            <a:endParaRPr sz="825" b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723900"/>
            <a:ext cx="838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0F17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本研究完成了多端关联设备身份交叉验证机制</a:t>
            </a:r>
            <a:endParaRPr sz="2700" b="1">
              <a:solidFill>
                <a:srgbClr val="0F17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2209800"/>
            <a:ext cx="223837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2476500"/>
            <a:ext cx="17811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采集</a:t>
            </a:r>
            <a:endParaRPr sz="2250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3086100"/>
            <a:ext cx="17811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Native / WebView / Web 三端分层指纹采集</a:t>
            </a:r>
            <a:endParaRPr sz="12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09975" y="2209800"/>
            <a:ext cx="223837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838575" y="2476500"/>
            <a:ext cx="17811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06B6D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06B6D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对齐</a:t>
            </a:r>
            <a:endParaRPr sz="2250" b="1">
              <a:solidFill>
                <a:srgbClr val="06B6D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838575" y="3086100"/>
            <a:ext cx="17811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session_id 合并异步上报，保留原始与训练数据</a:t>
            </a:r>
            <a:endParaRPr sz="12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24600" y="2209800"/>
            <a:ext cx="223837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553200" y="2476500"/>
            <a:ext cx="17811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4B8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规则化</a:t>
            </a:r>
            <a:endParaRPr sz="2250" b="1">
              <a:solidFill>
                <a:srgbClr val="14B8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53200" y="3086100"/>
            <a:ext cx="17811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规则知识库约束离线标注，形成可解释风险标签</a:t>
            </a:r>
            <a:endParaRPr sz="12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39225" y="2209800"/>
            <a:ext cx="223837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0F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267825" y="2476500"/>
            <a:ext cx="17811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7C3A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7C3A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端侧化</a:t>
            </a:r>
            <a:endParaRPr sz="2250" b="1">
              <a:solidFill>
                <a:srgbClr val="7C3A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267825" y="3086100"/>
            <a:ext cx="17811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随机森林Java推理，App本地输出风险分</a:t>
            </a:r>
            <a:endParaRPr sz="1200" b="0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09750" y="476250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70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1E3A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谢谢各位老师，欢迎批评指正。</a:t>
            </a:r>
            <a:endParaRPr sz="2700" b="1">
              <a:solidFill>
                <a:srgbClr val="1E3A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33400" y="6419850"/>
            <a:ext cx="10668000" cy="9525"/>
          </a:xfrm>
          <a:prstGeom prst="rect">
            <a:avLst/>
          </a:prstGeom>
          <a:solidFill>
            <a:srgbClr val="D8E1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33400" y="651510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1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本研究 | 答辩结束</a:t>
            </a:r>
            <a:endParaRPr sz="71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5127</Words>
  <Application>WPS 演示</Application>
  <PresentationFormat>Converted Presentation</PresentationFormat>
  <Paragraphs>711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宋体</vt:lpstr>
      <vt:lpstr>Wingdings</vt:lpstr>
      <vt:lpstr>PingFang SC</vt:lpstr>
      <vt:lpstr>Aptos</vt:lpstr>
      <vt:lpstr>Helvetica Neue</vt:lpstr>
      <vt:lpstr>宋体</vt:lpstr>
      <vt:lpstr>汉仪书宋二KW</vt:lpstr>
      <vt:lpstr>微软雅黑</vt:lpstr>
      <vt:lpstr>汉仪旗黑</vt:lpstr>
      <vt:lpstr>Arial Unicode MS</vt:lpstr>
      <vt:lpstr>Calibri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梁骁</cp:lastModifiedBy>
  <cp:revision>18</cp:revision>
  <dcterms:created xsi:type="dcterms:W3CDTF">2026-06-02T12:54:57Z</dcterms:created>
  <dcterms:modified xsi:type="dcterms:W3CDTF">2026-06-02T12:54:57Z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D5C7186DF1F99A8854711E6A32AEF74B_42</vt:lpwstr>
  </property>
  <property fmtid="{D5CDD505-2E9C-101B-9397-08002B2CF9AE}" pid="3" name="KSOProductBuildVer">
    <vt:lpwstr>2052-7.4.1.8983</vt:lpwstr>
  </property>
</Properties>
</file>