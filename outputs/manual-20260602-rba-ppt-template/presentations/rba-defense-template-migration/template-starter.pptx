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295895b204022" /><Relationship Type="http://schemas.openxmlformats.org/officeDocument/2006/relationships/extended-properties" Target="/docProps/app.xml" Id="Rfb6c2a96911647d2" /><Relationship Type="http://schemas.openxmlformats.org/officeDocument/2006/relationships/officeDocument" Target="/ppt/presentation.xml" Id="Rf35cb0d64e0f4d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adf42732124971"/>
  </p:sldMasterIdLst>
  <p:notesMasterIdLst>
    <p:notesMasterId xmlns:r="http://schemas.openxmlformats.org/officeDocument/2006/relationships" r:id="Re7cc9b2523f243b5"/>
  </p:notesMasterIdLst>
  <p:sldIdLst>
    <p:sldId xmlns:r="http://schemas.openxmlformats.org/officeDocument/2006/relationships" id="256" r:id="R0675d45101f64ed3"/>
    <p:sldId xmlns:r="http://schemas.openxmlformats.org/officeDocument/2006/relationships" id="257" r:id="R6af98db2e18b43ae"/>
    <p:sldId xmlns:r="http://schemas.openxmlformats.org/officeDocument/2006/relationships" id="258" r:id="R9e9af70981e348c5"/>
    <p:sldId xmlns:r="http://schemas.openxmlformats.org/officeDocument/2006/relationships" id="259" r:id="R48a851a941d24934"/>
    <p:sldId xmlns:r="http://schemas.openxmlformats.org/officeDocument/2006/relationships" id="260" r:id="R5c5bdacfb8a04b28"/>
    <p:sldId xmlns:r="http://schemas.openxmlformats.org/officeDocument/2006/relationships" id="261" r:id="R8980707b487141a8"/>
    <p:sldId xmlns:r="http://schemas.openxmlformats.org/officeDocument/2006/relationships" id="262" r:id="R26e3047a746a433f"/>
    <p:sldId xmlns:r="http://schemas.openxmlformats.org/officeDocument/2006/relationships" id="263" r:id="R4a3dc0c018494083"/>
    <p:sldId xmlns:r="http://schemas.openxmlformats.org/officeDocument/2006/relationships" id="264" r:id="R8036cd01f2d34360"/>
    <p:sldId xmlns:r="http://schemas.openxmlformats.org/officeDocument/2006/relationships" id="265" r:id="Rf29469cb7c3e4a3a"/>
    <p:sldId xmlns:r="http://schemas.openxmlformats.org/officeDocument/2006/relationships" id="266" r:id="R06a42f3045934c06"/>
    <p:sldId xmlns:r="http://schemas.openxmlformats.org/officeDocument/2006/relationships" id="267" r:id="R34e801edfc7745e6"/>
    <p:sldId xmlns:r="http://schemas.openxmlformats.org/officeDocument/2006/relationships" id="268" r:id="Rad0b2ca7304845f0"/>
    <p:sldId xmlns:r="http://schemas.openxmlformats.org/officeDocument/2006/relationships" id="269" r:id="R0e959df800de44cd"/>
    <p:sldId xmlns:r="http://schemas.openxmlformats.org/officeDocument/2006/relationships" id="270" r:id="R5c0f5653ef924dcf"/>
    <p:sldId xmlns:r="http://schemas.openxmlformats.org/officeDocument/2006/relationships" id="271" r:id="R9dd1f0d5a0b14f39"/>
    <p:sldId xmlns:r="http://schemas.openxmlformats.org/officeDocument/2006/relationships" id="272" r:id="R3e283e08206f483b"/>
    <p:sldId xmlns:r="http://schemas.openxmlformats.org/officeDocument/2006/relationships" id="273" r:id="Rd01a9cd98e364631"/>
    <p:sldId xmlns:r="http://schemas.openxmlformats.org/officeDocument/2006/relationships" id="274" r:id="R3b63cef9b7c4426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df42732124971" /><Relationship Type="http://schemas.openxmlformats.org/officeDocument/2006/relationships/theme" Target="/ppt/theme/theme1.xml" Id="Rdc3ecc82ac084c18" /><Relationship Type="http://schemas.openxmlformats.org/officeDocument/2006/relationships/notesMaster" Target="/ppt/notesMasters/notesMaster1.xml" Id="Re7cc9b2523f243b5" /><Relationship Type="http://schemas.openxmlformats.org/officeDocument/2006/relationships/presProps" Target="/ppt/presProps.xml" Id="R2942b8a36f5345d6" /><Relationship Type="http://schemas.openxmlformats.org/officeDocument/2006/relationships/viewProps" Target="/ppt/viewProps.xml" Id="R009d9c5c496f4922" /><Relationship Type="http://schemas.openxmlformats.org/officeDocument/2006/relationships/tableStyles" Target="/ppt/tableStyles.xml" Id="R69aff5f69c6b4119" /><Relationship Type="http://schemas.openxmlformats.org/officeDocument/2006/relationships/slide" Target="/ppt/slides/slide1.xml" Id="R0675d45101f64ed3" /><Relationship Type="http://schemas.openxmlformats.org/officeDocument/2006/relationships/slide" Target="/ppt/slides/slide2.xml" Id="R6af98db2e18b43ae" /><Relationship Type="http://schemas.openxmlformats.org/officeDocument/2006/relationships/slide" Target="/ppt/slides/slide3.xml" Id="R9e9af70981e348c5" /><Relationship Type="http://schemas.openxmlformats.org/officeDocument/2006/relationships/slide" Target="/ppt/slides/slide4.xml" Id="R48a851a941d24934" /><Relationship Type="http://schemas.openxmlformats.org/officeDocument/2006/relationships/slide" Target="/ppt/slides/slide5.xml" Id="R5c5bdacfb8a04b28" /><Relationship Type="http://schemas.openxmlformats.org/officeDocument/2006/relationships/slide" Target="/ppt/slides/slide6.xml" Id="R8980707b487141a8" /><Relationship Type="http://schemas.openxmlformats.org/officeDocument/2006/relationships/slide" Target="/ppt/slides/slide7.xml" Id="R26e3047a746a433f" /><Relationship Type="http://schemas.openxmlformats.org/officeDocument/2006/relationships/slide" Target="/ppt/slides/slide8.xml" Id="R4a3dc0c018494083" /><Relationship Type="http://schemas.openxmlformats.org/officeDocument/2006/relationships/slide" Target="/ppt/slides/slide9.xml" Id="R8036cd01f2d34360" /><Relationship Type="http://schemas.openxmlformats.org/officeDocument/2006/relationships/slide" Target="/ppt/slides/slide10.xml" Id="Rf29469cb7c3e4a3a" /><Relationship Type="http://schemas.openxmlformats.org/officeDocument/2006/relationships/slide" Target="/ppt/slides/slide11.xml" Id="R06a42f3045934c06" /><Relationship Type="http://schemas.openxmlformats.org/officeDocument/2006/relationships/slide" Target="/ppt/slides/slide12.xml" Id="R34e801edfc7745e6" /><Relationship Type="http://schemas.openxmlformats.org/officeDocument/2006/relationships/slide" Target="/ppt/slides/slide13.xml" Id="Rad0b2ca7304845f0" /><Relationship Type="http://schemas.openxmlformats.org/officeDocument/2006/relationships/slide" Target="/ppt/slides/slide14.xml" Id="R0e959df800de44cd" /><Relationship Type="http://schemas.openxmlformats.org/officeDocument/2006/relationships/slide" Target="/ppt/slides/slide15.xml" Id="R5c0f5653ef924dcf" /><Relationship Type="http://schemas.openxmlformats.org/officeDocument/2006/relationships/slide" Target="/ppt/slides/slide16.xml" Id="R9dd1f0d5a0b14f39" /><Relationship Type="http://schemas.openxmlformats.org/officeDocument/2006/relationships/slide" Target="/ppt/slides/slide17.xml" Id="R3e283e08206f483b" /><Relationship Type="http://schemas.openxmlformats.org/officeDocument/2006/relationships/slide" Target="/ppt/slides/slide18.xml" Id="Rd01a9cd98e364631" /><Relationship Type="http://schemas.openxmlformats.org/officeDocument/2006/relationships/slide" Target="/ppt/slides/slide19.xml" Id="R3b63cef9b7c442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b5de0f172a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3bab1f33314dc3" /><Relationship Type="http://schemas.openxmlformats.org/officeDocument/2006/relationships/notesMaster" Target="/ppt/notesMasters/notesMaster1.xml" Id="Rebf4597e5c2944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82711a33ae489d" /><Relationship Type="http://schemas.openxmlformats.org/officeDocument/2006/relationships/notesMaster" Target="/ppt/notesMasters/notesMaster1.xml" Id="R596b25aeeab14a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f5ebb9323d4771" /><Relationship Type="http://schemas.openxmlformats.org/officeDocument/2006/relationships/notesMaster" Target="/ppt/notesMasters/notesMaster1.xml" Id="Re50644d318b34f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a04998eab049ec" /><Relationship Type="http://schemas.openxmlformats.org/officeDocument/2006/relationships/notesMaster" Target="/ppt/notesMasters/notesMaster1.xml" Id="Rbe5982664adf41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7de5b44f3c4d9f" /><Relationship Type="http://schemas.openxmlformats.org/officeDocument/2006/relationships/notesMaster" Target="/ppt/notesMasters/notesMaster1.xml" Id="Rda5d31bd572249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2a194c9fcc4fab" /><Relationship Type="http://schemas.openxmlformats.org/officeDocument/2006/relationships/notesMaster" Target="/ppt/notesMasters/notesMaster1.xml" Id="R1f80d6e0bfb642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ea261affed4d8e" /><Relationship Type="http://schemas.openxmlformats.org/officeDocument/2006/relationships/notesMaster" Target="/ppt/notesMasters/notesMaster1.xml" Id="Re9850220f7bd48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dc7604df754067" /><Relationship Type="http://schemas.openxmlformats.org/officeDocument/2006/relationships/notesMaster" Target="/ppt/notesMasters/notesMaster1.xml" Id="Rc061f00f69484c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dc882b7dc7498b" /><Relationship Type="http://schemas.openxmlformats.org/officeDocument/2006/relationships/notesMaster" Target="/ppt/notesMasters/notesMaster1.xml" Id="Rd9056bebd6604d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15ffe2a5c34190" /><Relationship Type="http://schemas.openxmlformats.org/officeDocument/2006/relationships/notesMaster" Target="/ppt/notesMasters/notesMaster1.xml" Id="R949b343086924e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d434d44f374dce" /><Relationship Type="http://schemas.openxmlformats.org/officeDocument/2006/relationships/notesMaster" Target="/ppt/notesMasters/notesMaster1.xml" Id="R862f5b2a8e794d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51c10f83974bf0" /><Relationship Type="http://schemas.openxmlformats.org/officeDocument/2006/relationships/notesMaster" Target="/ppt/notesMasters/notesMaster1.xml" Id="R1c9457c176d041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2a9e2d4a044cbc" /><Relationship Type="http://schemas.openxmlformats.org/officeDocument/2006/relationships/notesMaster" Target="/ppt/notesMasters/notesMaster1.xml" Id="R77ebed05ba9448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9dacfce2a84c75" /><Relationship Type="http://schemas.openxmlformats.org/officeDocument/2006/relationships/notesMaster" Target="/ppt/notesMasters/notesMaster1.xml" Id="R41a18194e6764a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0467f842a349fd" /><Relationship Type="http://schemas.openxmlformats.org/officeDocument/2006/relationships/notesMaster" Target="/ppt/notesMasters/notesMaster1.xml" Id="R07e1de3df3b749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67b66e3ed944f2" /><Relationship Type="http://schemas.openxmlformats.org/officeDocument/2006/relationships/notesMaster" Target="/ppt/notesMasters/notesMaster1.xml" Id="R9a4fbe77a4244b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3726a15bc64543" /><Relationship Type="http://schemas.openxmlformats.org/officeDocument/2006/relationships/notesMaster" Target="/ppt/notesMasters/notesMaster1.xml" Id="R69019d8fd9e646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52b0e559a7495b" /><Relationship Type="http://schemas.openxmlformats.org/officeDocument/2006/relationships/notesMaster" Target="/ppt/notesMasters/notesMaster1.xml" Id="R76f43202384143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72ee31ca344013" /><Relationship Type="http://schemas.openxmlformats.org/officeDocument/2006/relationships/notesMaster" Target="/ppt/notesMasters/notesMaster1.xml" Id="Racf927339d39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和上一页合并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表映射算法概述：使用</a:t>
            </a:r>
            <a:r>
              <a:rPr sz="1800"/>
              <a:t>2</a:t>
            </a:r>
            <a:r>
              <a:rPr sz="1800"/>
              <a:t>次深度优先遍历决策树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P4Runtime </a:t>
            </a:r>
            <a:r>
              <a:rPr sz="1800"/>
              <a:t>开源，</a:t>
            </a:r>
            <a:r>
              <a:rPr sz="1800"/>
              <a:t>Barefoot Runtime </a:t>
            </a:r>
            <a:r>
              <a:rPr sz="1800"/>
              <a:t>商业闭源，因此这里主要介绍 </a:t>
            </a:r>
            <a:r>
              <a:rPr sz="1800"/>
              <a:t>P4Runtime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6697aebda44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9f8c6f3314a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024d2e5cb47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21a5bcb0947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2f72647b44b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988c341ef470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eddfccc6a4eb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8643fe0964be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86c4baf9b434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3e41540884d7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9fe9c69374e3f" /></Relationships>
</file>

<file path=ppt/slideLayouts/slideLayout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41BBB7-7107-43DE-A9AE-B31E008B529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259683" y="685800"/>
            <a:ext cx="5898356" cy="24003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8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46822AD-929A-4321-8555-95585D520B9E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7774782" y="1481138"/>
            <a:ext cx="9258300" cy="73104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A3B6B88-B098-4DB6-94BB-FC5523507342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259683" y="3086100"/>
            <a:ext cx="5898356" cy="571738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A852C8-29B3-424D-A671-A3DBC78305A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F9BE33-7298-4A8D-BA2C-1E025AD35C2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05E8E25-7166-451C-881B-6D434755B8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2E285C-A839-423B-8066-885AED67B86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259683" y="685800"/>
            <a:ext cx="5898356" cy="24003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8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5C2BFE1-1337-400E-937A-86E9779F164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7774782" y="1481138"/>
            <a:ext cx="9258300" cy="731043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800"/>
            </a:lvl1pPr>
            <a:lvl2pPr>
              <a:buNone/>
              <a:defRPr sz="4200"/>
            </a:lvl2pPr>
            <a:lvl3pPr>
              <a:buNone/>
              <a:defRPr sz="3600"/>
            </a:lvl3pPr>
            <a:lvl4pPr>
              <a:buNone/>
              <a:defRPr sz="3000"/>
            </a:lvl4pPr>
            <a:lvl5pPr>
              <a:buNone/>
              <a:defRPr sz="3000"/>
            </a:lvl5pPr>
            <a:lvl6pPr>
              <a:buNone/>
              <a:defRPr sz="3000"/>
            </a:lvl6pPr>
            <a:lvl7pPr>
              <a:buNone/>
              <a:defRPr sz="3000"/>
            </a:lvl7pPr>
            <a:lvl8pPr>
              <a:buNone/>
              <a:defRPr sz="3000"/>
            </a:lvl8pPr>
            <a:lvl9pPr>
              <a:buNone/>
              <a:defRPr sz="3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C809618-0D8B-4951-A2B7-D8EDC503092A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259683" y="3086100"/>
            <a:ext cx="5898356" cy="571738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C1DB8CF-DDC7-4170-BBA9-0778202EBCA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B9130E-241B-430E-92A4-821D360629F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88D988B-C043-4DF7-A87B-5D8C9E238F4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C56A342-2DDC-4C3A-9167-5309CF5A74B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E11BE29-5A5E-4EC0-AC87-4DC58970BFA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5554900-7D26-4CC0-8B53-ECE80A40854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3702BC-F314-41C5-938E-4D9000E08E6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FEFA524-4AA4-4C85-97E2-7E1A3396FDE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14FE91E-285B-46C8-A3BF-CF8B2003810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B3DCA5D-2F2A-474B-91C9-C48A17510F2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70E9F6-F550-43F8-A60B-1195996D241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259682" y="547688"/>
            <a:ext cx="15773400" cy="198834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E6010CB-6D52-4A68-8646-52E1C2E9279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1259683" y="2521745"/>
            <a:ext cx="7736681" cy="123586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1EFA4BD-ABF3-4E29-AA4C-C660E1FDB57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1259683" y="3757613"/>
            <a:ext cx="7736681" cy="55268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C4A74E2-2177-4415-AB0D-3B59668C1E35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9258300" y="2521745"/>
            <a:ext cx="7774782" cy="123586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111FC46-DB30-4347-B39E-37A142C68719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9258300" y="3757613"/>
            <a:ext cx="7774782" cy="552688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99DF99E-78AA-4D08-9363-4A7697F6197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88A1334-DCFE-4CC3-9B5D-6463759AE0D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F1D081C-F4EB-4652-BEB2-04726CEA4E0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8A9F66E-C83D-41B2-BE79-88972F4BD8B1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FCCB17B-F568-4993-96B5-F632AEB3412F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1257300" y="2738438"/>
            <a:ext cx="7772400" cy="65270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329A3E2-539A-4A5A-AF9F-173D3F8D7A26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9258300" y="2738438"/>
            <a:ext cx="7772400" cy="652700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C409075-186B-4F6A-AF80-731F24AAC28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93C3E-2119-441D-8EE5-7FE31EDD2AC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39583CB-5057-4FE0-959F-14DE1A42822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B6EBE0E-B75D-49C3-891F-A6E567C8A9C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247775" y="2564608"/>
            <a:ext cx="15773400" cy="4279106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9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FC80F75-FB45-457E-A771-90BC6703F85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1247775" y="6884195"/>
            <a:ext cx="15773400" cy="225028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A62ABEB-1C5B-4961-A108-4DB96063386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8CC6ABA-D64E-4A4E-BBF8-49C70653455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5640B4C-BA5F-42C4-9787-223009CF5EA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79DF55-1067-4428-8BF6-7FD37D95DDE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2B42A1E-49F4-45A4-BC74-29DEC1AD6B59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26B20F-5E08-4D43-B322-A3B37383FE9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EF78AD4-3F8B-4CB6-821E-4C497CB18E9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884FAC-229E-466F-919D-7B143F13BBA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AF69485A-F51F-44FE-8A17-FB270ADCFE3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3087350" y="547688"/>
            <a:ext cx="3943350" cy="871775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76CEE20-914B-403C-B8EC-D735CFB6874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1257300" y="547688"/>
            <a:ext cx="11601450" cy="871775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D3FBCD-DA45-4F3F-8771-242D0C441AA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7382EF5-EE71-4A1A-A919-DEB5F7F8CE9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EFE2EC5-FBFA-4EED-B62A-51E0CA42BD9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0E3BE0-E56F-470E-8914-9C97521FD36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2A96885-8EEF-4788-95F1-91063A1B0FC4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20E439A-85D1-46E4-B561-A131732939A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649850A-1BEB-4778-B3E2-334A85BD3DF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CB21B3D-9D95-4B70-8E16-01AD9ABB5B7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2D5480-53C2-427C-994E-672654C7929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2286000" y="1683545"/>
            <a:ext cx="13716000" cy="35814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9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EA25F18-85E8-4EF3-9E2F-C1793071D959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2286000" y="5403057"/>
            <a:ext cx="13716000" cy="2483643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C2A9F29-3FC4-4BB7-B14D-C65A2F5F0EC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672DC3-3FD6-4F77-8AE1-9DFDE0367CA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0C0850B-8FA3-4FBC-9AAD-AA675D443BE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8b362e4ee44328" /><Relationship Type="http://schemas.openxmlformats.org/officeDocument/2006/relationships/slideLayout" Target="/ppt/slideLayouts/slideLayout2.xml" Id="Rad2574ff7a7a40a2" /><Relationship Type="http://schemas.openxmlformats.org/officeDocument/2006/relationships/slideLayout" Target="/ppt/slideLayouts/slideLayout3.xml" Id="Rd966d9587db542de" /><Relationship Type="http://schemas.openxmlformats.org/officeDocument/2006/relationships/slideLayout" Target="/ppt/slideLayouts/slideLayout4.xml" Id="R8a6af84a36104128" /><Relationship Type="http://schemas.openxmlformats.org/officeDocument/2006/relationships/slideLayout" Target="/ppt/slideLayouts/slideLayout5.xml" Id="R5bfdda23a3614685" /><Relationship Type="http://schemas.openxmlformats.org/officeDocument/2006/relationships/slideLayout" Target="/ppt/slideLayouts/slideLayout6.xml" Id="R2599ce1b64694186" /><Relationship Type="http://schemas.openxmlformats.org/officeDocument/2006/relationships/slideLayout" Target="/ppt/slideLayouts/slideLayout7.xml" Id="R24da2000cc014aad" /><Relationship Type="http://schemas.openxmlformats.org/officeDocument/2006/relationships/slideLayout" Target="/ppt/slideLayouts/slideLayout8.xml" Id="R7ebabd7092534be2" /><Relationship Type="http://schemas.openxmlformats.org/officeDocument/2006/relationships/slideLayout" Target="/ppt/slideLayouts/slideLayout9.xml" Id="R4302aede0ca144da" /><Relationship Type="http://schemas.openxmlformats.org/officeDocument/2006/relationships/slideLayout" Target="/ppt/slideLayouts/slideLayout10.xml" Id="R4bb301822cf7417d" /><Relationship Type="http://schemas.openxmlformats.org/officeDocument/2006/relationships/slideLayout" Target="/ppt/slideLayouts/slideLayout11.xml" Id="Rd6710480999049e5" /><Relationship Type="http://schemas.openxmlformats.org/officeDocument/2006/relationships/slideLayout" Target="/ppt/slideLayouts/slideLayout12.xml" Id="Ra81e8d47d3e645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97923B2-C522-4B6E-A7E5-2C09BEA4FEE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257300" y="547688"/>
            <a:ext cx="15773400" cy="1988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8C40D18-4914-40CE-A51F-6DD35A6A385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1257300" y="2738438"/>
            <a:ext cx="15773400" cy="65270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87C28A0-553B-4162-B2DA-8AF8C1B9BF00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1257300" y="9534526"/>
            <a:ext cx="4114800" cy="5476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676C595-F3D1-43B4-BE60-E5D8514D5E5D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6057900" y="9534526"/>
            <a:ext cx="6172200" cy="5476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8896077-F601-49E6-A55A-71A5C4BF7A9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2915900" y="9534526"/>
            <a:ext cx="4114800" cy="5476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2574ff7a7a40a2"/>
    <p:sldLayoutId xmlns:r="http://schemas.openxmlformats.org/officeDocument/2006/relationships" id="2147483650" r:id="Rd966d9587db542de"/>
    <p:sldLayoutId xmlns:r="http://schemas.openxmlformats.org/officeDocument/2006/relationships" id="2147483651" r:id="R8a6af84a36104128"/>
    <p:sldLayoutId xmlns:r="http://schemas.openxmlformats.org/officeDocument/2006/relationships" id="2147483652" r:id="R5bfdda23a3614685"/>
    <p:sldLayoutId xmlns:r="http://schemas.openxmlformats.org/officeDocument/2006/relationships" id="2147483653" r:id="R2599ce1b64694186"/>
    <p:sldLayoutId xmlns:r="http://schemas.openxmlformats.org/officeDocument/2006/relationships" id="2147483654" r:id="R24da2000cc014aad"/>
    <p:sldLayoutId xmlns:r="http://schemas.openxmlformats.org/officeDocument/2006/relationships" id="2147483655" r:id="R7ebabd7092534be2"/>
    <p:sldLayoutId xmlns:r="http://schemas.openxmlformats.org/officeDocument/2006/relationships" id="2147483656" r:id="R4302aede0ca144da"/>
    <p:sldLayoutId xmlns:r="http://schemas.openxmlformats.org/officeDocument/2006/relationships" id="2147483657" r:id="R4bb301822cf7417d"/>
    <p:sldLayoutId xmlns:r="http://schemas.openxmlformats.org/officeDocument/2006/relationships" id="2147483658" r:id="Rd6710480999049e5"/>
    <p:sldLayoutId xmlns:r="http://schemas.openxmlformats.org/officeDocument/2006/relationships" id="2147483659" r:id="Ra81e8d47d3e645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66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lnSpc>
          <a:spcPct val="90000"/>
        </a:lnSpc>
        <a:spcBef>
          <a:spcPts val="1500"/>
        </a:spcBef>
        <a:buChar char="•"/>
        <a:defRPr sz="4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028700" indent="-342900" algn="l">
        <a:lnSpc>
          <a:spcPct val="90000"/>
        </a:lnSpc>
        <a:spcBef>
          <a:spcPts val="750"/>
        </a:spcBef>
        <a:buChar char="•"/>
        <a:defRPr sz="3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714500" indent="-342900" algn="l">
        <a:lnSpc>
          <a:spcPct val="90000"/>
        </a:lnSpc>
        <a:spcBef>
          <a:spcPts val="750"/>
        </a:spcBef>
        <a:buChar char="•"/>
        <a:defRPr sz="3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4003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30861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7719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44577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51435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8293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574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7432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4290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41148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8006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4864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7c2d628086644e6" /><Relationship Type="http://schemas.openxmlformats.org/officeDocument/2006/relationships/image" Target="/ppt/media/image.png" Id="R42f8bf838f4d4318" /><Relationship Type="http://schemas.openxmlformats.org/officeDocument/2006/relationships/image" Target="/ppt/media/image2.png" Id="R44f08bc6189b4f7a" /><Relationship Type="http://schemas.openxmlformats.org/officeDocument/2006/relationships/notesSlide" Target="/ppt/notesSlides/notesSlide1.xml" Id="Rddf84c23f94546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cf188fa9b214370" /><Relationship Type="http://schemas.openxmlformats.org/officeDocument/2006/relationships/image" Target="/ppt/media/image3.png" Id="Ra99b35bccae74dba" /><Relationship Type="http://schemas.openxmlformats.org/officeDocument/2006/relationships/notesSlide" Target="/ppt/notesSlides/notesSlide2.xml" Id="Re181b4ef977e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de3687f6be246bc" /><Relationship Type="http://schemas.openxmlformats.org/officeDocument/2006/relationships/image" Target="/ppt/media/image4.png" Id="R4f92d7b2d8fa408d" /><Relationship Type="http://schemas.openxmlformats.org/officeDocument/2006/relationships/image" Target="/ppt/media/image5.png" Id="R900141a526cb4a6c" /><Relationship Type="http://schemas.openxmlformats.org/officeDocument/2006/relationships/notesSlide" Target="/ppt/notesSlides/notesSlide3.xml" Id="Rcab7184e442c42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98490d84224bd2" /><Relationship Type="http://schemas.openxmlformats.org/officeDocument/2006/relationships/image" Target="/ppt/media/image3.png" Id="R71cb8ed9affe4af2" /><Relationship Type="http://schemas.openxmlformats.org/officeDocument/2006/relationships/image" Target="/ppt/media/image6.png" Id="Raeddecbe0fdb4f05" /><Relationship Type="http://schemas.openxmlformats.org/officeDocument/2006/relationships/notesSlide" Target="/ppt/notesSlides/notesSlide4.xml" Id="Rd016c6f445fb46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f698fc631fb4923" /><Relationship Type="http://schemas.openxmlformats.org/officeDocument/2006/relationships/image" Target="/ppt/media/image4.png" Id="R46b801d99cd541e2" /><Relationship Type="http://schemas.openxmlformats.org/officeDocument/2006/relationships/image" Target="/ppt/media/image5.png" Id="R915636b531164007" /><Relationship Type="http://schemas.openxmlformats.org/officeDocument/2006/relationships/notesSlide" Target="/ppt/notesSlides/notesSlide5.xml" Id="Rf7471d60357b47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645247cd594bfa" /><Relationship Type="http://schemas.openxmlformats.org/officeDocument/2006/relationships/image" Target="/ppt/media/image7.png" Id="R46b4ded557194777" /><Relationship Type="http://schemas.openxmlformats.org/officeDocument/2006/relationships/image" Target="/ppt/media/image8.png" Id="R0d58e9d934c5497f" /><Relationship Type="http://schemas.openxmlformats.org/officeDocument/2006/relationships/image" Target="/ppt/media/image3.png" Id="R6cdd33ddda994a4b" /><Relationship Type="http://schemas.openxmlformats.org/officeDocument/2006/relationships/notesSlide" Target="/ppt/notesSlides/notesSlide6.xml" Id="R3fe444aba96b4d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4c2df455b484180" /><Relationship Type="http://schemas.openxmlformats.org/officeDocument/2006/relationships/image" Target="/ppt/media/image4.png" Id="R76dc985aba2c4581" /><Relationship Type="http://schemas.openxmlformats.org/officeDocument/2006/relationships/image" Target="/ppt/media/image5.png" Id="R57d2f1d08d7146ff" /><Relationship Type="http://schemas.openxmlformats.org/officeDocument/2006/relationships/notesSlide" Target="/ppt/notesSlides/notesSlide7.xml" Id="Re4affeab81a24b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719b3bf424d4293" /><Relationship Type="http://schemas.openxmlformats.org/officeDocument/2006/relationships/image" Target="/ppt/media/image3.png" Id="R037e237e2f6f422e" /><Relationship Type="http://schemas.openxmlformats.org/officeDocument/2006/relationships/image" Target="/ppt/media/image9.png" Id="R72854c849e8a4376" /><Relationship Type="http://schemas.openxmlformats.org/officeDocument/2006/relationships/notesSlide" Target="/ppt/notesSlides/notesSlide8.xml" Id="Rd13b9ccce9964a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02f7aba1eba47a7" /><Relationship Type="http://schemas.openxmlformats.org/officeDocument/2006/relationships/image" Target="/ppt/media/image4.png" Id="Rdee94a0c6b784363" /><Relationship Type="http://schemas.openxmlformats.org/officeDocument/2006/relationships/image" Target="/ppt/media/image5.png" Id="R955d957f835949fa" /><Relationship Type="http://schemas.openxmlformats.org/officeDocument/2006/relationships/notesSlide" Target="/ppt/notesSlides/notesSlide9.xml" Id="R43793bc0c1d94d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7b73fb761a47ba" /><Relationship Type="http://schemas.openxmlformats.org/officeDocument/2006/relationships/image" Target="/ppt/media/image3.png" Id="R211ea424a95944b9" /><Relationship Type="http://schemas.openxmlformats.org/officeDocument/2006/relationships/notesSlide" Target="/ppt/notesSlides/notesSlide10.xml" Id="R289a2c7bfb0e4d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c34596a45747d8" /><Relationship Type="http://schemas.openxmlformats.org/officeDocument/2006/relationships/image" Target="/ppt/media/image3.png" Id="R7b27973e101043a6" /><Relationship Type="http://schemas.openxmlformats.org/officeDocument/2006/relationships/notesSlide" Target="/ppt/notesSlides/notesSlide11.xml" Id="Rb4bb2fd406854c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3d5dff7c8c443e4" /><Relationship Type="http://schemas.openxmlformats.org/officeDocument/2006/relationships/image" Target="/ppt/media/image3.png" Id="R19ca408fc17e40a6" /><Relationship Type="http://schemas.openxmlformats.org/officeDocument/2006/relationships/image" Target="/ppt/media/image10.png" Id="R61290da25c0046c0" /><Relationship Type="http://schemas.openxmlformats.org/officeDocument/2006/relationships/notesSlide" Target="/ppt/notesSlides/notesSlide12.xml" Id="Ra94c9f52f89549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7a4ae8675ea4294" /><Relationship Type="http://schemas.openxmlformats.org/officeDocument/2006/relationships/image" Target="/ppt/media/image4.png" Id="R9d63518be9de4d54" /><Relationship Type="http://schemas.openxmlformats.org/officeDocument/2006/relationships/image" Target="/ppt/media/image5.png" Id="Rca05d7420e304c2d" /><Relationship Type="http://schemas.openxmlformats.org/officeDocument/2006/relationships/notesSlide" Target="/ppt/notesSlides/notesSlide13.xml" Id="Ra591b3bbe0f044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c3d0dd8fe344415" /><Relationship Type="http://schemas.openxmlformats.org/officeDocument/2006/relationships/image" Target="/ppt/media/image3.png" Id="R20a62a7569d74b44" /><Relationship Type="http://schemas.openxmlformats.org/officeDocument/2006/relationships/image" Target="/ppt/media/image11.png" Id="R9c3d6bcf509b4f29" /><Relationship Type="http://schemas.openxmlformats.org/officeDocument/2006/relationships/image" Target="/ppt/media/image12.png" Id="R7ad8c32a0ac149f3" /><Relationship Type="http://schemas.openxmlformats.org/officeDocument/2006/relationships/image" Target="/ppt/media/image13.png" Id="Rcb413032294b4a52" /><Relationship Type="http://schemas.openxmlformats.org/officeDocument/2006/relationships/image" Target="/ppt/media/image14.png" Id="R63f632191e784f40" /><Relationship Type="http://schemas.openxmlformats.org/officeDocument/2006/relationships/image" Target="/ppt/media/image.svg" Id="R562ed7363e00459d" /><Relationship Type="http://schemas.openxmlformats.org/officeDocument/2006/relationships/notesSlide" Target="/ppt/notesSlides/notesSlide14.xml" Id="R3b96f4fc4ce447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8e1d05b6479417b" /><Relationship Type="http://schemas.openxmlformats.org/officeDocument/2006/relationships/image" Target="/ppt/media/image3.png" Id="R349c485a528041d3" /><Relationship Type="http://schemas.openxmlformats.org/officeDocument/2006/relationships/notesSlide" Target="/ppt/notesSlides/notesSlide15.xml" Id="R3d26fe5b6b4d4a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f3e04f30b1c4867" /><Relationship Type="http://schemas.openxmlformats.org/officeDocument/2006/relationships/image" Target="/ppt/media/image15.png" Id="Rae52ee2dba4b4187" /><Relationship Type="http://schemas.openxmlformats.org/officeDocument/2006/relationships/image" Target="/ppt/media/image2.svg" Id="R5c04e9ecffea4be9" /><Relationship Type="http://schemas.openxmlformats.org/officeDocument/2006/relationships/image" Target="/ppt/media/image3.png" Id="R78c013e8437b4e46" /><Relationship Type="http://schemas.openxmlformats.org/officeDocument/2006/relationships/notesSlide" Target="/ppt/notesSlides/notesSlide16.xml" Id="R607656c172fe43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208ddeeaaa2484a" /><Relationship Type="http://schemas.openxmlformats.org/officeDocument/2006/relationships/image" Target="/ppt/media/image3.png" Id="Rd2cc2876d9074f1a" /><Relationship Type="http://schemas.openxmlformats.org/officeDocument/2006/relationships/image" Target="/ppt/media/image11.png" Id="R726ba58ee4b14c8d" /><Relationship Type="http://schemas.openxmlformats.org/officeDocument/2006/relationships/image" Target="/ppt/media/image12.png" Id="R83eb468964e84357" /><Relationship Type="http://schemas.openxmlformats.org/officeDocument/2006/relationships/image" Target="/ppt/media/image13.png" Id="Rb71436ad43f94a66" /><Relationship Type="http://schemas.openxmlformats.org/officeDocument/2006/relationships/image" Target="/ppt/media/image14.png" Id="R26f79e20664249d6" /><Relationship Type="http://schemas.openxmlformats.org/officeDocument/2006/relationships/image" Target="/ppt/media/image.svg" Id="Rd948a8c173cd4182" /><Relationship Type="http://schemas.openxmlformats.org/officeDocument/2006/relationships/notesSlide" Target="/ppt/notesSlides/notesSlide17.xml" Id="Re8e75b17179a45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af56e55e8984148" /><Relationship Type="http://schemas.openxmlformats.org/officeDocument/2006/relationships/image" Target="/ppt/media/image3.png" Id="R5a91bb9a50ab48bd" /><Relationship Type="http://schemas.openxmlformats.org/officeDocument/2006/relationships/notesSlide" Target="/ppt/notesSlides/notesSlide18.xml" Id="R398753a4177744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8d630397a4e496f" /><Relationship Type="http://schemas.openxmlformats.org/officeDocument/2006/relationships/image" Target="/ppt/media/image3.png" Id="Re67a06f150cf4591" /><Relationship Type="http://schemas.openxmlformats.org/officeDocument/2006/relationships/notesSlide" Target="/ppt/notesSlides/notesSlide19.xml" Id="R2be079706ea040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69B4449D-594D-42F1-95A7-8321E962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54252"/>
            <a:ext cx="18287999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0" b="1">
                <a:solidFill>
                  <a:srgbClr val="035BA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基于可编程数据面的在线数据包</a:t>
            </a:r>
          </a:p>
          <a:p xmlns:a="http://schemas.openxmlformats.org/drawingml/2006/main">
            <a:pPr algn="ctr">
              <a:buNone/>
            </a:pPr>
            <a:r>
              <a:rPr sz="8100" b="1">
                <a:solidFill>
                  <a:srgbClr val="035BA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过滤方法研究与实现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8F9F294-0835-4DDE-8134-06DCB140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45A39AD-BA03-409F-AFEE-BEFD691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798" y="7436227"/>
            <a:ext cx="7772400" cy="21827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36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刘伟哲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36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指导老师：李巍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36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2025</a:t>
            </a:r>
            <a:r>
              <a:rPr sz="36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36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sz="360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月</a:t>
            </a:r>
          </a:p>
        </p:txBody>
      </p:sp>
      <p:pic>
        <p:nvPicPr>
          <p:cNvPr id="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8bf838f4d431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800100"/>
            <a:ext cx="13193118" cy="2286000"/>
          </a:xfrm>
          <a:prstGeom xmlns:a="http://schemas.openxmlformats.org/drawingml/2006/main" prst="rect">
            <a:avLst/>
          </a:prstGeom>
        </p:spPr>
      </p:pic>
      <p:pic>
        <p:nvPicPr>
          <p:cNvPr id="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08bc6189b4f7a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0500"/>
            <a:ext cx="3276600" cy="3276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64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472925C3-6984-455D-B650-7FD5C475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srgbClr val="4472C4"/>
                </a:solidFill>
                <a:latin typeface="黑体"/>
                <a:ea typeface="黑体"/>
                <a:cs typeface="黑体"/>
              </a:rPr>
              <a:t>汇报目录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186B54E-4C24-42CF-A87A-196C5BDE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Freeform 15">
            <a:extLst xmlns:a="http://schemas.openxmlformats.org/drawingml/2006/main">
              <a:ext uri="{FF2B5EF4-FFF2-40B4-BE49-F238E27FC236}">
                <a16:creationId xmlns:a16="http://schemas.microsoft.com/office/drawing/2014/main" id="{7CE9C36C-CC0C-4BD4-B6B2-36945B63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177" y="2303817"/>
            <a:ext cx="4547997" cy="1733263"/>
          </a:xfrm>
          <a:custGeom xmlns:a="http://schemas.openxmlformats.org/drawingml/2006/main">
            <a:rect l="l" t="t" r="r" b="b"/>
            <a:pathLst>
              <a:path w="6063996" h="2311019">
                <a:moveTo>
                  <a:pt x="0" y="385191"/>
                </a:moveTo>
                <a:cubicBezTo>
                  <a:pt x="0" y="172466"/>
                  <a:pt x="172466" y="0"/>
                  <a:pt x="385191" y="0"/>
                </a:cubicBezTo>
                <a:lnTo>
                  <a:pt x="5678805" y="0"/>
                </a:lnTo>
                <a:cubicBezTo>
                  <a:pt x="5891530" y="0"/>
                  <a:pt x="6063996" y="172466"/>
                  <a:pt x="6063996" y="385191"/>
                </a:cubicBezTo>
                <a:lnTo>
                  <a:pt x="6063996" y="1925828"/>
                </a:lnTo>
                <a:cubicBezTo>
                  <a:pt x="6063996" y="2138553"/>
                  <a:pt x="5891530" y="2311019"/>
                  <a:pt x="5678805" y="2311019"/>
                </a:cubicBezTo>
                <a:lnTo>
                  <a:pt x="385191" y="2311019"/>
                </a:lnTo>
                <a:cubicBezTo>
                  <a:pt x="172466" y="2310892"/>
                  <a:pt x="0" y="2138553"/>
                  <a:pt x="0" y="1925828"/>
                </a:cubicBezTo>
                <a:close/>
              </a:path>
            </a:pathLst>
          </a:custGeom>
        </p:spPr>
      </p:sp>
      <p:sp>
        <p:nvSpPr>
          <p:cNvPr id="5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BAAEBCE-5123-461E-964F-F767BEF8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6751" y="2695580"/>
            <a:ext cx="949642" cy="949738"/>
          </a:xfrm>
          <a:custGeom xmlns:a="http://schemas.openxmlformats.org/drawingml/2006/main">
            <a:rect l="l" t="t" r="r" b="b"/>
            <a:pathLst>
              <a:path w="1266190" h="1266317">
                <a:moveTo>
                  <a:pt x="0" y="211074"/>
                </a:moveTo>
                <a:cubicBezTo>
                  <a:pt x="0" y="94488"/>
                  <a:pt x="94488" y="0"/>
                  <a:pt x="211074" y="0"/>
                </a:cubicBezTo>
                <a:lnTo>
                  <a:pt x="1055243" y="0"/>
                </a:lnTo>
                <a:cubicBezTo>
                  <a:pt x="1171702" y="0"/>
                  <a:pt x="1266190" y="94488"/>
                  <a:pt x="1266190" y="211074"/>
                </a:cubicBezTo>
                <a:lnTo>
                  <a:pt x="1266190" y="1055243"/>
                </a:lnTo>
                <a:cubicBezTo>
                  <a:pt x="1266190" y="1171829"/>
                  <a:pt x="1171702" y="1266317"/>
                  <a:pt x="1055116" y="1266317"/>
                </a:cubicBezTo>
                <a:lnTo>
                  <a:pt x="211074" y="1266317"/>
                </a:lnTo>
                <a:cubicBezTo>
                  <a:pt x="94488" y="1266190"/>
                  <a:pt x="0" y="1171702"/>
                  <a:pt x="0" y="1055243"/>
                </a:cubicBezTo>
                <a:close/>
              </a:path>
            </a:pathLst>
          </a:custGeom>
        </p:spPr>
      </p:sp>
      <p:sp>
        <p:nvSpPr>
          <p:cNvPr id="7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C2FC983-3DBA-469C-A7EC-8A0893F0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162" y="4665266"/>
            <a:ext cx="4547997" cy="1733263"/>
          </a:xfrm>
          <a:custGeom xmlns:a="http://schemas.openxmlformats.org/drawingml/2006/main">
            <a:rect l="l" t="t" r="r" b="b"/>
            <a:pathLst>
              <a:path w="6063996" h="2311019">
                <a:moveTo>
                  <a:pt x="0" y="385191"/>
                </a:moveTo>
                <a:cubicBezTo>
                  <a:pt x="0" y="172466"/>
                  <a:pt x="172466" y="0"/>
                  <a:pt x="385191" y="0"/>
                </a:cubicBezTo>
                <a:lnTo>
                  <a:pt x="5678805" y="0"/>
                </a:lnTo>
                <a:cubicBezTo>
                  <a:pt x="5891530" y="0"/>
                  <a:pt x="6063996" y="172466"/>
                  <a:pt x="6063996" y="385191"/>
                </a:cubicBezTo>
                <a:lnTo>
                  <a:pt x="6063996" y="1925828"/>
                </a:lnTo>
                <a:cubicBezTo>
                  <a:pt x="6063996" y="2138553"/>
                  <a:pt x="5891530" y="2311019"/>
                  <a:pt x="5678805" y="2311019"/>
                </a:cubicBezTo>
                <a:lnTo>
                  <a:pt x="385191" y="2311019"/>
                </a:lnTo>
                <a:cubicBezTo>
                  <a:pt x="172466" y="2310892"/>
                  <a:pt x="0" y="2138553"/>
                  <a:pt x="0" y="1925828"/>
                </a:cubicBezTo>
                <a:close/>
              </a:path>
            </a:pathLst>
          </a:custGeom>
        </p:spPr>
      </p:sp>
      <p:sp>
        <p:nvSpPr>
          <p:cNvPr id="11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F9765D9-2A03-45D5-8D08-90BA4CE8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6737" y="5057029"/>
            <a:ext cx="949642" cy="949738"/>
          </a:xfrm>
          <a:custGeom xmlns:a="http://schemas.openxmlformats.org/drawingml/2006/main">
            <a:rect l="l" t="t" r="r" b="b"/>
            <a:pathLst>
              <a:path w="1266190" h="1266317">
                <a:moveTo>
                  <a:pt x="0" y="211074"/>
                </a:moveTo>
                <a:cubicBezTo>
                  <a:pt x="0" y="94488"/>
                  <a:pt x="94488" y="0"/>
                  <a:pt x="211074" y="0"/>
                </a:cubicBezTo>
                <a:lnTo>
                  <a:pt x="1055243" y="0"/>
                </a:lnTo>
                <a:cubicBezTo>
                  <a:pt x="1171702" y="0"/>
                  <a:pt x="1266190" y="94488"/>
                  <a:pt x="1266190" y="211074"/>
                </a:cubicBezTo>
                <a:lnTo>
                  <a:pt x="1266190" y="1055243"/>
                </a:lnTo>
                <a:cubicBezTo>
                  <a:pt x="1266190" y="1171829"/>
                  <a:pt x="1171702" y="1266317"/>
                  <a:pt x="1055116" y="1266317"/>
                </a:cubicBezTo>
                <a:lnTo>
                  <a:pt x="211074" y="1266317"/>
                </a:lnTo>
                <a:cubicBezTo>
                  <a:pt x="94488" y="1266190"/>
                  <a:pt x="0" y="1171702"/>
                  <a:pt x="0" y="1055243"/>
                </a:cubicBezTo>
                <a:close/>
              </a:path>
            </a:pathLst>
          </a:custGeom>
        </p:spPr>
      </p:sp>
      <p:sp>
        <p:nvSpPr>
          <p:cNvPr id="13" name="Freeform 27">
            <a:extLst xmlns:a="http://schemas.openxmlformats.org/drawingml/2006/main">
              <a:ext uri="{FF2B5EF4-FFF2-40B4-BE49-F238E27FC236}">
                <a16:creationId xmlns:a16="http://schemas.microsoft.com/office/drawing/2014/main" id="{2413D5CB-0C47-48A3-AEFB-C910728D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162" y="7033038"/>
            <a:ext cx="4547997" cy="1733263"/>
          </a:xfrm>
          <a:custGeom xmlns:a="http://schemas.openxmlformats.org/drawingml/2006/main">
            <a:rect l="l" t="t" r="r" b="b"/>
            <a:pathLst>
              <a:path w="6063996" h="2311019">
                <a:moveTo>
                  <a:pt x="0" y="385191"/>
                </a:moveTo>
                <a:cubicBezTo>
                  <a:pt x="0" y="172466"/>
                  <a:pt x="172466" y="0"/>
                  <a:pt x="385191" y="0"/>
                </a:cubicBezTo>
                <a:lnTo>
                  <a:pt x="5678805" y="0"/>
                </a:lnTo>
                <a:cubicBezTo>
                  <a:pt x="5891530" y="0"/>
                  <a:pt x="6063996" y="172466"/>
                  <a:pt x="6063996" y="385191"/>
                </a:cubicBezTo>
                <a:lnTo>
                  <a:pt x="6063996" y="1925828"/>
                </a:lnTo>
                <a:cubicBezTo>
                  <a:pt x="6063996" y="2138553"/>
                  <a:pt x="5891530" y="2311019"/>
                  <a:pt x="5678805" y="2311019"/>
                </a:cubicBezTo>
                <a:lnTo>
                  <a:pt x="385191" y="2311019"/>
                </a:lnTo>
                <a:cubicBezTo>
                  <a:pt x="172466" y="2310892"/>
                  <a:pt x="0" y="2138553"/>
                  <a:pt x="0" y="1925828"/>
                </a:cubicBezTo>
                <a:close/>
              </a:path>
            </a:pathLst>
          </a:custGeom>
        </p:spPr>
      </p:sp>
      <p:sp>
        <p:nvSpPr>
          <p:cNvPr id="16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3C632F3-77F4-4947-93D8-DAD7AE4B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6737" y="7424801"/>
            <a:ext cx="949642" cy="949738"/>
          </a:xfrm>
          <a:custGeom xmlns:a="http://schemas.openxmlformats.org/drawingml/2006/main">
            <a:rect l="l" t="t" r="r" b="b"/>
            <a:pathLst>
              <a:path w="1266190" h="1266317">
                <a:moveTo>
                  <a:pt x="0" y="211074"/>
                </a:moveTo>
                <a:cubicBezTo>
                  <a:pt x="0" y="94488"/>
                  <a:pt x="94488" y="0"/>
                  <a:pt x="211074" y="0"/>
                </a:cubicBezTo>
                <a:lnTo>
                  <a:pt x="1055243" y="0"/>
                </a:lnTo>
                <a:cubicBezTo>
                  <a:pt x="1171702" y="0"/>
                  <a:pt x="1266190" y="94488"/>
                  <a:pt x="1266190" y="211074"/>
                </a:cubicBezTo>
                <a:lnTo>
                  <a:pt x="1266190" y="1055243"/>
                </a:lnTo>
                <a:cubicBezTo>
                  <a:pt x="1266190" y="1171829"/>
                  <a:pt x="1171702" y="1266317"/>
                  <a:pt x="1055116" y="1266317"/>
                </a:cubicBezTo>
                <a:lnTo>
                  <a:pt x="211074" y="1266317"/>
                </a:lnTo>
                <a:cubicBezTo>
                  <a:pt x="94488" y="1266190"/>
                  <a:pt x="0" y="1171702"/>
                  <a:pt x="0" y="1055243"/>
                </a:cubicBezTo>
                <a:close/>
              </a:path>
            </a:pathLst>
          </a:custGeom>
        </p:spPr>
      </p:sp>
      <p:sp>
        <p:nvSpPr>
          <p:cNvPr id="18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0535F80-5FE0-4C3B-920C-8B6AD19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555" y="2303869"/>
            <a:ext cx="4547997" cy="1733263"/>
          </a:xfrm>
          <a:custGeom xmlns:a="http://schemas.openxmlformats.org/drawingml/2006/main">
            <a:rect l="l" t="t" r="r" b="b"/>
            <a:pathLst>
              <a:path w="6063996" h="2311019">
                <a:moveTo>
                  <a:pt x="0" y="385191"/>
                </a:moveTo>
                <a:cubicBezTo>
                  <a:pt x="0" y="172466"/>
                  <a:pt x="172466" y="0"/>
                  <a:pt x="385191" y="0"/>
                </a:cubicBezTo>
                <a:lnTo>
                  <a:pt x="5678805" y="0"/>
                </a:lnTo>
                <a:cubicBezTo>
                  <a:pt x="5891530" y="0"/>
                  <a:pt x="6063996" y="172466"/>
                  <a:pt x="6063996" y="385191"/>
                </a:cubicBezTo>
                <a:lnTo>
                  <a:pt x="6063996" y="1925828"/>
                </a:lnTo>
                <a:cubicBezTo>
                  <a:pt x="6063996" y="2138553"/>
                  <a:pt x="5891530" y="2311019"/>
                  <a:pt x="5678805" y="2311019"/>
                </a:cubicBezTo>
                <a:lnTo>
                  <a:pt x="385191" y="2311019"/>
                </a:lnTo>
                <a:cubicBezTo>
                  <a:pt x="172466" y="2310892"/>
                  <a:pt x="0" y="2138553"/>
                  <a:pt x="0" y="1925828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BE1C2CD-C627-48FE-8A91-CD46A1B7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4146" y="2695632"/>
            <a:ext cx="949642" cy="949738"/>
          </a:xfrm>
          <a:custGeom xmlns:a="http://schemas.openxmlformats.org/drawingml/2006/main">
            <a:rect l="l" t="t" r="r" b="b"/>
            <a:pathLst>
              <a:path w="1266190" h="1266317">
                <a:moveTo>
                  <a:pt x="0" y="211074"/>
                </a:moveTo>
                <a:cubicBezTo>
                  <a:pt x="0" y="94488"/>
                  <a:pt x="94488" y="0"/>
                  <a:pt x="211074" y="0"/>
                </a:cubicBezTo>
                <a:lnTo>
                  <a:pt x="1055243" y="0"/>
                </a:lnTo>
                <a:cubicBezTo>
                  <a:pt x="1171702" y="0"/>
                  <a:pt x="1266190" y="94488"/>
                  <a:pt x="1266190" y="211074"/>
                </a:cubicBezTo>
                <a:lnTo>
                  <a:pt x="1266190" y="1055243"/>
                </a:lnTo>
                <a:cubicBezTo>
                  <a:pt x="1266190" y="1171829"/>
                  <a:pt x="1171702" y="1266317"/>
                  <a:pt x="1055116" y="1266317"/>
                </a:cubicBezTo>
                <a:lnTo>
                  <a:pt x="211074" y="1266317"/>
                </a:lnTo>
                <a:cubicBezTo>
                  <a:pt x="94488" y="1266190"/>
                  <a:pt x="0" y="1171702"/>
                  <a:pt x="0" y="1055243"/>
                </a:cubicBezTo>
                <a:close/>
              </a:path>
            </a:pathLst>
          </a:custGeom>
        </p:spPr>
      </p:sp>
      <p:sp>
        <p:nvSpPr>
          <p:cNvPr id="21" name="TextBox 75">
            <a:extLst xmlns:a="http://schemas.openxmlformats.org/drawingml/2006/main">
              <a:ext uri="{FF2B5EF4-FFF2-40B4-BE49-F238E27FC236}">
                <a16:creationId xmlns:a16="http://schemas.microsoft.com/office/drawing/2014/main" id="{D1D86390-ED02-495F-8716-263A80A9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35" y="2851336"/>
            <a:ext cx="1052719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FFFFFF"/>
                </a:solidFill>
                <a:latin typeface="字由点字典黑 65J"/>
                <a:ea typeface="字由点字典黑 65J"/>
                <a:cs typeface="字由点字典黑 65J"/>
              </a:rPr>
              <a:t>1</a:t>
            </a:r>
          </a:p>
        </p:txBody>
      </p:sp>
      <p:sp>
        <p:nvSpPr>
          <p:cNvPr id="22" name="TextBox 76">
            <a:extLst xmlns:a="http://schemas.openxmlformats.org/drawingml/2006/main">
              <a:ext uri="{FF2B5EF4-FFF2-40B4-BE49-F238E27FC236}">
                <a16:creationId xmlns:a16="http://schemas.microsoft.com/office/drawing/2014/main" id="{EDB9F3CB-9571-48DE-828F-71873C22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064" y="2882020"/>
            <a:ext cx="3231654" cy="64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005BAB"/>
                </a:solidFill>
              </a:rPr>
              <a:t>绪论</a:t>
            </a:r>
          </a:p>
        </p:txBody>
      </p:sp>
      <p:sp>
        <p:nvSpPr>
          <p:cNvPr id="23" name="TextBox 78">
            <a:extLst xmlns:a="http://schemas.openxmlformats.org/drawingml/2006/main">
              <a:ext uri="{FF2B5EF4-FFF2-40B4-BE49-F238E27FC236}">
                <a16:creationId xmlns:a16="http://schemas.microsoft.com/office/drawing/2014/main" id="{88AC4B65-119A-472D-A1FE-7F87D1ED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1" y="5212785"/>
            <a:ext cx="105272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FFFFFF"/>
                </a:solidFill>
                <a:latin typeface="字由点字典黑 65J"/>
                <a:ea typeface="字由点字典黑 65J"/>
                <a:cs typeface="字由点字典黑 65J"/>
              </a:rPr>
              <a:t>2</a:t>
            </a:r>
          </a:p>
        </p:txBody>
      </p:sp>
      <p:sp>
        <p:nvSpPr>
          <p:cNvPr id="24" name="TextBox 79">
            <a:extLst xmlns:a="http://schemas.openxmlformats.org/drawingml/2006/main">
              <a:ext uri="{FF2B5EF4-FFF2-40B4-BE49-F238E27FC236}">
                <a16:creationId xmlns:a16="http://schemas.microsoft.com/office/drawing/2014/main" id="{A1061D29-4795-408C-A220-3073ECFF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879" y="5224142"/>
            <a:ext cx="3500336" cy="64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005BAB"/>
                </a:solidFill>
              </a:rPr>
              <a:t>相关技术介绍</a:t>
            </a:r>
          </a:p>
        </p:txBody>
      </p:sp>
      <p:sp>
        <p:nvSpPr>
          <p:cNvPr id="25" name="TextBox 81">
            <a:extLst xmlns:a="http://schemas.openxmlformats.org/drawingml/2006/main">
              <a:ext uri="{FF2B5EF4-FFF2-40B4-BE49-F238E27FC236}">
                <a16:creationId xmlns:a16="http://schemas.microsoft.com/office/drawing/2014/main" id="{16866F66-1757-4EC2-BAF1-0EE54591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221" y="7580557"/>
            <a:ext cx="1052719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FFFFFF"/>
                </a:solidFill>
                <a:latin typeface="字由点字典黑 65J"/>
                <a:ea typeface="字由点字典黑 65J"/>
                <a:cs typeface="字由点字典黑 65J"/>
              </a:rPr>
              <a:t>3</a:t>
            </a:r>
          </a:p>
        </p:txBody>
      </p:sp>
      <p:sp>
        <p:nvSpPr>
          <p:cNvPr id="26" name="TextBox 82">
            <a:extLst xmlns:a="http://schemas.openxmlformats.org/drawingml/2006/main">
              <a:ext uri="{FF2B5EF4-FFF2-40B4-BE49-F238E27FC236}">
                <a16:creationId xmlns:a16="http://schemas.microsoft.com/office/drawing/2014/main" id="{8A251485-BDF5-4164-ABD1-9F3B0BAC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220" y="7341982"/>
            <a:ext cx="3231654" cy="12824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005BAB"/>
                </a:solidFill>
              </a:rPr>
              <a:t>系统设计与总体架构</a:t>
            </a:r>
          </a:p>
        </p:txBody>
      </p:sp>
      <p:sp>
        <p:nvSpPr>
          <p:cNvPr id="27" name="TextBox 84">
            <a:extLst xmlns:a="http://schemas.openxmlformats.org/drawingml/2006/main">
              <a:ext uri="{FF2B5EF4-FFF2-40B4-BE49-F238E27FC236}">
                <a16:creationId xmlns:a16="http://schemas.microsoft.com/office/drawing/2014/main" id="{90DCCBC0-1F6E-4725-83D7-58E4C36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630" y="2851388"/>
            <a:ext cx="105272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FFFFFF"/>
                </a:solidFill>
                <a:latin typeface="字由点字典黑 65J"/>
                <a:ea typeface="字由点字典黑 65J"/>
                <a:cs typeface="字由点字典黑 65J"/>
              </a:rPr>
              <a:t>4</a:t>
            </a:r>
          </a:p>
        </p:txBody>
      </p:sp>
      <p:sp>
        <p:nvSpPr>
          <p:cNvPr id="28" name="TextBox 85">
            <a:extLst xmlns:a="http://schemas.openxmlformats.org/drawingml/2006/main">
              <a:ext uri="{FF2B5EF4-FFF2-40B4-BE49-F238E27FC236}">
                <a16:creationId xmlns:a16="http://schemas.microsoft.com/office/drawing/2014/main" id="{26C747AA-87CC-4425-8DED-C4B38290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394" y="2559407"/>
            <a:ext cx="3231654" cy="12824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005BAB"/>
                </a:solidFill>
              </a:rPr>
              <a:t>关键模块设计与实现</a:t>
            </a:r>
          </a:p>
        </p:txBody>
      </p:sp>
      <p:sp>
        <p:nvSpPr>
          <p:cNvPr id="32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9094DA0-F368-4E71-B63A-463A8645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540" y="4670882"/>
            <a:ext cx="4547997" cy="1733263"/>
          </a:xfrm>
          <a:custGeom xmlns:a="http://schemas.openxmlformats.org/drawingml/2006/main">
            <a:rect l="l" t="t" r="r" b="b"/>
            <a:pathLst>
              <a:path w="6063996" h="2311019">
                <a:moveTo>
                  <a:pt x="0" y="385191"/>
                </a:moveTo>
                <a:cubicBezTo>
                  <a:pt x="0" y="172466"/>
                  <a:pt x="172466" y="0"/>
                  <a:pt x="385191" y="0"/>
                </a:cubicBezTo>
                <a:lnTo>
                  <a:pt x="5678805" y="0"/>
                </a:lnTo>
                <a:cubicBezTo>
                  <a:pt x="5891530" y="0"/>
                  <a:pt x="6063996" y="172466"/>
                  <a:pt x="6063996" y="385191"/>
                </a:cubicBezTo>
                <a:lnTo>
                  <a:pt x="6063996" y="1925828"/>
                </a:lnTo>
                <a:cubicBezTo>
                  <a:pt x="6063996" y="2138553"/>
                  <a:pt x="5891530" y="2311019"/>
                  <a:pt x="5678805" y="2311019"/>
                </a:cubicBezTo>
                <a:lnTo>
                  <a:pt x="385191" y="2311019"/>
                </a:lnTo>
                <a:cubicBezTo>
                  <a:pt x="172466" y="2310892"/>
                  <a:pt x="0" y="2138553"/>
                  <a:pt x="0" y="1925828"/>
                </a:cubicBezTo>
                <a:close/>
              </a:path>
            </a:pathLst>
          </a:custGeom>
        </p:spPr>
      </p:sp>
      <p:sp>
        <p:nvSpPr>
          <p:cNvPr id="34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5E034B3-C558-4662-A537-9570360E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4131" y="5062645"/>
            <a:ext cx="949642" cy="949738"/>
          </a:xfrm>
          <a:custGeom xmlns:a="http://schemas.openxmlformats.org/drawingml/2006/main">
            <a:rect l="l" t="t" r="r" b="b"/>
            <a:pathLst>
              <a:path w="1266190" h="1266317">
                <a:moveTo>
                  <a:pt x="0" y="211074"/>
                </a:moveTo>
                <a:cubicBezTo>
                  <a:pt x="0" y="94488"/>
                  <a:pt x="94488" y="0"/>
                  <a:pt x="211074" y="0"/>
                </a:cubicBezTo>
                <a:lnTo>
                  <a:pt x="1055243" y="0"/>
                </a:lnTo>
                <a:cubicBezTo>
                  <a:pt x="1171702" y="0"/>
                  <a:pt x="1266190" y="94488"/>
                  <a:pt x="1266190" y="211074"/>
                </a:cubicBezTo>
                <a:lnTo>
                  <a:pt x="1266190" y="1055243"/>
                </a:lnTo>
                <a:cubicBezTo>
                  <a:pt x="1266190" y="1171829"/>
                  <a:pt x="1171702" y="1266317"/>
                  <a:pt x="1055116" y="1266317"/>
                </a:cubicBezTo>
                <a:lnTo>
                  <a:pt x="211074" y="1266317"/>
                </a:lnTo>
                <a:cubicBezTo>
                  <a:pt x="94488" y="1266190"/>
                  <a:pt x="0" y="1171702"/>
                  <a:pt x="0" y="1055243"/>
                </a:cubicBezTo>
                <a:close/>
              </a:path>
            </a:pathLst>
          </a:custGeom>
        </p:spPr>
      </p:sp>
      <p:sp>
        <p:nvSpPr>
          <p:cNvPr id="35" name="TextBox 84">
            <a:extLst xmlns:a="http://schemas.openxmlformats.org/drawingml/2006/main">
              <a:ext uri="{FF2B5EF4-FFF2-40B4-BE49-F238E27FC236}">
                <a16:creationId xmlns:a16="http://schemas.microsoft.com/office/drawing/2014/main" id="{03E1A9B8-7803-498B-AB6A-FAD99A1B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615" y="5218401"/>
            <a:ext cx="105272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FFFFFF"/>
                </a:solidFill>
                <a:latin typeface="字由点字典黑 65J"/>
                <a:ea typeface="字由点字典黑 65J"/>
                <a:cs typeface="字由点字典黑 65J"/>
              </a:rPr>
              <a:t>5</a:t>
            </a:r>
          </a:p>
        </p:txBody>
      </p:sp>
      <p:sp>
        <p:nvSpPr>
          <p:cNvPr id="36" name="TextBox 85">
            <a:extLst xmlns:a="http://schemas.openxmlformats.org/drawingml/2006/main">
              <a:ext uri="{FF2B5EF4-FFF2-40B4-BE49-F238E27FC236}">
                <a16:creationId xmlns:a16="http://schemas.microsoft.com/office/drawing/2014/main" id="{1EE9F540-74CA-436C-82B4-8EF6F7BE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947" y="5228816"/>
            <a:ext cx="3231654" cy="64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005BAB"/>
                </a:solidFill>
              </a:rPr>
              <a:t>实验分析</a:t>
            </a:r>
          </a:p>
        </p:txBody>
      </p:sp>
      <p:pic>
        <p:nvPicPr>
          <p:cNvPr id="37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b35bccae74d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sp>
        <p:nvSpPr>
          <p:cNvPr id="37" name="Freeform 33">
            <a:extLst xmlns:a="http://schemas.openxmlformats.org/drawingml/2006/main">
              <a:ext uri="{FF2B5EF4-FFF2-40B4-BE49-F238E27FC236}">
                <a16:creationId xmlns:a16="http://schemas.microsoft.com/office/drawing/2014/main" id="{EAF2AD9B-F3A1-4642-A66B-2C060DB3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540" y="7038340"/>
            <a:ext cx="4547997" cy="1733263"/>
          </a:xfrm>
          <a:custGeom xmlns:a="http://schemas.openxmlformats.org/drawingml/2006/main">
            <a:rect l="l" t="t" r="r" b="b"/>
            <a:pathLst>
              <a:path w="6063996" h="2311019">
                <a:moveTo>
                  <a:pt x="0" y="385191"/>
                </a:moveTo>
                <a:cubicBezTo>
                  <a:pt x="0" y="172466"/>
                  <a:pt x="172466" y="0"/>
                  <a:pt x="385191" y="0"/>
                </a:cubicBezTo>
                <a:lnTo>
                  <a:pt x="5678805" y="0"/>
                </a:lnTo>
                <a:cubicBezTo>
                  <a:pt x="5891530" y="0"/>
                  <a:pt x="6063996" y="172466"/>
                  <a:pt x="6063996" y="385191"/>
                </a:cubicBezTo>
                <a:lnTo>
                  <a:pt x="6063996" y="1925828"/>
                </a:lnTo>
                <a:cubicBezTo>
                  <a:pt x="6063996" y="2138553"/>
                  <a:pt x="5891530" y="2311019"/>
                  <a:pt x="5678805" y="2311019"/>
                </a:cubicBezTo>
                <a:lnTo>
                  <a:pt x="385191" y="2311019"/>
                </a:lnTo>
                <a:cubicBezTo>
                  <a:pt x="172466" y="2310892"/>
                  <a:pt x="0" y="2138553"/>
                  <a:pt x="0" y="1925828"/>
                </a:cubicBezTo>
                <a:close/>
              </a:path>
            </a:pathLst>
          </a:custGeom>
        </p:spPr>
      </p:sp>
      <p:sp>
        <p:nvSpPr>
          <p:cNvPr id="39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56EA80E-CF85-458B-BE12-04511DC2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4131" y="7430103"/>
            <a:ext cx="949642" cy="949738"/>
          </a:xfrm>
          <a:custGeom xmlns:a="http://schemas.openxmlformats.org/drawingml/2006/main">
            <a:rect l="l" t="t" r="r" b="b"/>
            <a:pathLst>
              <a:path w="1266190" h="1266317">
                <a:moveTo>
                  <a:pt x="0" y="211074"/>
                </a:moveTo>
                <a:cubicBezTo>
                  <a:pt x="0" y="94488"/>
                  <a:pt x="94488" y="0"/>
                  <a:pt x="211074" y="0"/>
                </a:cubicBezTo>
                <a:lnTo>
                  <a:pt x="1055243" y="0"/>
                </a:lnTo>
                <a:cubicBezTo>
                  <a:pt x="1171702" y="0"/>
                  <a:pt x="1266190" y="94488"/>
                  <a:pt x="1266190" y="211074"/>
                </a:cubicBezTo>
                <a:lnTo>
                  <a:pt x="1266190" y="1055243"/>
                </a:lnTo>
                <a:cubicBezTo>
                  <a:pt x="1266190" y="1171829"/>
                  <a:pt x="1171702" y="1266317"/>
                  <a:pt x="1055116" y="1266317"/>
                </a:cubicBezTo>
                <a:lnTo>
                  <a:pt x="211074" y="1266317"/>
                </a:lnTo>
                <a:cubicBezTo>
                  <a:pt x="94488" y="1266190"/>
                  <a:pt x="0" y="1171702"/>
                  <a:pt x="0" y="1055243"/>
                </a:cubicBezTo>
                <a:close/>
              </a:path>
            </a:pathLst>
          </a:custGeom>
        </p:spPr>
      </p:sp>
      <p:sp>
        <p:nvSpPr>
          <p:cNvPr id="40" name="TextBox 84">
            <a:extLst xmlns:a="http://schemas.openxmlformats.org/drawingml/2006/main">
              <a:ext uri="{FF2B5EF4-FFF2-40B4-BE49-F238E27FC236}">
                <a16:creationId xmlns:a16="http://schemas.microsoft.com/office/drawing/2014/main" id="{59BF372C-739E-43BA-8E22-D37EC8C6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615" y="7585859"/>
            <a:ext cx="105272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FFFFFF"/>
                </a:solidFill>
                <a:latin typeface="字由点字典黑 65J"/>
                <a:ea typeface="字由点字典黑 65J"/>
                <a:cs typeface="字由点字典黑 65J"/>
              </a:rPr>
              <a:t>6</a:t>
            </a:r>
          </a:p>
        </p:txBody>
      </p:sp>
      <p:sp>
        <p:nvSpPr>
          <p:cNvPr id="41" name="TextBox 85">
            <a:extLst xmlns:a="http://schemas.openxmlformats.org/drawingml/2006/main">
              <a:ext uri="{FF2B5EF4-FFF2-40B4-BE49-F238E27FC236}">
                <a16:creationId xmlns:a16="http://schemas.microsoft.com/office/drawing/2014/main" id="{7AB21E8A-D373-4005-BB0A-DA791B64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947" y="7596274"/>
            <a:ext cx="3231654" cy="64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40"/>
              </a:lnSpc>
              <a:buNone/>
            </a:pPr>
            <a:r>
              <a:rPr sz="4200">
                <a:solidFill>
                  <a:srgbClr val="005BAB"/>
                </a:solidFill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20023031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2d7b2d8fa408d"/>
          <a:srcRect xmlns:a="http://schemas.openxmlformats.org/drawingml/2006/main" l="9091" t="-2201" r="10829" b="-3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" y="1587504"/>
            <a:ext cx="18288003" cy="7404096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8EBBBAF-32AB-4551-9C36-7E98708B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1"/>
            <a:ext cx="18287999" cy="1013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19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6790735-A10F-4EBF-A1B3-BCCC1E2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3604994"/>
            <a:ext cx="18288000" cy="35680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6" name="平行四边形 5">
            <a:extLst xmlns:a="http://schemas.openxmlformats.org/drawingml/2006/main">
              <a:ext uri="{FF2B5EF4-FFF2-40B4-BE49-F238E27FC236}">
                <a16:creationId xmlns:a16="http://schemas.microsoft.com/office/drawing/2014/main" id="{5575939A-BDF5-46A6-A917-8EF2707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876" y="6827784"/>
            <a:ext cx="11136236" cy="345306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0E60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6" name="平行四边形 15">
            <a:extLst xmlns:a="http://schemas.openxmlformats.org/drawingml/2006/main">
              <a:ext uri="{FF2B5EF4-FFF2-40B4-BE49-F238E27FC236}">
                <a16:creationId xmlns:a16="http://schemas.microsoft.com/office/drawing/2014/main" id="{58B0D5CF-7BF3-4DA6-9B7B-DB9965BF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0413" y="3604992"/>
            <a:ext cx="10162910" cy="349863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2059A3">
              <a:alpha val="85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58A482E-62FE-4037-B9B1-4E43A9EF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239" y="4533162"/>
            <a:ext cx="13213518" cy="1754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0800" b="1">
                <a:solidFill>
                  <a:srgbClr val="1066A5"/>
                </a:solidFill>
                <a:latin typeface="微软雅黑"/>
                <a:ea typeface="微软雅黑"/>
                <a:cs typeface="微软雅黑"/>
              </a:rPr>
              <a:t>相关技术介绍</a:t>
            </a:r>
          </a:p>
        </p:txBody>
      </p:sp>
      <p:pic>
        <p:nvPicPr>
          <p:cNvPr id="2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141a526cb4a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8021" y="406184"/>
            <a:ext cx="5661981" cy="9805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975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930D7039-FE97-4A50-8F28-27F4B9B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472C4"/>
                </a:solidFill>
                <a:latin typeface="黑体"/>
                <a:ea typeface="黑体"/>
                <a:cs typeface="黑体"/>
              </a:rPr>
              <a:t>绪论：</a:t>
            </a:r>
            <a:r>
              <a:rPr sz="6000" b="1" i="0" u="none" cap="none" spc="0">
                <a:ln>
                  <a:noFill/>
                </a:ln>
                <a:solidFill>
                  <a:srgbClr val="4472C4"/>
                </a:solidFill>
                <a:latin typeface="黑体"/>
                <a:ea typeface="黑体"/>
                <a:cs typeface="黑体"/>
              </a:rPr>
              <a:t>研究背景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2D91A0E-A915-447F-882E-F7C3975E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887301B-4E5C-446D-A8A8-FEC0734661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9656" y="2491913"/>
            <a:ext cx="7535920" cy="6994987"/>
          </a:xfrm>
        </p:spPr>
        <p:txBody>
          <a:bodyPr xmlns:a="http://schemas.openxmlformats.org/drawingml/2006/main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spcAft>
                <a:spcPts val="0"/>
              </a:spcAft>
              <a:buChar char="Ø"/>
            </a:pPr>
            <a:r>
              <a:rPr sz="4200" b="1" i="0" u="none" cap="none" spc="0">
                <a:ln>
                  <a:noFill/>
                </a:ln>
                <a:solidFill>
                  <a:sysClr val="windowText" lastClr="000000"/>
                </a:solidFill>
                <a:latin typeface="Times New Roman"/>
                <a:ea typeface="Times New Roman"/>
                <a:cs typeface="Times New Roman"/>
              </a:rPr>
              <a:t>传统网络架构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3300" i="0" u="none" cap="none" spc="0">
                <a:ln>
                  <a:noFill/>
                </a:ln>
                <a:solidFill>
                  <a:sysClr val="windowText" lastClr="000000"/>
                </a:solidFill>
                <a:latin typeface="Cambria"/>
                <a:ea typeface="Cambria"/>
                <a:cs typeface="Cambria"/>
              </a:rPr>
              <a:t>控制平面</a:t>
            </a:r>
            <a:r>
              <a:rPr sz="3300" b="0" i="0" u="none" cap="none" spc="0">
                <a:ln>
                  <a:noFill/>
                </a:ln>
                <a:solidFill>
                  <a:sysClr val="windowText" lastClr="000000"/>
                </a:solidFill>
                <a:latin typeface="Cambria"/>
                <a:ea typeface="Cambria"/>
                <a:cs typeface="Cambria"/>
              </a:rPr>
              <a:t>与</a:t>
            </a:r>
            <a:r>
              <a:rPr sz="3300" i="0" u="none" cap="none" spc="0">
                <a:ln>
                  <a:noFill/>
                </a:ln>
                <a:solidFill>
                  <a:sysClr val="windowText" lastClr="000000"/>
                </a:solidFill>
                <a:latin typeface="Cambria"/>
                <a:ea typeface="Cambria"/>
                <a:cs typeface="Cambria"/>
              </a:rPr>
              <a:t>数据平面</a:t>
            </a:r>
            <a:r>
              <a:rPr sz="3300" b="0" i="0" u="none" cap="none" spc="0">
                <a:ln>
                  <a:noFill/>
                </a:ln>
                <a:solidFill>
                  <a:sysClr val="windowText" lastClr="000000"/>
                </a:solidFill>
                <a:latin typeface="Cambria"/>
                <a:ea typeface="Cambria"/>
                <a:cs typeface="Cambria"/>
              </a:rPr>
              <a:t>紧耦合，硬件转发规则固定，面对快速变化的网络需求效率较低</a:t>
            </a:r>
          </a:p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sysClr val="windowText" lastClr="000000"/>
                </a:solidFill>
                <a:latin typeface="Times New Roman"/>
                <a:ea typeface="Times New Roman"/>
                <a:cs typeface="Times New Roman"/>
              </a:rPr>
              <a:t>软件定义网络</a:t>
            </a:r>
          </a:p>
          <a:p xmlns:a="http://schemas.openxmlformats.org/drawingml/2006/main">
            <a:pPr marL="1028700" indent="-514350">
              <a:lnSpc>
                <a:spcPct val="120000"/>
              </a:lnSpc>
              <a:spcBef>
                <a:spcPts val="565"/>
              </a:spcBef>
              <a:spcAft>
                <a:spcPts val="0"/>
              </a:spcAft>
              <a:buChar char="•"/>
            </a:pPr>
            <a:r>
              <a:rPr sz="3300" b="0" i="0" u="none" cap="none" spc="0">
                <a:ln>
                  <a:noFill/>
                </a:ln>
                <a:solidFill>
                  <a:sysClr val="windowText" lastClr="000000"/>
                </a:solidFill>
                <a:latin typeface="Cambria"/>
                <a:ea typeface="Cambria"/>
                <a:cs typeface="Cambria"/>
              </a:rPr>
              <a:t>分离了数据平面和控制平面，使得网络管理和流量控制更加灵活</a:t>
            </a:r>
          </a:p>
          <a:p xmlns:a="http://schemas.openxmlformats.org/drawingml/2006/main">
            <a:pPr marL="1028700" indent="-514350">
              <a:lnSpc>
                <a:spcPct val="120000"/>
              </a:lnSpc>
              <a:spcBef>
                <a:spcPts val="565"/>
              </a:spcBef>
              <a:spcAft>
                <a:spcPts val="0"/>
              </a:spcAft>
              <a:buChar char="•"/>
            </a:pPr>
            <a:r>
              <a:rPr b="1">
                <a:solidFill>
                  <a:srgbClr val="FF0000"/>
                </a:solidFill>
              </a:rPr>
              <a:t>可</a:t>
            </a:r>
            <a:r>
              <a:rPr sz="3300" b="1" i="0" u="none" cap="none" spc="0">
                <a:ln>
                  <a:noFill/>
                </a:ln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编程数据平面</a:t>
            </a:r>
            <a:r>
              <a:rPr sz="3300" b="0" i="0" u="none" cap="none" spc="0">
                <a:ln>
                  <a:noFill/>
                </a:ln>
                <a:solidFill>
                  <a:sysClr val="windowText" lastClr="000000"/>
                </a:solidFill>
                <a:latin typeface="Cambria"/>
                <a:ea typeface="Cambria"/>
                <a:cs typeface="Cambria"/>
              </a:rPr>
              <a:t>引入编程接口，允许用户根据实时流量和业务需求动态调整数据处理规则，从而实现更高效的数据包转发与过滤，极大提升了网络性能和适应性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6B7ED8-240D-4D0A-AC34-20AB5DD65E0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298508" y="2491914"/>
            <a:ext cx="7732192" cy="5076456"/>
          </a:xfrm>
        </p:spPr>
        <p:txBody>
          <a:bodyPr xmlns:a="http://schemas.openxmlformats.org/drawingml/2006/main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sysClr val="windowText" lastClr="000000"/>
                </a:solidFill>
                <a:latin typeface="Times New Roman"/>
                <a:ea typeface="Times New Roman"/>
                <a:cs typeface="Times New Roman"/>
              </a:rPr>
              <a:t>P4</a:t>
            </a:r>
            <a:r>
              <a:rPr b="1">
                <a:solidFill>
                  <a:sysClr val="windowText" lastClr="000000"/>
                </a:solidFill>
                <a:latin typeface="Times New Roman"/>
                <a:ea typeface="Times New Roman"/>
                <a:cs typeface="Times New Roman"/>
              </a:rPr>
              <a:t>语言</a:t>
            </a:r>
          </a:p>
          <a:p xmlns:a="http://schemas.openxmlformats.org/drawingml/2006/main">
            <a:pPr indent="-514350">
              <a:lnSpc>
                <a:spcPct val="170000"/>
              </a:lnSpc>
              <a:spcBef>
                <a:spcPts val="565"/>
              </a:spcBef>
              <a:buNone/>
            </a:pPr>
            <a:r>
              <a:rPr>
                <a:latin typeface="Cambria"/>
                <a:ea typeface="Cambria"/>
                <a:cs typeface="Cambria"/>
              </a:rPr>
              <a:t>P4</a:t>
            </a:r>
            <a:r>
              <a:rPr>
                <a:latin typeface="Cambria"/>
                <a:ea typeface="Cambria"/>
                <a:cs typeface="Cambria"/>
              </a:rPr>
              <a:t>是一种</a:t>
            </a:r>
            <a:r>
              <a:rPr b="1">
                <a:solidFill>
                  <a:srgbClr val="FF0000"/>
                </a:solidFill>
              </a:rPr>
              <a:t>数据平面编程语言</a:t>
            </a:r>
          </a:p>
          <a:p xmlns:a="http://schemas.openxmlformats.org/drawingml/2006/main">
            <a:pPr indent="-514350">
              <a:lnSpc>
                <a:spcPct val="170000"/>
              </a:lnSpc>
              <a:spcBef>
                <a:spcPts val="565"/>
              </a:spcBef>
              <a:buNone/>
            </a:pPr>
            <a:r>
              <a:rPr>
                <a:latin typeface="Cambria"/>
                <a:ea typeface="Cambria"/>
                <a:cs typeface="Cambria"/>
              </a:rPr>
              <a:t>支持用户自定义匹配字段，解析过程和转发过程，从而实现协议无关可编程数据平面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044619C-66CB-42D0-897A-AC5FB7FF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V="1">
            <a:off x="5055504" y="5966547"/>
            <a:ext cx="759735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b8ed9affe4a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decbe0fdb4f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8509" y="6604629"/>
            <a:ext cx="8303692" cy="177096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35E8A5D-8CAD-45E2-AFF6-AFCC2F42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714" y="8964739"/>
            <a:ext cx="12875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解析器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5C4B3F5-161B-41FA-9603-5A536D51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94" y="8964740"/>
            <a:ext cx="325952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匹配</a:t>
            </a:r>
            <a:r>
              <a:rPr sz="2400"/>
              <a:t>-</a:t>
            </a:r>
            <a:r>
              <a:rPr sz="2400"/>
              <a:t>动作 流水线阶段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BAE5F77-6EE5-47D5-BDEA-9EA2CFE3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4210" y="8964739"/>
            <a:ext cx="158705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转发器</a:t>
            </a:r>
          </a:p>
        </p:txBody>
      </p:sp>
      <p:sp>
        <p:nvSpPr>
          <p:cNvPr id="18" name="左大括号 17">
            <a:extLst xmlns:a="http://schemas.openxmlformats.org/drawingml/2006/main">
              <a:ext uri="{FF2B5EF4-FFF2-40B4-BE49-F238E27FC236}">
                <a16:creationId xmlns:a16="http://schemas.microsoft.com/office/drawing/2014/main" id="{85C5AC63-1057-41A4-A4FC-E3A6F962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3288541" y="5863390"/>
            <a:ext cx="323628" cy="5584599"/>
          </a:xfrm>
          <a:prstGeom xmlns:a="http://schemas.openxmlformats.org/drawingml/2006/main" prst="leftBrac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553630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801d99cd541e2"/>
          <a:srcRect xmlns:a="http://schemas.openxmlformats.org/drawingml/2006/main" l="9091" t="-2201" r="10829" b="-3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" y="1587504"/>
            <a:ext cx="18288003" cy="7404096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8EBBBAF-32AB-4551-9C36-7E98708B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1"/>
            <a:ext cx="18287999" cy="1013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19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6790735-A10F-4EBF-A1B3-BCCC1E2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3604994"/>
            <a:ext cx="18288000" cy="35680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6" name="平行四边形 5">
            <a:extLst xmlns:a="http://schemas.openxmlformats.org/drawingml/2006/main">
              <a:ext uri="{FF2B5EF4-FFF2-40B4-BE49-F238E27FC236}">
                <a16:creationId xmlns:a16="http://schemas.microsoft.com/office/drawing/2014/main" id="{5575939A-BDF5-46A6-A917-8EF2707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876" y="6827784"/>
            <a:ext cx="11136236" cy="345306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0E60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6" name="平行四边形 15">
            <a:extLst xmlns:a="http://schemas.openxmlformats.org/drawingml/2006/main">
              <a:ext uri="{FF2B5EF4-FFF2-40B4-BE49-F238E27FC236}">
                <a16:creationId xmlns:a16="http://schemas.microsoft.com/office/drawing/2014/main" id="{58B0D5CF-7BF3-4DA6-9B7B-DB9965BF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0413" y="3604992"/>
            <a:ext cx="10162910" cy="349863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2059A3">
              <a:alpha val="85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58A482E-62FE-4037-B9B1-4E43A9EF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239" y="4533162"/>
            <a:ext cx="13213518" cy="1754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0800" b="1">
                <a:solidFill>
                  <a:srgbClr val="1066A5"/>
                </a:solidFill>
                <a:latin typeface="微软雅黑"/>
                <a:ea typeface="微软雅黑"/>
                <a:cs typeface="微软雅黑"/>
              </a:rPr>
              <a:t>相关技术介绍</a:t>
            </a:r>
          </a:p>
        </p:txBody>
      </p:sp>
      <p:pic>
        <p:nvPicPr>
          <p:cNvPr id="2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636b53116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8021" y="406184"/>
            <a:ext cx="5661981" cy="9805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975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E7AE3A97-8E4F-413A-B5D1-C542C025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472C4"/>
                </a:solidFill>
                <a:latin typeface="黑体"/>
                <a:ea typeface="黑体"/>
                <a:cs typeface="黑体"/>
              </a:rPr>
              <a:t>绪论：研究现状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E0AAF5E-0C28-4DE1-9A41-06D7CA65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D7188CB6-A8C2-4F6A-BD31-CC59FD6F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683" y="3602832"/>
            <a:ext cx="7736681" cy="12358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3" name="内容占位符 12">
            <a:extLst xmlns:a="http://schemas.openxmlformats.org/drawingml/2006/main">
              <a:ext uri="{FF2B5EF4-FFF2-40B4-BE49-F238E27FC236}">
                <a16:creationId xmlns:a16="http://schemas.microsoft.com/office/drawing/2014/main" id="{4F571BC5-DED4-445E-8034-8D1FEEBC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683" y="5143499"/>
            <a:ext cx="4505655" cy="49053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92500"/>
          </a:bodyPr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基于深度方法构造决策树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该方法为决策树的每一层使用一个匹配</a:t>
            </a:r>
            <a:r>
              <a:rPr sz="2400">
                <a:latin typeface="Times New Roman"/>
                <a:ea typeface="Times New Roman"/>
                <a:cs typeface="Times New Roman"/>
              </a:rPr>
              <a:t>-</a:t>
            </a:r>
            <a:r>
              <a:rPr sz="2400">
                <a:latin typeface="Times New Roman"/>
                <a:ea typeface="Times New Roman"/>
                <a:cs typeface="Times New Roman"/>
              </a:rPr>
              <a:t>动作流水线阶段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由 </a:t>
            </a:r>
            <a:r>
              <a:rPr sz="2400">
                <a:latin typeface="Times New Roman"/>
                <a:ea typeface="Times New Roman"/>
                <a:cs typeface="Times New Roman"/>
              </a:rPr>
              <a:t>pForest</a:t>
            </a:r>
            <a:r>
              <a:rPr sz="2400">
                <a:latin typeface="Times New Roman"/>
                <a:ea typeface="Times New Roman"/>
                <a:cs typeface="Times New Roman"/>
              </a:rPr>
              <a:t> </a:t>
            </a:r>
            <a:r>
              <a:rPr sz="2400">
                <a:latin typeface="Times New Roman"/>
                <a:ea typeface="Times New Roman"/>
                <a:cs typeface="Times New Roman"/>
              </a:rPr>
              <a:t>提出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Bruno </a:t>
            </a:r>
            <a:r>
              <a:rPr sz="2400">
                <a:latin typeface="Times New Roman"/>
                <a:ea typeface="Times New Roman"/>
                <a:cs typeface="Times New Roman"/>
              </a:rPr>
              <a:t>等人采用了一种更直接的方法，仅使用</a:t>
            </a:r>
            <a:r>
              <a:rPr sz="2400">
                <a:latin typeface="Times New Roman"/>
                <a:ea typeface="Times New Roman"/>
                <a:cs typeface="Times New Roman"/>
              </a:rPr>
              <a:t>if()</a:t>
            </a:r>
            <a:r>
              <a:rPr sz="2400">
                <a:latin typeface="Times New Roman"/>
                <a:ea typeface="Times New Roman"/>
                <a:cs typeface="Times New Roman"/>
              </a:rPr>
              <a:t>和</a:t>
            </a:r>
            <a:r>
              <a:rPr sz="2400">
                <a:latin typeface="Times New Roman"/>
                <a:ea typeface="Times New Roman"/>
                <a:cs typeface="Times New Roman"/>
              </a:rPr>
              <a:t>else()</a:t>
            </a:r>
            <a:r>
              <a:rPr sz="2400">
                <a:latin typeface="Times New Roman"/>
                <a:ea typeface="Times New Roman"/>
                <a:cs typeface="Times New Roman"/>
              </a:rPr>
              <a:t>操作构造决策树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BEEC47EA-117B-4B87-BE69-27034124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2832"/>
            <a:ext cx="7774782" cy="12358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5" name="内容占位符 14">
            <a:extLst xmlns:a="http://schemas.openxmlformats.org/drawingml/2006/main">
              <a:ext uri="{FF2B5EF4-FFF2-40B4-BE49-F238E27FC236}">
                <a16:creationId xmlns:a16="http://schemas.microsoft.com/office/drawing/2014/main" id="{E3DBFE8D-7D03-4062-9B3F-DF1C48B8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991563"/>
            <a:ext cx="5817392" cy="49649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基于编码方法构造决策树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该方法对多个特征使用表进行编码，并使用一个额外的表进行译码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由 </a:t>
            </a:r>
            <a:r>
              <a:rPr sz="2400">
                <a:latin typeface="Times New Roman"/>
                <a:ea typeface="Times New Roman"/>
                <a:cs typeface="Times New Roman"/>
              </a:rPr>
              <a:t>IIsy</a:t>
            </a:r>
            <a:r>
              <a:rPr sz="2400">
                <a:latin typeface="Times New Roman"/>
                <a:ea typeface="Times New Roman"/>
                <a:cs typeface="Times New Roman"/>
              </a:rPr>
              <a:t> </a:t>
            </a:r>
            <a:r>
              <a:rPr sz="2400">
                <a:latin typeface="Times New Roman"/>
                <a:ea typeface="Times New Roman"/>
                <a:cs typeface="Times New Roman"/>
              </a:rPr>
              <a:t>提出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Planter</a:t>
            </a:r>
            <a:r>
              <a:rPr sz="2400">
                <a:latin typeface="Times New Roman"/>
                <a:ea typeface="Times New Roman"/>
                <a:cs typeface="Times New Roman"/>
              </a:rPr>
              <a:t> </a:t>
            </a:r>
            <a:r>
              <a:rPr sz="2400">
                <a:latin typeface="Times New Roman"/>
                <a:ea typeface="Times New Roman"/>
                <a:cs typeface="Times New Roman"/>
              </a:rPr>
              <a:t>扩展到集成模型，随机森林、</a:t>
            </a:r>
            <a:r>
              <a:rPr sz="2400">
                <a:latin typeface="Times New Roman"/>
                <a:ea typeface="Times New Roman"/>
                <a:cs typeface="Times New Roman"/>
              </a:rPr>
              <a:t>XGBoost</a:t>
            </a:r>
            <a:r>
              <a:rPr sz="2400">
                <a:latin typeface="Times New Roman"/>
                <a:ea typeface="Times New Roman"/>
                <a:cs typeface="Times New Roman"/>
              </a:rPr>
              <a:t>、孤立森林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400">
                <a:latin typeface="Times New Roman"/>
                <a:ea typeface="Times New Roman"/>
                <a:cs typeface="Times New Roman"/>
              </a:rPr>
              <a:t>P4Pir </a:t>
            </a:r>
            <a:r>
              <a:rPr sz="2400">
                <a:latin typeface="Times New Roman"/>
                <a:ea typeface="Times New Roman"/>
                <a:cs typeface="Times New Roman"/>
              </a:rPr>
              <a:t>和 </a:t>
            </a:r>
            <a:r>
              <a:rPr sz="2400">
                <a:latin typeface="Times New Roman"/>
                <a:ea typeface="Times New Roman"/>
                <a:cs typeface="Times New Roman"/>
              </a:rPr>
              <a:t>FLIP4</a:t>
            </a:r>
            <a:r>
              <a:rPr sz="2400">
                <a:latin typeface="Times New Roman"/>
                <a:ea typeface="Times New Roman"/>
                <a:cs typeface="Times New Roman"/>
              </a:rPr>
              <a:t> </a:t>
            </a:r>
            <a:r>
              <a:rPr sz="2400">
                <a:latin typeface="Times New Roman"/>
                <a:ea typeface="Times New Roman"/>
                <a:cs typeface="Times New Roman"/>
              </a:rPr>
              <a:t>探索运行时模型更新</a:t>
            </a: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4ded55719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6721" y="5373754"/>
            <a:ext cx="2581275" cy="4219575"/>
          </a:xfrm>
          <a:prstGeom xmlns:a="http://schemas.openxmlformats.org/drawingml/2006/main" prst="rect">
            <a:avLst/>
          </a:prstGeom>
        </p:spPr>
      </p:pic>
      <p:pic>
        <p:nvPicPr>
          <p:cNvPr id="17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8e9d934c549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75792" y="5373754"/>
            <a:ext cx="2305050" cy="4200525"/>
          </a:xfrm>
          <a:prstGeom xmlns:a="http://schemas.openxmlformats.org/drawingml/2006/main" prst="rect">
            <a:avLst/>
          </a:prstGeom>
        </p:spPr>
      </p:pic>
      <p:sp>
        <p:nvSpPr>
          <p:cNvPr id="2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7E3EE31-AAD3-4AF3-B6EC-DD085CA4B5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01445" y="1996818"/>
            <a:ext cx="16913710" cy="2555405"/>
          </a:xfrm>
        </p:spPr>
        <p:txBody>
          <a:bodyPr xmlns:a="http://schemas.openxmlformats.org/drawingml/2006/main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spcAft>
                <a:spcPts val="0"/>
              </a:spcAft>
              <a:buChar char="Ø"/>
            </a:pPr>
            <a:r>
              <a:rPr sz="4200" b="1" i="0" u="none" cap="none" spc="0">
                <a:ln>
                  <a:noFill/>
                </a:ln>
                <a:solidFill>
                  <a:sysClr val="windowText" lastClr="000000"/>
                </a:solidFill>
                <a:latin typeface="Times New Roman"/>
                <a:ea typeface="Times New Roman"/>
                <a:cs typeface="Times New Roman"/>
              </a:rPr>
              <a:t>在网机器学习 </a:t>
            </a:r>
            <a:r>
              <a:rPr sz="4200" b="1" i="0" u="none" cap="none" spc="0">
                <a:ln>
                  <a:noFill/>
                </a:ln>
                <a:solidFill>
                  <a:sysClr val="windowText" lastClr="000000"/>
                </a:solidFill>
                <a:latin typeface="Times New Roman"/>
                <a:ea typeface="Times New Roman"/>
                <a:cs typeface="Times New Roman"/>
              </a:rPr>
              <a:t>In-Network Machine Learning</a:t>
            </a:r>
          </a:p>
          <a:p xmlns:a="http://schemas.openxmlformats.org/drawingml/2006/main">
            <a:pPr marL="1028700" indent="-514350">
              <a:lnSpc>
                <a:spcPct val="120000"/>
              </a:lnSpc>
              <a:spcBef>
                <a:spcPts val="565"/>
              </a:spcBef>
              <a:spcAft>
                <a:spcPts val="0"/>
              </a:spcAft>
              <a:buChar char="•"/>
            </a:pPr>
            <a:r>
              <a:t>通常指网络内推断，即将训练好的机器学习模型部署在可编程网络设备上进行推理决策。可以显著提高吞吐量和延迟性能，并减少内存消耗和通信开销</a:t>
            </a:r>
          </a:p>
          <a:p xmlns:a="http://schemas.openxmlformats.org/drawingml/2006/main">
            <a:pPr marL="1457325" indent="-428625">
              <a:lnSpc>
                <a:spcPct val="170000"/>
              </a:lnSpc>
              <a:spcBef>
                <a:spcPts val="565"/>
              </a:spcBef>
              <a:spcAft>
                <a:spcPts val="0"/>
              </a:spcAft>
              <a:buChar char="-"/>
            </a:pPr>
            <a:r>
              <a:rPr sz="3500">
                <a:latin typeface="Times New Roman"/>
                <a:ea typeface="Times New Roman"/>
                <a:cs typeface="Times New Roman"/>
              </a:rPr>
              <a:t>基于决策树的模型和基于树的集成学习模型、二元神经网络模型、强化学习模型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B3811F3-8BCB-489F-B603-F2FADAEF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V="1">
            <a:off x="6734177" y="7290262"/>
            <a:ext cx="5109560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6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d33ddda994a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857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c985aba2c4581"/>
          <a:srcRect xmlns:a="http://schemas.openxmlformats.org/drawingml/2006/main" l="9091" t="-2201" r="10829" b="-3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" y="1587504"/>
            <a:ext cx="18288003" cy="7404096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C7AA0EF-AF60-42F6-976C-F9CB4E53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1"/>
            <a:ext cx="18287999" cy="1013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19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C4A176E-EF2E-42BB-838C-7285114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3604994"/>
            <a:ext cx="18288000" cy="35680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6" name="平行四边形 5">
            <a:extLst xmlns:a="http://schemas.openxmlformats.org/drawingml/2006/main">
              <a:ext uri="{FF2B5EF4-FFF2-40B4-BE49-F238E27FC236}">
                <a16:creationId xmlns:a16="http://schemas.microsoft.com/office/drawing/2014/main" id="{D7D2B6D7-FFBF-4886-95BE-E11C486C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876" y="6827784"/>
            <a:ext cx="11136236" cy="345306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0E60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6" name="平行四边形 15">
            <a:extLst xmlns:a="http://schemas.openxmlformats.org/drawingml/2006/main">
              <a:ext uri="{FF2B5EF4-FFF2-40B4-BE49-F238E27FC236}">
                <a16:creationId xmlns:a16="http://schemas.microsoft.com/office/drawing/2014/main" id="{CB8D70B1-ECCB-440A-BEB5-23336453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0413" y="3604992"/>
            <a:ext cx="10162910" cy="349863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2059A3">
              <a:alpha val="85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D3124104-6CDB-47F0-A62B-740C123D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39226"/>
            <a:ext cx="18288000" cy="1754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0800" b="1">
                <a:solidFill>
                  <a:srgbClr val="1066A5"/>
                </a:solidFill>
                <a:latin typeface="微软雅黑"/>
                <a:ea typeface="微软雅黑"/>
                <a:cs typeface="微软雅黑"/>
              </a:rPr>
              <a:t>系统设计与总体架构</a:t>
            </a:r>
          </a:p>
        </p:txBody>
      </p:sp>
      <p:pic>
        <p:nvPicPr>
          <p:cNvPr id="2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2f1d08d7146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8021" y="406184"/>
            <a:ext cx="5661981" cy="9805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457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e237e2f6f42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7B0C6E51-B83D-4023-AB66-5FA93E10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>
                <a:solidFill>
                  <a:srgbClr val="4472C4"/>
                </a:solidFill>
                <a:latin typeface="黑体"/>
                <a:ea typeface="黑体"/>
                <a:cs typeface="黑体"/>
              </a:rPr>
              <a:t>系统设计与总体架构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97DCD76-27DE-46F1-B57E-6C365EC4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54c849e8a4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7886" y="2500688"/>
            <a:ext cx="16789886" cy="70624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5329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94a0c6b784363"/>
          <a:srcRect xmlns:a="http://schemas.openxmlformats.org/drawingml/2006/main" l="9091" t="-2201" r="10829" b="-3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" y="1587504"/>
            <a:ext cx="18288003" cy="7404096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78F2BBE-D3B9-4F8B-BE13-F3F7232C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1"/>
            <a:ext cx="18287999" cy="1013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19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B5FF838-FE59-4703-9F6E-BEC20491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3604994"/>
            <a:ext cx="18288000" cy="35680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6" name="平行四边形 5">
            <a:extLst xmlns:a="http://schemas.openxmlformats.org/drawingml/2006/main">
              <a:ext uri="{FF2B5EF4-FFF2-40B4-BE49-F238E27FC236}">
                <a16:creationId xmlns:a16="http://schemas.microsoft.com/office/drawing/2014/main" id="{A203CF07-2369-4D97-97C1-14965AA2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876" y="6827784"/>
            <a:ext cx="11136236" cy="345306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0E60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6" name="平行四边形 15">
            <a:extLst xmlns:a="http://schemas.openxmlformats.org/drawingml/2006/main">
              <a:ext uri="{FF2B5EF4-FFF2-40B4-BE49-F238E27FC236}">
                <a16:creationId xmlns:a16="http://schemas.microsoft.com/office/drawing/2014/main" id="{94079795-6DA0-4576-B17D-559265D7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0413" y="3604992"/>
            <a:ext cx="10162910" cy="349863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2059A3">
              <a:alpha val="85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EF3B1C0C-BE2F-4964-9F92-9F8B2BE2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239" y="4533162"/>
            <a:ext cx="13213518" cy="1754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0800" b="1">
                <a:solidFill>
                  <a:srgbClr val="1066A5"/>
                </a:solidFill>
                <a:latin typeface="微软雅黑"/>
                <a:ea typeface="微软雅黑"/>
                <a:cs typeface="微软雅黑"/>
              </a:rPr>
              <a:t>关键模块设计与实现</a:t>
            </a:r>
          </a:p>
        </p:txBody>
      </p:sp>
      <p:pic>
        <p:nvPicPr>
          <p:cNvPr id="2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d957f835949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8021" y="406184"/>
            <a:ext cx="5661981" cy="9805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056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625B8ACD-C892-405F-9FF4-A4C1D746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u="none" cap="none" spc="0">
                <a:ln>
                  <a:noFill/>
                </a:ln>
                <a:solidFill>
                  <a:srgbClr val="4472C4"/>
                </a:solidFill>
                <a:latin typeface="黑体"/>
                <a:ea typeface="黑体"/>
                <a:cs typeface="黑体"/>
              </a:rPr>
              <a:t>关键模块设计与实现：</a:t>
            </a:r>
            <a:r>
              <a:rPr>
                <a:solidFill>
                  <a:srgbClr val="4472C4"/>
                </a:solidFill>
                <a:latin typeface="黑体"/>
                <a:ea typeface="黑体"/>
                <a:cs typeface="黑体"/>
              </a:rPr>
              <a:t>模型训练模块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46D8C24-6A50-4219-8DD3-73B24B51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765D9897-89F8-4E97-BC4C-D3AFDC9D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683" y="3602832"/>
            <a:ext cx="7736681" cy="12358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C0164C7-A97F-41A5-86F0-4ACD7343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2832"/>
            <a:ext cx="7774782" cy="12358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pic>
        <p:nvPicPr>
          <p:cNvPr id="15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ea424a95944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9FD3517-672C-4DA1-8210-6C75B9AE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3187"/>
            <a:ext cx="9062544" cy="6994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2208C3C1-F382-489F-8E6E-8D88AD202C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57301" y="2323655"/>
            <a:ext cx="7772400" cy="2515046"/>
          </a:xfrm>
        </p:spPr>
        <p:txBody>
          <a:bodyPr xmlns:a="http://schemas.openxmlformats.org/drawingml/2006/main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40000"/>
              </a:lnSpc>
              <a:spcBef>
                <a:spcPts val="1125"/>
              </a:spcBef>
              <a:buChar char="Ø"/>
            </a:pPr>
            <a:r>
              <a:rPr sz="410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特征工程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使用 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Python 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的 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NFStream 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解析 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PCAP 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网络流量数据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 b="1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特征数量受限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：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Tofino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的单个匹配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-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动作表至多支持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6-8</a:t>
            </a:r>
            <a:r>
              <a:rPr sz="33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个匹配字段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3C90E32-CF30-484C-BB48-D1AC807ED4E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258301" y="2323654"/>
            <a:ext cx="7772400" cy="6527007"/>
          </a:xfrm>
        </p:spPr>
        <p:txBody>
          <a:bodyPr xmlns:a="http://schemas.openxmlformats.org/drawingml/2006/main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决策树建模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基于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Python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的机器学习库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scikit-learn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训练决策树模型</a:t>
            </a:r>
          </a:p>
          <a:p xmlns:a="http://schemas.openxmlformats.org/drawingml/2006/main">
            <a:pPr marL="1457325" indent="-428625">
              <a:lnSpc>
                <a:spcPct val="160000"/>
              </a:lnSpc>
              <a:spcBef>
                <a:spcPts val="565"/>
              </a:spcBef>
              <a:buChar char="-"/>
            </a:pP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Gini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指数衡量节点划分纯度</a:t>
            </a:r>
          </a:p>
          <a:p xmlns:a="http://schemas.openxmlformats.org/drawingml/2006/main">
            <a:pPr marL="1457325" indent="-428625">
              <a:lnSpc>
                <a:spcPct val="160000"/>
              </a:lnSpc>
              <a:spcBef>
                <a:spcPts val="565"/>
              </a:spcBef>
              <a:buChar char="-"/>
            </a:pP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使用最佳节点拆分策略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为满足硬件资源限制，避免生成过多表项，将决策树的</a:t>
            </a:r>
            <a:r>
              <a:rPr sz="3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最大深度参数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设置为不超过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  <a:p xmlns:a="http://schemas.openxmlformats.org/drawingml/2006/main">
            <a:pPr marL="1457325" indent="-428625">
              <a:lnSpc>
                <a:spcPct val="160000"/>
              </a:lnSpc>
              <a:spcBef>
                <a:spcPts val="565"/>
              </a:spcBef>
              <a:buChar char="-"/>
            </a:pP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Tofino 1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芯片的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TCAM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容量为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6.2Mb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，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MAU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数量为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个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 </a:t>
            </a:r>
            <a:r>
              <a:rPr sz="3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K </a:t>
            </a:r>
            <a:r>
              <a:rPr sz="3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折交叉验证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训练决策树模型，提高模型的泛化能力并确保评估的有效性</a:t>
            </a:r>
          </a:p>
          <a:p xmlns:a="http://schemas.openxmlformats.org/drawingml/2006/main">
            <a:pPr marL="1457325" indent="-428625">
              <a:lnSpc>
                <a:spcPct val="160000"/>
              </a:lnSpc>
              <a:spcBef>
                <a:spcPts val="565"/>
              </a:spcBef>
              <a:buChar char="-"/>
            </a:pP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将完整的数据集划分为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5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等份，并进行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5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次训练</a:t>
            </a:r>
          </a:p>
          <a:p xmlns:a="http://schemas.openxmlformats.org/drawingml/2006/main">
            <a:pPr marL="1457325" indent="-428625">
              <a:lnSpc>
                <a:spcPct val="160000"/>
              </a:lnSpc>
              <a:spcBef>
                <a:spcPts val="565"/>
              </a:spcBef>
              <a:buChar char="-"/>
            </a:pP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每次训练取其中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折作为验证集，其余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折作为训练集，模型的准确率取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5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次训练结果的平均值</a:t>
            </a:r>
          </a:p>
        </p:txBody>
      </p:sp>
      <p:graphicFrame>
        <p:nvGraphicFramePr>
          <p:cNvPr id="19" name="表格 6"/>
          <p:cNvGraphicFramePr/>
          <p:nvPr/>
        </p:nvGraphicFramePr>
        <p:xfrm>
          <a:off xmlns:a="http://schemas.openxmlformats.org/drawingml/2006/main" x="1260783" y="5051690"/>
          <a:ext xmlns:a="http://schemas.openxmlformats.org/drawingml/2006/main" cx="7735581" cy="4484400"/>
        </p:xfrm>
        <a:graphic xmlns:a="http://schemas.openxmlformats.org/drawingml/2006/main">
          <a:graphicData uri="http://schemas.openxmlformats.org/drawingml/2006/table">
            <a:tbl>
              <a:tblPr firstRow="1" firstCol="1"/>
              <a:tblGrid>
                <a:gridCol w="2578527"/>
                <a:gridCol w="2578527"/>
                <a:gridCol w="2578527"/>
              </a:tblGrid>
              <a:tr h="44844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模型类别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特征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描述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440">
                <a:tc rowSpan="3"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单包特征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packet_size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IP </a:t>
                      </a: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层包长度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4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protocol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传输层协议类型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4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dst_port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目的端口号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440">
                <a:tc rowSpan="6"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流特征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protocol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传输层协议类型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4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dst_port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目的端口号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4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packet_size_sum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流的 </a:t>
                      </a: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IP </a:t>
                      </a: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层包总长度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4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flow_duration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流的持续时间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4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max_packet_size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最大 </a:t>
                      </a: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IP </a:t>
                      </a: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包大小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484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min_packet_size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最小 </a:t>
                      </a: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IP </a:t>
                      </a:r>
                      <a:r>
                        <a:rPr sz="23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包大小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707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38268CC1-B0B4-4D89-ADA3-380CCF93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u="none" cap="none" spc="0">
                <a:ln>
                  <a:noFill/>
                </a:ln>
                <a:solidFill>
                  <a:srgbClr val="4472C4"/>
                </a:solidFill>
                <a:latin typeface="黑体"/>
                <a:ea typeface="黑体"/>
                <a:cs typeface="黑体"/>
              </a:rPr>
              <a:t>关键模块设计与实现：</a:t>
            </a:r>
            <a:r>
              <a:rPr>
                <a:solidFill>
                  <a:srgbClr val="4472C4"/>
                </a:solidFill>
                <a:latin typeface="黑体"/>
                <a:ea typeface="黑体"/>
                <a:cs typeface="黑体"/>
              </a:rPr>
              <a:t>模型的表映射模块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A9A736C-05D1-4F3D-8A80-F0E47B5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CC8BC72-085B-48F1-8A51-D0B0A03BF3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0" y="2789187"/>
            <a:ext cx="7848600" cy="6527007"/>
          </a:xfrm>
        </p:spPr>
        <p:txBody>
          <a:bodyPr xmlns:a="http://schemas.openxmlformats.org/drawingml/2006/main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sysClr val="windowText" lastClr="000000"/>
                </a:solidFill>
                <a:latin typeface="Times New Roman"/>
                <a:ea typeface="Times New Roman"/>
                <a:cs typeface="Times New Roman"/>
              </a:rPr>
              <a:t>编码表和译码表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1125"/>
              </a:spcBef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由于数据平面无法直接执行决策树的遍历和浮点计算，因此需对</a:t>
            </a:r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决策树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模型进行转换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1125"/>
              </a:spcBef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将表项结果输出为</a:t>
            </a:r>
            <a:r>
              <a:rPr b="1" i="0" u="none" cap="none" spc="0">
                <a:ln>
                  <a:noFill/>
                </a:ln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序列化 </a:t>
            </a:r>
            <a:r>
              <a:rPr b="1" i="0" u="none" cap="none" spc="0">
                <a:ln>
                  <a:noFill/>
                </a:ln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pikle</a:t>
            </a:r>
            <a:r>
              <a:rPr b="1" i="0" u="none" cap="none" spc="0">
                <a:ln>
                  <a:noFill/>
                </a:ln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b="1" i="0" u="none" cap="none" spc="0">
                <a:ln>
                  <a:noFill/>
                </a:ln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文件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，以便控制平面模块读取表项内容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1125"/>
              </a:spcBef>
              <a:buNone/>
            </a:pPr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</a:t>
            </a:r>
            <a:r>
              <a:rPr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编码方法</a:t>
            </a:r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将训练好的决策树模型映射为 </a:t>
            </a:r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TNA </a:t>
            </a:r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支持的匹配</a:t>
            </a:r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动作表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1125"/>
              </a:spcBef>
              <a:buNone/>
            </a:pPr>
            <a:r>
              <a:rPr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特征编码表</a:t>
            </a:r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将特征映射为中间编码，减少特征空间规模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1125"/>
              </a:spcBef>
              <a:buNone/>
            </a:pPr>
            <a:r>
              <a:rPr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译码动作表</a:t>
            </a:r>
            <a:r>
              <a:rPr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将中间</a:t>
            </a: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编码映射为相应的转发动作</a:t>
            </a:r>
          </a:p>
        </p:txBody>
      </p:sp>
      <p:pic>
        <p:nvPicPr>
          <p:cNvPr id="12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7973e101043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94939" y="874378"/>
            <a:ext cx="3611998" cy="763882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表格 5"/>
          <p:cNvGraphicFramePr/>
          <p:nvPr/>
        </p:nvGraphicFramePr>
        <p:xfrm>
          <a:off xmlns:a="http://schemas.openxmlformats.org/drawingml/2006/main" x="10930730" y="4360510"/>
          <a:ext xmlns:a="http://schemas.openxmlformats.org/drawingml/2006/main" cx="4610124" cy="101159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05062"/>
                <a:gridCol w="2305062"/>
              </a:tblGrid>
              <a:tr h="5057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匹配键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动作值</a:t>
                      </a:r>
                    </a:p>
                  </a:txBody>
                  <a:tcPr marL="68580" marR="68580" marT="0" marB="0" anchor="ctr"/>
                </a:tc>
              </a:tr>
              <a:tr h="5057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特征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的范围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编码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14" name="表格 10"/>
          <p:cNvGraphicFramePr/>
          <p:nvPr/>
        </p:nvGraphicFramePr>
        <p:xfrm>
          <a:off xmlns:a="http://schemas.openxmlformats.org/drawingml/2006/main" x="9308125" y="6472438"/>
          <a:ext xmlns:a="http://schemas.openxmlformats.org/drawingml/2006/main" cx="8628183" cy="1653018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12949"/>
                <a:gridCol w="507540"/>
                <a:gridCol w="1712949"/>
                <a:gridCol w="4694745"/>
              </a:tblGrid>
              <a:tr h="826509">
                <a:tc gridSpan="3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匹配键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动作值</a:t>
                      </a:r>
                    </a:p>
                  </a:txBody>
                  <a:tcPr marL="68580" marR="68580" marT="0" marB="0" anchor="ctr"/>
                </a:tc>
              </a:tr>
              <a:tr h="82650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编码 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的范围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编码 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 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的范围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目的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地址，交换机输出端口（转发）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</a:t>
                      </a:r>
                      <a:r>
                        <a:rPr sz="20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空（丢弃）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A1989E0-1B20-4A67-9CE2-406A5BB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5138" y="3690491"/>
            <a:ext cx="2783939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特征编码表结构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6081167-21EB-4BD3-BB2C-A19239B3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4050" y="5829300"/>
            <a:ext cx="2783939" cy="5386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译码动作表结构</a:t>
            </a:r>
          </a:p>
        </p:txBody>
      </p:sp>
    </p:spTree>
    <p:extLst>
      <p:ext uri="{BB962C8B-B14F-4D97-AF65-F5344CB8AC3E}">
        <p14:creationId xmlns:p14="http://schemas.microsoft.com/office/powerpoint/2010/main" val="18795955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F28D2302-DF3A-441F-8D18-3CEF7CEA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u="none" cap="none" spc="0">
                <a:ln>
                  <a:noFill/>
                </a:ln>
                <a:solidFill>
                  <a:srgbClr val="4472C4"/>
                </a:solidFill>
                <a:latin typeface="黑体"/>
                <a:ea typeface="黑体"/>
                <a:cs typeface="黑体"/>
              </a:rPr>
              <a:t>关键模块设计与实现：控制</a:t>
            </a:r>
            <a:r>
              <a:rPr>
                <a:solidFill>
                  <a:srgbClr val="4472C4"/>
                </a:solidFill>
                <a:latin typeface="黑体"/>
                <a:ea typeface="黑体"/>
                <a:cs typeface="黑体"/>
              </a:rPr>
              <a:t>平面模块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5F77AB3-F74F-47A6-B9EF-4571325D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B320E66A-566D-4D00-B9CC-C36FCA15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2832"/>
            <a:ext cx="7774782" cy="12358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2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A143415-B399-4A81-B5D1-A1563285E0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57300" y="2400300"/>
            <a:ext cx="12687300" cy="7337681"/>
          </a:xfrm>
        </p:spPr>
        <p:txBody>
          <a:bodyPr xmlns:a="http://schemas.openxmlformats.org/drawingml/2006/main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控制平面功能模块实现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P4Runtime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实现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BMv2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平台的控制平面模块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 </a:t>
            </a:r>
            <a:r>
              <a:rPr sz="33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Barefoot Runtime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实现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Tofino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平台的控制平面模块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主要功能：建立与交换机的通信、安装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P4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程序、以及初始化写入特征编码表与译码分类动作表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P4Runtime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协议基于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gRPC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实现，核心思想是将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P4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程序的编译结果（即数据面的行为描述）抽象为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ForwardingPipelineConfig</a:t>
            </a:r>
          </a:p>
          <a:p xmlns:a="http://schemas.openxmlformats.org/drawingml/2006/main">
            <a:pPr marL="1457325" indent="-428625">
              <a:lnSpc>
                <a:spcPct val="150000"/>
              </a:lnSpc>
              <a:spcBef>
                <a:spcPts val="565"/>
              </a:spcBef>
              <a:buChar char="-"/>
            </a:pP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配置包含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2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部分：设备配置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(p4_device_config)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和元信息描述文件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(P4Info)</a:t>
            </a:r>
          </a:p>
          <a:p xmlns:a="http://schemas.openxmlformats.org/drawingml/2006/main">
            <a:pPr marL="1457325" indent="-428625">
              <a:lnSpc>
                <a:spcPct val="150000"/>
              </a:lnSpc>
              <a:spcBef>
                <a:spcPts val="565"/>
              </a:spcBef>
              <a:buChar char="-"/>
            </a:pP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P4Info </a:t>
            </a:r>
            <a:r>
              <a:rPr sz="27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定义了程序中所有的可控制实体（如表项、动作、字段等）</a:t>
            </a:r>
          </a:p>
          <a:p xmlns:a="http://schemas.openxmlformats.org/drawingml/2006/main">
            <a:pPr indent="-514350">
              <a:lnSpc>
                <a:spcPct val="150000"/>
              </a:lnSpc>
              <a:buNone/>
            </a:pP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控制平面通过加载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P4info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，得以在不直接分析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P4 </a:t>
            </a:r>
            <a:r>
              <a:rPr sz="33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源代码的情况下，对交换机的行为进行精准控制</a:t>
            </a:r>
          </a:p>
        </p:txBody>
      </p:sp>
      <p:pic>
        <p:nvPicPr>
          <p:cNvPr id="23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a408fc17e40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pic>
        <p:nvPicPr>
          <p:cNvPr id="24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90da25c0046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32092" y="1990094"/>
            <a:ext cx="2937691" cy="81046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192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3518be9de4d54"/>
          <a:srcRect xmlns:a="http://schemas.openxmlformats.org/drawingml/2006/main" l="9091" t="-2201" r="10829" b="-3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" y="1587504"/>
            <a:ext cx="18288003" cy="7404096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6BDFD9B-0BC6-48C3-9BBF-4738998A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" y="1"/>
            <a:ext cx="18287999" cy="1013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019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8393607-7987-46DD-B2A1-D6DBDF7A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" y="3604994"/>
            <a:ext cx="18288000" cy="35680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/>
              <a:t>                                                          </a:t>
            </a:r>
          </a:p>
        </p:txBody>
      </p:sp>
      <p:sp>
        <p:nvSpPr>
          <p:cNvPr id="6" name="平行四边形 5">
            <a:extLst xmlns:a="http://schemas.openxmlformats.org/drawingml/2006/main">
              <a:ext uri="{FF2B5EF4-FFF2-40B4-BE49-F238E27FC236}">
                <a16:creationId xmlns:a16="http://schemas.microsoft.com/office/drawing/2014/main" id="{CB5A8A5B-43E3-49C3-98A0-C51B389D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876" y="6827784"/>
            <a:ext cx="11136236" cy="345306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0E60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6" name="平行四边形 15">
            <a:extLst xmlns:a="http://schemas.openxmlformats.org/drawingml/2006/main">
              <a:ext uri="{FF2B5EF4-FFF2-40B4-BE49-F238E27FC236}">
                <a16:creationId xmlns:a16="http://schemas.microsoft.com/office/drawing/2014/main" id="{865CCE65-91ED-461C-86B1-8B185847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20413" y="3604992"/>
            <a:ext cx="10162910" cy="349863"/>
          </a:xfrm>
          <a:prstGeom xmlns:a="http://schemas.openxmlformats.org/drawingml/2006/main" prst="parallelogram">
            <a:avLst>
              <a:gd name="adj" fmla="val 98111"/>
            </a:avLst>
          </a:prstGeom>
          <a:solidFill xmlns:a="http://schemas.openxmlformats.org/drawingml/2006/main">
            <a:srgbClr val="2059A3">
              <a:alpha val="85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78ADCE6-17CD-4B81-9001-25DCEC86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239" y="4533162"/>
            <a:ext cx="13213518" cy="1754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640080" indent="-18288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282700" indent="-36830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925955" indent="-55435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568575" indent="-739775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2860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7432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2004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657600" algn="l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0800" b="1">
                <a:solidFill>
                  <a:srgbClr val="1066A5"/>
                </a:solidFill>
                <a:latin typeface="微软雅黑"/>
                <a:ea typeface="微软雅黑"/>
                <a:cs typeface="微软雅黑"/>
              </a:rPr>
              <a:t>实验分析</a:t>
            </a:r>
          </a:p>
        </p:txBody>
      </p:sp>
      <p:pic>
        <p:nvPicPr>
          <p:cNvPr id="2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5d7420e304c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8021" y="406184"/>
            <a:ext cx="5661981" cy="9805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027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C9468FFA-9607-41FE-A558-94388590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u="none" cap="none" spc="0">
                <a:ln>
                  <a:noFill/>
                </a:ln>
                <a:solidFill>
                  <a:srgbClr val="4472C4"/>
                </a:solidFill>
                <a:latin typeface="黑体"/>
                <a:ea typeface="黑体"/>
                <a:cs typeface="黑体"/>
              </a:rPr>
              <a:t>实验分析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5D7D5B5-EF66-491D-B4E2-83E64F66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56BCA9D9-1657-4986-A39B-4DEED58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2832"/>
            <a:ext cx="7774782" cy="12358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2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D8DA2ED-1BF5-4988-B5D3-DFAD6748FE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1" y="2408424"/>
            <a:ext cx="9786440" cy="7337681"/>
          </a:xfrm>
        </p:spPr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实验环境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模型训练模块与模型的表项映射模块部署于远程服务器，与数据平面模块和控制平面模块解耦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在 </a:t>
            </a:r>
            <a:r>
              <a:rPr sz="31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BMv2 </a:t>
            </a:r>
            <a:r>
              <a:rPr sz="31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虚拟实验环境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中，系统的数据平面模块运行于虚拟交换机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BMv2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中，控制平面模块运行于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Ubuntu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虚拟机中，两者使用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P4Runtime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交互通信，使用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Mininet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搭建网络拓扑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在 </a:t>
            </a:r>
            <a:r>
              <a:rPr sz="31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Tofino </a:t>
            </a:r>
            <a:r>
              <a:rPr sz="31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实际网络实验环境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中，数据平面模块部署在可编程交换机的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Tofino ASIC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芯片中，控制平面模块部署于交换机的主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CPU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模块，两者使用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Barefoot Runtime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交互通信。主机使用一分四光缆连接可编程交换机的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QSFP28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端口，吞吐量为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10Gbps</a:t>
            </a:r>
          </a:p>
        </p:txBody>
      </p:sp>
      <p:pic>
        <p:nvPicPr>
          <p:cNvPr id="23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62a7569d74b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pic>
        <p:nvPicPr>
          <p:cNvPr id="2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d6bcf509b4f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3501714" y="4819568"/>
            <a:ext cx="2042268" cy="2042268"/>
          </a:xfrm>
          <a:prstGeom xmlns:a="http://schemas.openxmlformats.org/drawingml/2006/main" prst="rect">
            <a:avLst/>
          </a:prstGeom>
        </p:spPr>
      </p:pic>
      <p:pic>
        <p:nvPicPr>
          <p:cNvPr id="2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8c32a0ac149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107323" y="6925738"/>
            <a:ext cx="1674313" cy="1674313"/>
          </a:xfrm>
          <a:prstGeom xmlns:a="http://schemas.openxmlformats.org/drawingml/2006/main" prst="rect">
            <a:avLst/>
          </a:prstGeom>
        </p:spPr>
      </p:pic>
      <p:pic>
        <p:nvPicPr>
          <p:cNvPr id="2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8c32a0ac149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6264063" y="6925738"/>
            <a:ext cx="1674313" cy="1674313"/>
          </a:xfrm>
          <a:prstGeom xmlns:a="http://schemas.openxmlformats.org/drawingml/2006/main" prst="rect">
            <a:avLst/>
          </a:prstGeom>
        </p:spPr>
      </p:pic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13032294b4a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985340" y="2428595"/>
            <a:ext cx="3010671" cy="3010671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2F9C396-EDEC-4335-97F1-65A9A2BB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3059015" y="5947932"/>
            <a:ext cx="99845" cy="13228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276AE0B-26D8-42E5-87D6-A5626C8C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15947702" y="5864099"/>
            <a:ext cx="96619" cy="13228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A5E1CF9-267C-4011-B038-3482C3A5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9965" y="4704804"/>
            <a:ext cx="105765" cy="7677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1F6250A-50D8-4C33-BC76-C57C88DC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18541">
            <a:off x="12694500" y="4423316"/>
            <a:ext cx="91542" cy="2713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0D1B1BA-5C65-4825-925B-CE5A7F5A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04492">
            <a:off x="16340764" y="4367834"/>
            <a:ext cx="106626" cy="28139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形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632191e784f40">
            <a:extLst>
              <a:ext uri="{96DAC541-7B7A-43D3-8B79-37D633B846F1}">
                <asvg:svgBlip xmlns:asvg="http://schemas.microsoft.com/office/drawing/2016/SVG/main" r:embed="R562ed7363e0045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3902836" y="6901988"/>
            <a:ext cx="1286882" cy="1286882"/>
          </a:xfrm>
          <a:prstGeom xmlns:a="http://schemas.openxmlformats.org/drawingml/2006/main" prst="rect">
            <a:avLst/>
          </a:prstGeom>
        </p:spPr>
      </p:pic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5012666-9DE9-4AC4-ADB0-977066AC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8721" y="8625331"/>
            <a:ext cx="77457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主机</a:t>
            </a:r>
            <a:r>
              <a:t>1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BFA2863-7C85-4952-BA6D-21CC880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97184" y="8600051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主机</a:t>
            </a:r>
            <a:r>
              <a:t>N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02A180F-A529-4772-A15E-6EF057FD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02750" y="6156182"/>
            <a:ext cx="156966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可编程交换机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FE5E169-81D0-454B-84B6-EE9AAE84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6337" y="4597514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外部网络</a:t>
            </a:r>
          </a:p>
        </p:txBody>
      </p:sp>
    </p:spTree>
    <p:extLst>
      <p:ext uri="{BB962C8B-B14F-4D97-AF65-F5344CB8AC3E}">
        <p14:creationId xmlns:p14="http://schemas.microsoft.com/office/powerpoint/2010/main" val="2879103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C766B6CE-DB8C-4BF2-AB51-9A65FC9E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u="none" cap="none" spc="0">
                <a:ln>
                  <a:noFill/>
                </a:ln>
                <a:solidFill>
                  <a:srgbClr val="4472C4"/>
                </a:solidFill>
                <a:latin typeface="黑体"/>
                <a:ea typeface="黑体"/>
                <a:cs typeface="黑体"/>
              </a:rPr>
              <a:t>实验分析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E732DBF-A4BB-4FE3-8BAD-7968114E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0E141E3-2F99-4F5C-9855-6F35FB67568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1" y="2408425"/>
            <a:ext cx="8534399" cy="7008230"/>
          </a:xfrm>
        </p:spPr>
        <p:txBody>
          <a:bodyPr xmlns:a="http://schemas.openxmlformats.org/drawingml/2006/main">
            <a:normAutofit fontScale="62500" lnSpcReduction="2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数据集说明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 </a:t>
            </a:r>
            <a:r>
              <a:rPr sz="3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ISCX-VPN2016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数据集进行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VPN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和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Non-VPN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的二标签流量分类任务</a:t>
            </a:r>
          </a:p>
          <a:p xmlns:a="http://schemas.openxmlformats.org/drawingml/2006/main">
            <a:pPr marL="1457325" indent="-428625">
              <a:lnSpc>
                <a:spcPct val="170000"/>
              </a:lnSpc>
              <a:spcBef>
                <a:spcPts val="565"/>
              </a:spcBef>
              <a:buChar char="-"/>
            </a:pP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ISCX-VPN2016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生成了具有代表性的真实流量数据集，对于多种应用流量，数据集都捕获了普通会话和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VPN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会话</a:t>
            </a:r>
          </a:p>
          <a:p xmlns:a="http://schemas.openxmlformats.org/drawingml/2006/main">
            <a:pPr marL="1457325" indent="-428625">
              <a:lnSpc>
                <a:spcPct val="170000"/>
              </a:lnSpc>
              <a:spcBef>
                <a:spcPts val="565"/>
              </a:spcBef>
              <a:buChar char="-"/>
            </a:pP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VPN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流量常用于绕过审查或隐藏身份，部分网络环境需要识别过滤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 </a:t>
            </a:r>
            <a:r>
              <a:rPr sz="3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CIC-IDS2017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数据集进行不同类型攻击流量的多分类任务</a:t>
            </a:r>
          </a:p>
          <a:p xmlns:a="http://schemas.openxmlformats.org/drawingml/2006/main">
            <a:pPr marL="1457325" indent="-428625">
              <a:lnSpc>
                <a:spcPct val="170000"/>
              </a:lnSpc>
              <a:spcBef>
                <a:spcPts val="565"/>
              </a:spcBef>
              <a:buChar char="-"/>
            </a:pP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相较于其他公开数据集，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CIC-IDS2017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在设计过程中严格参考了评估有效入侵检测数据集所需的关键特征</a:t>
            </a:r>
          </a:p>
          <a:p xmlns:a="http://schemas.openxmlformats.org/drawingml/2006/main">
            <a:pPr marL="1457325" indent="-428625">
              <a:lnSpc>
                <a:spcPct val="170000"/>
              </a:lnSpc>
              <a:spcBef>
                <a:spcPts val="565"/>
              </a:spcBef>
              <a:buChar char="-"/>
            </a:pP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攻击流量识别后执行细粒度过滤策略，不同攻击的处理策略不同（例如：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DDoS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攻击直接丢弃，扫描类攻击可限速）</a:t>
            </a:r>
          </a:p>
        </p:txBody>
      </p:sp>
      <p:pic>
        <p:nvPicPr>
          <p:cNvPr id="23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c485a5280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" name="表格 20"/>
          <p:cNvGraphicFramePr/>
          <p:nvPr/>
        </p:nvGraphicFramePr>
        <p:xfrm>
          <a:off xmlns:a="http://schemas.openxmlformats.org/drawingml/2006/main" x="9990575" y="3452206"/>
          <a:ext xmlns:a="http://schemas.openxmlformats.org/drawingml/2006/main" cx="6629400" cy="1379722"/>
        </p:xfrm>
        <a:graphic xmlns:a="http://schemas.openxmlformats.org/drawingml/2006/main">
          <a:graphicData uri="http://schemas.openxmlformats.org/drawingml/2006/table">
            <a:tbl>
              <a:tblPr firstRow="1" firstCol="1"/>
              <a:tblGrid>
                <a:gridCol w="3192025"/>
                <a:gridCol w="1676400"/>
                <a:gridCol w="1760975"/>
              </a:tblGrid>
              <a:tr h="41899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标签类别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流数量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包数量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899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Non-VPN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781307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21025500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417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VPN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154416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4815210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表格 22"/>
          <p:cNvGraphicFramePr/>
          <p:nvPr/>
        </p:nvGraphicFramePr>
        <p:xfrm>
          <a:off xmlns:a="http://schemas.openxmlformats.org/drawingml/2006/main" x="9990575" y="5455073"/>
          <a:ext xmlns:a="http://schemas.openxmlformats.org/drawingml/2006/main" cx="6629400" cy="3961581"/>
        </p:xfrm>
        <a:graphic xmlns:a="http://schemas.openxmlformats.org/drawingml/2006/main"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3209956"/>
                <a:gridCol w="1710385"/>
                <a:gridCol w="1709059"/>
              </a:tblGrid>
              <a:tr h="43718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标签类别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流数量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包数量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Botnet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9127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BruteForce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33161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239907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DDos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156116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1202677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217874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2296360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Heartbleed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1177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47550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Infiltration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30555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160708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163929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WebAttack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7206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37340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8262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形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2ee2dba4b4187">
            <a:extLst>
              <a:ext uri="{96DAC541-7B7A-43D3-8B79-37D633B846F1}">
                <asvg:svgBlip xmlns:asvg="http://schemas.microsoft.com/office/drawing/2016/SVG/main" r:embed="R5c04e9ecffea4be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8601" y="3349552"/>
            <a:ext cx="9924961" cy="3969547"/>
          </a:xfrm>
          <a:prstGeom xmlns:a="http://schemas.openxmlformats.org/drawingml/2006/main" prst="rect">
            <a:avLst/>
          </a:prstGeom>
        </p:spPr>
      </p:pic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F1CB83BA-E773-45A7-95BA-006B7336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u="none" cap="none" spc="0">
                <a:ln>
                  <a:noFill/>
                </a:ln>
                <a:solidFill>
                  <a:srgbClr val="4472C4"/>
                </a:solidFill>
                <a:latin typeface="黑体"/>
                <a:ea typeface="黑体"/>
                <a:cs typeface="黑体"/>
              </a:rPr>
              <a:t>实验分析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F03D80-3B4B-45AA-BC38-DEB1069F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E221D2A-C52F-4FFB-B0F3-C066F2BC9E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1" y="2102887"/>
            <a:ext cx="7467600" cy="3345413"/>
          </a:xfrm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实验评估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1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模型训练模块：</a:t>
            </a:r>
            <a:r>
              <a:rPr sz="3100" b="1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模型的分类精度表现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1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模型的表映射模块：</a:t>
            </a:r>
            <a:r>
              <a:rPr sz="3100" b="1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模型规模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100">
                <a:solidFill>
                  <a:prstClr val="black"/>
                </a:solidFill>
                <a:latin typeface="Cambria"/>
                <a:ea typeface="Cambria"/>
                <a:cs typeface="Cambria"/>
              </a:rPr>
              <a:t>数据平面模块：</a:t>
            </a:r>
            <a:r>
              <a:rPr sz="3100" b="1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吞吐量与延迟性能</a:t>
            </a:r>
          </a:p>
        </p:txBody>
      </p:sp>
      <p:pic>
        <p:nvPicPr>
          <p:cNvPr id="23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013e8437b4e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" name="表格 2"/>
          <p:cNvGraphicFramePr/>
          <p:nvPr/>
        </p:nvGraphicFramePr>
        <p:xfrm>
          <a:off xmlns:a="http://schemas.openxmlformats.org/drawingml/2006/main" x="1099755" y="5788196"/>
          <a:ext xmlns:a="http://schemas.openxmlformats.org/drawingml/2006/main" cx="6629401" cy="1385187"/>
        </p:xfrm>
        <a:graphic xmlns:a="http://schemas.openxmlformats.org/drawingml/2006/main"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2314986"/>
                <a:gridCol w="1633485"/>
                <a:gridCol w="2680930"/>
              </a:tblGrid>
              <a:tr h="46172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实验平台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吞吐量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平均包处理时间</a:t>
                      </a:r>
                    </a:p>
                  </a:txBody>
                  <a:tcPr marL="68580" marR="68580" marT="0" marB="0" anchor="ctr"/>
                </a:tc>
              </a:tr>
              <a:tr h="46172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Tofino </a:t>
                      </a: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交换机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4.0Gbps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387ns</a:t>
                      </a:r>
                    </a:p>
                  </a:txBody>
                  <a:tcPr marL="68580" marR="68580" marT="0" marB="0" anchor="ctr"/>
                </a:tc>
              </a:tr>
              <a:tr h="46172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CPU </a:t>
                      </a: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服务器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0.89Gbps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7.40us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25" name="表格 5"/>
          <p:cNvGraphicFramePr/>
          <p:nvPr/>
        </p:nvGraphicFramePr>
        <p:xfrm>
          <a:off xmlns:a="http://schemas.openxmlformats.org/drawingml/2006/main" x="1099755" y="7464816"/>
          <a:ext xmlns:a="http://schemas.openxmlformats.org/drawingml/2006/main" cx="16502444" cy="2513850"/>
        </p:xfrm>
        <a:graphic xmlns:a="http://schemas.openxmlformats.org/drawingml/2006/main"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3472114"/>
                <a:gridCol w="3472114"/>
                <a:gridCol w="3472114"/>
                <a:gridCol w="3472114"/>
                <a:gridCol w="2613988"/>
              </a:tblGrid>
              <a:tr h="418975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决策树最大深度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ISCX-VPN2016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CIC-IDS2017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</a:tr>
              <a:tr h="4189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单包特征准确率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流特征准确率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单包特征准确率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流特征准确率</a:t>
                      </a:r>
                    </a:p>
                  </a:txBody>
                  <a:tcPr marL="68580" marR="68580" marT="0" marB="0" anchor="ctr"/>
                </a:tc>
              </a:tr>
              <a:tr h="4189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87.25%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87.86%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76.32%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97.84%</a:t>
                      </a:r>
                    </a:p>
                  </a:txBody>
                  <a:tcPr marL="68580" marR="68580" marT="0" marB="0" anchor="ctr"/>
                </a:tc>
              </a:tr>
              <a:tr h="4189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95.46%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93.15%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83.86%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99.80%</a:t>
                      </a:r>
                    </a:p>
                  </a:txBody>
                  <a:tcPr marL="68580" marR="68580" marT="0" marB="0" anchor="ctr"/>
                </a:tc>
              </a:tr>
              <a:tr h="4189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96.45%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96.59%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85.67%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99.94%</a:t>
                      </a:r>
                    </a:p>
                  </a:txBody>
                  <a:tcPr marL="68580" marR="68580" marT="0" marB="0" anchor="ctr"/>
                </a:tc>
              </a:tr>
              <a:tr h="4189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96.62%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97.01%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85.78%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99.94%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196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C9468FFA-9607-41FE-A558-94388590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u="none" cap="none" spc="0">
                <a:ln>
                  <a:noFill/>
                </a:ln>
                <a:solidFill>
                  <a:srgbClr val="4472C4"/>
                </a:solidFill>
                <a:latin typeface="黑体"/>
                <a:ea typeface="黑体"/>
                <a:cs typeface="黑体"/>
              </a:rPr>
              <a:t>实验分析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5D7D5B5-EF66-491D-B4E2-83E64F66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56BCA9D9-1657-4986-A39B-4DEED58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2832"/>
            <a:ext cx="7774782" cy="12358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 algn="l">
              <a:lnSpc>
                <a:spcPct val="90000"/>
              </a:lnSpc>
              <a:spcBef>
                <a:spcPts val="1500"/>
              </a:spcBef>
              <a:buChar char="•"/>
              <a:defRPr sz="4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028700" indent="-342900" algn="l">
              <a:lnSpc>
                <a:spcPct val="90000"/>
              </a:lnSpc>
              <a:spcBef>
                <a:spcPts val="750"/>
              </a:spcBef>
              <a:buChar char="•"/>
              <a:defRPr sz="3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714500" indent="-342900" algn="l">
              <a:lnSpc>
                <a:spcPct val="90000"/>
              </a:lnSpc>
              <a:spcBef>
                <a:spcPts val="750"/>
              </a:spcBef>
              <a:buChar char="•"/>
              <a:defRPr sz="3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400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0861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</a:p>
        </p:txBody>
      </p:sp>
      <p:sp>
        <p:nvSpPr>
          <p:cNvPr id="2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D8DA2ED-1BF5-4988-B5D3-DFAD6748FE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1" y="2408424"/>
            <a:ext cx="9786440" cy="7337681"/>
          </a:xfrm>
        </p:spPr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实验环境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模型训练模块与模型的表项映射模块部署于远程服务器，与数据平面模块和控制平面模块解耦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在 </a:t>
            </a:r>
            <a:r>
              <a:rPr sz="31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BMv2 </a:t>
            </a:r>
            <a:r>
              <a:rPr sz="31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虚拟实验环境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中，系统的数据平面模块运行于虚拟交换机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BMv2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中，控制平面模块运行于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Ubuntu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虚拟机中，两者使用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P4Runtime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交互通信，使用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Mininet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搭建网络拓扑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在 </a:t>
            </a:r>
            <a:r>
              <a:rPr sz="31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Tofino </a:t>
            </a:r>
            <a:r>
              <a:rPr sz="31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实际网络实验环境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中，数据平面模块部署在可编程交换机的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Tofino ASIC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芯片中，控制平面模块部署于交换机的主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CPU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模块，两者使用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Barefoot Runtime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交互通信。主机使用一分四光缆连接可编程交换机的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QSFP28 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端口，吞吐量为</a:t>
            </a:r>
            <a:r>
              <a:rPr sz="31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10Gbps</a:t>
            </a:r>
          </a:p>
        </p:txBody>
      </p:sp>
      <p:pic>
        <p:nvPicPr>
          <p:cNvPr id="23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c2876d9074f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pic>
        <p:nvPicPr>
          <p:cNvPr id="2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ba58ee4b14c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3501714" y="4819568"/>
            <a:ext cx="2042268" cy="2042268"/>
          </a:xfrm>
          <a:prstGeom xmlns:a="http://schemas.openxmlformats.org/drawingml/2006/main" prst="rect">
            <a:avLst/>
          </a:prstGeom>
        </p:spPr>
      </p:pic>
      <p:pic>
        <p:nvPicPr>
          <p:cNvPr id="2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b468964e843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107323" y="6925738"/>
            <a:ext cx="1674313" cy="1674313"/>
          </a:xfrm>
          <a:prstGeom xmlns:a="http://schemas.openxmlformats.org/drawingml/2006/main" prst="rect">
            <a:avLst/>
          </a:prstGeom>
        </p:spPr>
      </p:pic>
      <p:pic>
        <p:nvPicPr>
          <p:cNvPr id="2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b468964e843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6264063" y="6925738"/>
            <a:ext cx="1674313" cy="1674313"/>
          </a:xfrm>
          <a:prstGeom xmlns:a="http://schemas.openxmlformats.org/drawingml/2006/main" prst="rect">
            <a:avLst/>
          </a:prstGeom>
        </p:spPr>
      </p:pic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436ad43f94a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985340" y="2428595"/>
            <a:ext cx="3010671" cy="3010671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2F9C396-EDEC-4335-97F1-65A9A2BB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3059015" y="5947932"/>
            <a:ext cx="99845" cy="13228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276AE0B-26D8-42E5-87D6-A5626C8C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15947702" y="5864099"/>
            <a:ext cx="96619" cy="13228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A5E1CF9-267C-4011-B038-3482C3A5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9965" y="4704804"/>
            <a:ext cx="105765" cy="7677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1F6250A-50D8-4C33-BC76-C57C88DC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18541">
            <a:off x="12694500" y="4423316"/>
            <a:ext cx="91542" cy="2713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0D1B1BA-5C65-4825-925B-CE5A7F5A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04492">
            <a:off x="16340764" y="4367834"/>
            <a:ext cx="106626" cy="28139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形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79e20664249d6">
            <a:extLst>
              <a:ext uri="{96DAC541-7B7A-43D3-8B79-37D633B846F1}">
                <asvg:svgBlip xmlns:asvg="http://schemas.microsoft.com/office/drawing/2016/SVG/main" r:embed="Rd948a8c173cd418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3902836" y="6901988"/>
            <a:ext cx="1286882" cy="1286882"/>
          </a:xfrm>
          <a:prstGeom xmlns:a="http://schemas.openxmlformats.org/drawingml/2006/main" prst="rect">
            <a:avLst/>
          </a:prstGeom>
        </p:spPr>
      </p:pic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15012666-9DE9-4AC4-ADB0-977066AC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8721" y="8625331"/>
            <a:ext cx="77457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主机</a:t>
            </a:r>
            <a:r>
              <a:t>1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BFA2863-7C85-4952-BA6D-21CC880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97184" y="8600051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主机</a:t>
            </a:r>
            <a:r>
              <a:t>N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02A180F-A529-4772-A15E-6EF057FD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02750" y="6156182"/>
            <a:ext cx="156966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可编程交换机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FE5E169-81D0-454B-84B6-EE9AAE84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26337" y="4597514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外部网络</a:t>
            </a:r>
          </a:p>
        </p:txBody>
      </p:sp>
    </p:spTree>
    <p:extLst>
      <p:ext uri="{BB962C8B-B14F-4D97-AF65-F5344CB8AC3E}">
        <p14:creationId xmlns:p14="http://schemas.microsoft.com/office/powerpoint/2010/main" val="2879103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C766B6CE-DB8C-4BF2-AB51-9A65FC9E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u="none" cap="none" spc="0">
                <a:ln>
                  <a:noFill/>
                </a:ln>
                <a:solidFill>
                  <a:srgbClr val="4472C4"/>
                </a:solidFill>
                <a:latin typeface="黑体"/>
                <a:ea typeface="黑体"/>
                <a:cs typeface="黑体"/>
              </a:rPr>
              <a:t>实验分析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E732DBF-A4BB-4FE3-8BAD-7968114E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0E141E3-2F99-4F5C-9855-6F35FB67568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1001" y="2408425"/>
            <a:ext cx="8534399" cy="7008230"/>
          </a:xfrm>
        </p:spPr>
        <p:txBody>
          <a:bodyPr xmlns:a="http://schemas.openxmlformats.org/drawingml/2006/main">
            <a:normAutofit fontScale="62500" lnSpcReduction="20000"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数据集说明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 </a:t>
            </a:r>
            <a:r>
              <a:rPr sz="3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ISCX-VPN2016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数据集进行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VPN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和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Non-VPN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的二标签流量分类任务</a:t>
            </a:r>
          </a:p>
          <a:p xmlns:a="http://schemas.openxmlformats.org/drawingml/2006/main">
            <a:pPr marL="1457325" indent="-428625">
              <a:lnSpc>
                <a:spcPct val="170000"/>
              </a:lnSpc>
              <a:spcBef>
                <a:spcPts val="565"/>
              </a:spcBef>
              <a:buChar char="-"/>
            </a:pP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ISCX-VPN2016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生成了具有代表性的真实流量数据集，对于多种应用流量，数据集都捕获了普通会话和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VPN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会话</a:t>
            </a:r>
          </a:p>
          <a:p xmlns:a="http://schemas.openxmlformats.org/drawingml/2006/main">
            <a:pPr marL="1457325" indent="-428625">
              <a:lnSpc>
                <a:spcPct val="170000"/>
              </a:lnSpc>
              <a:spcBef>
                <a:spcPts val="565"/>
              </a:spcBef>
              <a:buChar char="-"/>
            </a:pP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VPN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流量常用于绕过审查或隐藏身份，部分网络环境需要识别过滤</a:t>
            </a:r>
          </a:p>
          <a:p xmlns:a="http://schemas.openxmlformats.org/drawingml/2006/main">
            <a:pPr indent="-514350">
              <a:lnSpc>
                <a:spcPct val="130000"/>
              </a:lnSpc>
              <a:buNone/>
            </a:pP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使用 </a:t>
            </a:r>
            <a:r>
              <a:rPr sz="3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CIC-IDS2017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8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数据集进行不同类型攻击流量的多分类任务</a:t>
            </a:r>
          </a:p>
          <a:p xmlns:a="http://schemas.openxmlformats.org/drawingml/2006/main">
            <a:pPr marL="1457325" indent="-428625">
              <a:lnSpc>
                <a:spcPct val="170000"/>
              </a:lnSpc>
              <a:spcBef>
                <a:spcPts val="565"/>
              </a:spcBef>
              <a:buChar char="-"/>
            </a:pP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相较于其他公开数据集，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 CIC-IDS2017 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在设计过程中严格参考了评估有效入侵检测数据集所需的关键特征</a:t>
            </a:r>
          </a:p>
          <a:p xmlns:a="http://schemas.openxmlformats.org/drawingml/2006/main">
            <a:pPr marL="1457325" indent="-428625">
              <a:lnSpc>
                <a:spcPct val="170000"/>
              </a:lnSpc>
              <a:spcBef>
                <a:spcPts val="565"/>
              </a:spcBef>
              <a:buChar char="-"/>
            </a:pP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攻击流量识别后执行细粒度过滤策略，不同攻击的处理策略不同（例如：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DDoS</a:t>
            </a:r>
            <a:r>
              <a:rPr sz="3200">
                <a:solidFill>
                  <a:prstClr val="black"/>
                </a:solidFill>
                <a:latin typeface="Times New Roman"/>
                <a:ea typeface="Times New Roman"/>
                <a:cs typeface="Times New Roman"/>
              </a:rPr>
              <a:t>攻击直接丢弃，扫描类攻击可限速）</a:t>
            </a:r>
          </a:p>
        </p:txBody>
      </p:sp>
      <p:pic>
        <p:nvPicPr>
          <p:cNvPr id="23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1bb9a50ab48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" name="表格 20"/>
          <p:cNvGraphicFramePr/>
          <p:nvPr/>
        </p:nvGraphicFramePr>
        <p:xfrm>
          <a:off xmlns:a="http://schemas.openxmlformats.org/drawingml/2006/main" x="9990575" y="3452206"/>
          <a:ext xmlns:a="http://schemas.openxmlformats.org/drawingml/2006/main" cx="6629400" cy="1379722"/>
        </p:xfrm>
        <a:graphic xmlns:a="http://schemas.openxmlformats.org/drawingml/2006/main">
          <a:graphicData uri="http://schemas.openxmlformats.org/drawingml/2006/table">
            <a:tbl>
              <a:tblPr firstRow="1" firstCol="1"/>
              <a:tblGrid>
                <a:gridCol w="3192025"/>
                <a:gridCol w="1676400"/>
                <a:gridCol w="1760975"/>
              </a:tblGrid>
              <a:tr h="41899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标签类别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流数量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包数量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899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Non-VPN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781307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21025500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4173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VPN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154416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4815210</a:t>
                      </a:r>
                    </a:p>
                  </a:txBody>
                  <a:tcPr marL="68580" marR="68580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表格 22"/>
          <p:cNvGraphicFramePr/>
          <p:nvPr/>
        </p:nvGraphicFramePr>
        <p:xfrm>
          <a:off xmlns:a="http://schemas.openxmlformats.org/drawingml/2006/main" x="9990575" y="5455073"/>
          <a:ext xmlns:a="http://schemas.openxmlformats.org/drawingml/2006/main" cx="6629400" cy="3961581"/>
        </p:xfrm>
        <a:graphic xmlns:a="http://schemas.openxmlformats.org/drawingml/2006/main"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3209956"/>
                <a:gridCol w="1710385"/>
                <a:gridCol w="1709059"/>
              </a:tblGrid>
              <a:tr h="43718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标签类别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流数量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包数量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Botnet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9127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BruteForce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33161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239907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DDos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156116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1202677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217874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2296360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Heartbleed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1177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47550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Infiltration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30555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160708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163929</a:t>
                      </a:r>
                    </a:p>
                  </a:txBody>
                  <a:tcPr marL="68580" marR="68580" marT="0" marB="0" anchor="ctr"/>
                </a:tc>
              </a:tr>
              <a:tr h="44054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WebAttack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7206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240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37340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8262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21123155-2420-4213-9A7C-FEFBD4FD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38" y="540895"/>
            <a:ext cx="15773400" cy="14559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4472C4"/>
                </a:solidFill>
                <a:latin typeface="黑体"/>
                <a:ea typeface="黑体"/>
                <a:cs typeface="黑体"/>
              </a:rPr>
              <a:t>结论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E8C8A4F-86FB-43E7-9100-9ED6D149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17526000" cy="762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3">
            <a:schemeClr val="lt1"/>
          </a:lnRef>
          <a:fillRef xmlns:a="http://schemas.openxmlformats.org/drawingml/2006/main" idx="1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E8EB8E7-9CDF-4406-9803-8EB341B72A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57300" y="2147337"/>
            <a:ext cx="15887700" cy="6653764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marL="685800" indent="-685800">
              <a:lnSpc>
                <a:spcPct val="150000"/>
              </a:lnSpc>
              <a:spcBef>
                <a:spcPts val="1125"/>
              </a:spcBef>
              <a:buChar char="Ø"/>
            </a:pPr>
            <a:r>
              <a:rPr sz="4200">
                <a:solidFill>
                  <a:prstClr val="black"/>
                </a:solidFill>
                <a:latin typeface="宋体"/>
                <a:ea typeface="宋体"/>
                <a:cs typeface="宋体"/>
              </a:rPr>
              <a:t>本毕业设计针对传统网络在流量过滤任务中高带宽、低时延及动态管理方面的不足，设计并实现了一种基于可编程数据面的在线数据包过滤方法。系统由模型训练、模型的表映射、数据平面与控制平面四大模块构成，实现了离线模型训练与在线数据包过滤的解耦合，具备良好的可维护性与扩展性。</a:t>
            </a:r>
          </a:p>
        </p:txBody>
      </p:sp>
      <p:pic>
        <p:nvPicPr>
          <p:cNvPr id="12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a06f150cf4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95002" y="800100"/>
            <a:ext cx="3611998" cy="76388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8748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2026-06-02T14:29:17.0380000Z</dcterms:created>
  <dcterms:modified xsi:type="dcterms:W3CDTF">2026-06-02T14:29:17.0380000Z</dcterms:modified>
</coreProperties>
</file>